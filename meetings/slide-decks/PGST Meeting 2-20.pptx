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5143500" cx="9144000"/>
  <p:notesSz cx="6858000" cy="9144000"/>
  <p:embeddedFontLst>
    <p:embeddedFont>
      <p:font typeface="Encode Sans"/>
      <p:regular r:id="rId28"/>
      <p:bold r:id="rId29"/>
    </p:embeddedFont>
    <p:embeddedFont>
      <p:font typeface="Encode Sans Black"/>
      <p:bold r:id="rId30"/>
    </p:embeddedFont>
    <p:embeddedFont>
      <p:font typeface="Open Sans Light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6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jMCIsASHm7G3nv4ShGmpKrsU6j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E3C21A-AD14-452D-8AEE-9400306E3A33}">
  <a:tblStyle styleId="{D8E3C21A-AD14-452D-8AEE-9400306E3A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EncodeSans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EncodeSans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Light-regular.fntdata"/><Relationship Id="rId30" Type="http://schemas.openxmlformats.org/officeDocument/2006/relationships/font" Target="fonts/EncodeSansBlack-bold.fntdata"/><Relationship Id="rId11" Type="http://schemas.openxmlformats.org/officeDocument/2006/relationships/slide" Target="slides/slide4.xml"/><Relationship Id="rId33" Type="http://schemas.openxmlformats.org/officeDocument/2006/relationships/font" Target="fonts/OpenSansLight-italic.fntdata"/><Relationship Id="rId10" Type="http://schemas.openxmlformats.org/officeDocument/2006/relationships/slide" Target="slides/slide3.xml"/><Relationship Id="rId32" Type="http://schemas.openxmlformats.org/officeDocument/2006/relationships/font" Target="fonts/OpenSansLight-bold.fntdata"/><Relationship Id="rId13" Type="http://schemas.openxmlformats.org/officeDocument/2006/relationships/slide" Target="slides/slide6.xml"/><Relationship Id="rId35" Type="http://schemas.openxmlformats.org/officeDocument/2006/relationships/font" Target="fonts/OpenSans-regular.fntdata"/><Relationship Id="rId12" Type="http://schemas.openxmlformats.org/officeDocument/2006/relationships/slide" Target="slides/slide5.xml"/><Relationship Id="rId34" Type="http://schemas.openxmlformats.org/officeDocument/2006/relationships/font" Target="fonts/OpenSansLight-boldItalic.fntdata"/><Relationship Id="rId15" Type="http://schemas.openxmlformats.org/officeDocument/2006/relationships/slide" Target="slides/slide8.xml"/><Relationship Id="rId37" Type="http://schemas.openxmlformats.org/officeDocument/2006/relationships/font" Target="fonts/OpenSans-italic.fntdata"/><Relationship Id="rId14" Type="http://schemas.openxmlformats.org/officeDocument/2006/relationships/slide" Target="slides/slide7.xml"/><Relationship Id="rId36" Type="http://schemas.openxmlformats.org/officeDocument/2006/relationships/font" Target="fonts/OpenSans-bold.fntdata"/><Relationship Id="rId17" Type="http://schemas.openxmlformats.org/officeDocument/2006/relationships/slide" Target="slides/slide10.xml"/><Relationship Id="rId39" Type="http://customschemas.google.com/relationships/presentationmetadata" Target="metadata"/><Relationship Id="rId16" Type="http://schemas.openxmlformats.org/officeDocument/2006/relationships/slide" Target="slides/slide9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cd0d1f42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c7cd0d1f42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7d3bb9ab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7d3bb9ab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c7d3bb9ab3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7d3bb9ab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7d3bb9ab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7d3bb9ab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e9a169f1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e9a169f1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be9a169f1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9a169f19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e9a169f19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be9a169f19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e9a169f19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e9a169f19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be9a169f19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e9a169f19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e9a169f19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be9a169f19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9b44ab8d6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9b44ab8d6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c9b44ab8d6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9b8cb7d1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c9b8cb7d1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9aeb332f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Hannah</a:t>
            </a:r>
            <a:endParaRPr/>
          </a:p>
        </p:txBody>
      </p:sp>
      <p:sp>
        <p:nvSpPr>
          <p:cNvPr id="157" name="Google Shape;157;g3c9aeb332f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9aeb332fb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Hannah</a:t>
            </a:r>
            <a:endParaRPr/>
          </a:p>
        </p:txBody>
      </p:sp>
      <p:sp>
        <p:nvSpPr>
          <p:cNvPr id="163" name="Google Shape;163;g3c9aeb332fb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7cd0d1f42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7cd0d1f42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c7cd0d1f42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7cd0d1f42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7cd0d1f42_2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c7cd0d1f42_2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9b8cb7d11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c9b8cb7d11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9b8cb7d11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c9b8cb7d11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2" name="Google Shape;1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8607"/>
            <a:ext cx="2416273" cy="213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7" name="Google Shape;1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title"/>
          </p:nvPr>
        </p:nvSpPr>
        <p:spPr>
          <a:xfrm>
            <a:off x="447923" y="371510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2" name="Google Shape;2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2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5" name="Google Shape;2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bg>
      <p:bgPr>
        <a:solidFill>
          <a:schemeClr val="dk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 txBox="1"/>
          <p:nvPr>
            <p:ph type="title"/>
          </p:nvPr>
        </p:nvSpPr>
        <p:spPr>
          <a:xfrm>
            <a:off x="447923" y="369733"/>
            <a:ext cx="8197114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8" name="Google Shape;2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lt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0" name="Google Shape;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6"/>
          <p:cNvSpPr/>
          <p:nvPr>
            <p:ph idx="2" type="chart"/>
          </p:nvPr>
        </p:nvSpPr>
        <p:spPr>
          <a:xfrm>
            <a:off x="447923" y="1724977"/>
            <a:ext cx="8184662" cy="2828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  <a:defRPr b="0" i="1" sz="24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35" name="Google Shape;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37" y="4675530"/>
            <a:ext cx="2540000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Subheader + Content">
  <p:cSld name="Header + Subheader +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43" name="Google Shape;4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2"/>
          <p:cNvSpPr txBox="1"/>
          <p:nvPr>
            <p:ph idx="1" type="body"/>
          </p:nvPr>
        </p:nvSpPr>
        <p:spPr>
          <a:xfrm>
            <a:off x="460375" y="1730667"/>
            <a:ext cx="8184662" cy="411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E8D3A2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E8D3A2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E8D3A2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22"/>
          <p:cNvSpPr txBox="1"/>
          <p:nvPr>
            <p:ph idx="2" type="body"/>
          </p:nvPr>
        </p:nvSpPr>
        <p:spPr>
          <a:xfrm>
            <a:off x="447923" y="2320239"/>
            <a:ext cx="8197114" cy="22517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6" name="Google Shape;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8"/>
          <p:cNvSpPr txBox="1"/>
          <p:nvPr>
            <p:ph type="title"/>
          </p:nvPr>
        </p:nvSpPr>
        <p:spPr>
          <a:xfrm>
            <a:off x="460375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49" name="Google Shape;4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1" y="4599009"/>
            <a:ext cx="2425226" cy="21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9"/>
          <p:cNvSpPr txBox="1"/>
          <p:nvPr>
            <p:ph type="title"/>
          </p:nvPr>
        </p:nvSpPr>
        <p:spPr>
          <a:xfrm>
            <a:off x="460376" y="644993"/>
            <a:ext cx="702354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54" name="Google Shape;5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8081" y="3426449"/>
            <a:ext cx="1600200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085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460375" y="370622"/>
            <a:ext cx="8184662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59" name="Google Shape;5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0"/>
          <p:cNvSpPr txBox="1"/>
          <p:nvPr>
            <p:ph idx="1" type="body"/>
          </p:nvPr>
        </p:nvSpPr>
        <p:spPr>
          <a:xfrm>
            <a:off x="447923" y="1730667"/>
            <a:ext cx="8197114" cy="2365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1" name="Google Shape;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83915" y="4219956"/>
            <a:ext cx="1371600" cy="92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Graphic">
  <p:cSld name="Header + Graphic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460375" y="369733"/>
            <a:ext cx="8172210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64" name="Google Shape;6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9031" y="1363508"/>
            <a:ext cx="1103781" cy="9636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1"/>
          <p:cNvSpPr/>
          <p:nvPr>
            <p:ph idx="2" type="chart"/>
          </p:nvPr>
        </p:nvSpPr>
        <p:spPr>
          <a:xfrm>
            <a:off x="447923" y="1724977"/>
            <a:ext cx="8184662" cy="296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1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66" name="Google Shape;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041" y="4675530"/>
            <a:ext cx="2539991" cy="172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9pPr>
          </a:lstStyle>
          <a:p/>
        </p:txBody>
      </p:sp>
      <p:sp>
        <p:nvSpPr>
          <p:cNvPr id="69" name="Google Shape;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gsl-energy.com/the-real-cost-of-commercial-battery-energy-storage-in-2025-what-you-need-to-know.html#:~:text=in%20energy%20storage.-,Average%20Cost%20of%20Commercial%20Battery%20Energy%20Storage,on%20the%20components%20and%20complexity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reopt.nrel.gov/tool/results/da3e2f46-f51d-4a75-9dd0-21d904dc6b0a" TargetMode="External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>
            <p:ph type="title"/>
          </p:nvPr>
        </p:nvSpPr>
        <p:spPr>
          <a:xfrm>
            <a:off x="460375" y="644993"/>
            <a:ext cx="6914984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/>
              <a:t>PGST Meeting 2/20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447922" y="369285"/>
            <a:ext cx="8197109" cy="993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Today's Agenda </a:t>
            </a:r>
            <a:endParaRPr/>
          </a:p>
        </p:txBody>
      </p:sp>
      <p:sp>
        <p:nvSpPr>
          <p:cNvPr id="81" name="Google Shape;81;p2"/>
          <p:cNvSpPr txBox="1"/>
          <p:nvPr>
            <p:ph idx="2" type="body"/>
          </p:nvPr>
        </p:nvSpPr>
        <p:spPr>
          <a:xfrm>
            <a:off x="447923" y="1600201"/>
            <a:ext cx="8197114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PSE Battery Flex Program</a:t>
            </a:r>
            <a:endParaRPr sz="20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Analyzing Utility Plate Data</a:t>
            </a:r>
            <a:endParaRPr sz="20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Candidate Solar Array Locations</a:t>
            </a:r>
            <a:endParaRPr sz="20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Propane Data Analysis and Heating Profile Assumptions</a:t>
            </a:r>
            <a:endParaRPr sz="20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ReOpt Assumptions</a:t>
            </a:r>
            <a:endParaRPr sz="200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Next Steps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7cd0d1f42_0_4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PSE Battery Flex Program</a:t>
            </a:r>
            <a:endParaRPr/>
          </a:p>
        </p:txBody>
      </p:sp>
      <p:sp>
        <p:nvSpPr>
          <p:cNvPr id="87" name="Google Shape;87;g3c7cd0d1f42_0_40"/>
          <p:cNvSpPr txBox="1"/>
          <p:nvPr>
            <p:ph idx="2" type="body"/>
          </p:nvPr>
        </p:nvSpPr>
        <p:spPr>
          <a:xfrm>
            <a:off x="447923" y="1777429"/>
            <a:ext cx="8197200" cy="27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 sz="2000"/>
              <a:t>Flex event - time of high demand</a:t>
            </a:r>
            <a:endParaRPr sz="2000"/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$75 per kWh battery storage</a:t>
            </a:r>
            <a:endParaRPr sz="2000"/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$0.50 per kWh for participation in flex events</a:t>
            </a:r>
            <a:endParaRPr sz="2000"/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Devices are automatically discharged</a:t>
            </a:r>
            <a:endParaRPr sz="2000"/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To no less than 20% of battery capacity</a:t>
            </a:r>
            <a:endParaRPr sz="2000"/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lang="en-US" sz="2000">
                <a:solidFill>
                  <a:schemeClr val="dk1"/>
                </a:solidFill>
              </a:rPr>
              <a:t>Clinic batteries are ~60kWh, ~120kWh total</a:t>
            </a:r>
            <a:endParaRPr sz="2000">
              <a:solidFill>
                <a:schemeClr val="dk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$9000 initial, $48 per flex event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7d3bb9ab3_0_7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Analyzing Plate Data</a:t>
            </a:r>
            <a:endParaRPr/>
          </a:p>
        </p:txBody>
      </p:sp>
      <p:sp>
        <p:nvSpPr>
          <p:cNvPr id="94" name="Google Shape;94;g3c7d3bb9ab3_0_7"/>
          <p:cNvSpPr txBox="1"/>
          <p:nvPr>
            <p:ph idx="2" type="body"/>
          </p:nvPr>
        </p:nvSpPr>
        <p:spPr>
          <a:xfrm>
            <a:off x="447925" y="1603975"/>
            <a:ext cx="4955400" cy="296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Plates tell us: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chemeClr val="dk1"/>
                </a:solidFill>
              </a:rPr>
              <a:t>Temperature, pressure, voltage, phase, thermal efficiency, etc.</a:t>
            </a:r>
            <a:endParaRPr b="0" sz="2000">
              <a:solidFill>
                <a:schemeClr val="dk1"/>
              </a:solidFill>
            </a:endParaRPr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⮚"/>
            </a:pPr>
            <a:r>
              <a:rPr b="0" lang="en-US" sz="2000">
                <a:solidFill>
                  <a:schemeClr val="dk1"/>
                </a:solidFill>
              </a:rPr>
              <a:t>Fuel capacity and consumption</a:t>
            </a:r>
            <a:endParaRPr b="0" sz="2000">
              <a:solidFill>
                <a:schemeClr val="dk1"/>
              </a:solidFill>
            </a:endParaRPr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chemeClr val="dk1"/>
                </a:solidFill>
              </a:rPr>
              <a:t>Serial/Model Numbers → Useful for looking up manuals for additional information</a:t>
            </a:r>
            <a:endParaRPr b="0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g3c7d3bb9ab3_0_7" title="CFS Furnace 1.jpeg"/>
          <p:cNvPicPr preferRelativeResize="0"/>
          <p:nvPr/>
        </p:nvPicPr>
        <p:blipFill rotWithShape="1">
          <a:blip r:embed="rId3">
            <a:alphaModFix/>
          </a:blip>
          <a:srcRect b="12427" l="0" r="16100" t="0"/>
          <a:stretch/>
        </p:blipFill>
        <p:spPr>
          <a:xfrm>
            <a:off x="6702675" y="215075"/>
            <a:ext cx="2231251" cy="3105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c7d3bb9ab3_0_7" title="AdminWaterHeater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0875" y="2182662"/>
            <a:ext cx="3058627" cy="229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7d3bb9ab3_0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Analysing Plate Data</a:t>
            </a:r>
            <a:endParaRPr/>
          </a:p>
        </p:txBody>
      </p:sp>
      <p:sp>
        <p:nvSpPr>
          <p:cNvPr id="103" name="Google Shape;103;g3c7d3bb9ab3_0_0"/>
          <p:cNvSpPr txBox="1"/>
          <p:nvPr>
            <p:ph idx="2" type="body"/>
          </p:nvPr>
        </p:nvSpPr>
        <p:spPr>
          <a:xfrm>
            <a:off x="250900" y="1672950"/>
            <a:ext cx="2407800" cy="32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</a:rPr>
              <a:t>Energy Output / Propane Input = Efficiency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</a:rPr>
              <a:t>91500 BTU/gal Propane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</a:rPr>
              <a:t>Neglecting kitchen stoves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chemeClr val="dk1"/>
                </a:solidFill>
              </a:rPr>
              <a:t>Highest input for boiler type was used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104" name="Google Shape;104;g3c7d3bb9ab3_0_0"/>
          <p:cNvGraphicFramePr/>
          <p:nvPr/>
        </p:nvGraphicFramePr>
        <p:xfrm>
          <a:off x="2792700" y="185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{D8E3C21A-AD14-452D-8AEE-9400306E3A33}</a:tableStyleId>
              </a:tblPr>
              <a:tblGrid>
                <a:gridCol w="1343025"/>
                <a:gridCol w="952500"/>
                <a:gridCol w="952500"/>
                <a:gridCol w="952500"/>
                <a:gridCol w="952500"/>
                <a:gridCol w="952500"/>
              </a:tblGrid>
              <a:tr h="523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Propane Consuming 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Units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04:0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Thermal Efficiency (%)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04:0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Propane Input (BTU/hr)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04:0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Energy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Output (BTU/hr)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04:0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Propane Input 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(gal/hr)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04:0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Energy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Output (gal/hr)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cellId="104:0:5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Boiler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1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83%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1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542000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1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449589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1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5.927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1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4.916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1:5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Gym Furnace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81%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400000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324000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4.374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3.543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2:5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CFS Furnace 1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3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80%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74000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59200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0.809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0.647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3:5"/>
                      </a:ext>
                    </a:extLst>
                  </a:tcPr>
                </a:tc>
              </a:tr>
              <a:tr h="121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CFS Furnace 2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80%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74000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59200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0.809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0.647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4:5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CFS Furnace 3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5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80%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74000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59200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0.809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999999"/>
                          </a:solidFill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0.647</a:t>
                      </a:r>
                      <a:endParaRPr sz="1100">
                        <a:solidFill>
                          <a:srgbClr val="999999"/>
                        </a:solidFill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5:5"/>
                      </a:ext>
                    </a:extLst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CFS Furnace Total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80%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222000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177600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2.428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1.942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6:5"/>
                      </a:ext>
                    </a:extLst>
                  </a:tcPr>
                </a:tc>
              </a:tr>
              <a:tr h="20955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TOTAL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7:0"/>
                      </a:ext>
                    </a:extLst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1164000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501600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12.728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5.485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extLst>
                      <a:ext uri="http://customooxmlschemas.google.com/">
                        <go:slidesCustomData xmlns:go="http://customooxmlschemas.google.com/" cellId="104:7:5"/>
                      </a:ext>
                    </a:extLst>
                  </a:tcPr>
                </a:tc>
              </a:tr>
            </a:tbl>
          </a:graphicData>
        </a:graphic>
      </p:graphicFrame>
      <p:sp>
        <p:nvSpPr>
          <p:cNvPr id="105" name="Google Shape;105;g3c7d3bb9ab3_0_0"/>
          <p:cNvSpPr txBox="1"/>
          <p:nvPr/>
        </p:nvSpPr>
        <p:spPr>
          <a:xfrm>
            <a:off x="2819075" y="4232475"/>
            <a:ext cx="6052800" cy="91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erriweather Sans"/>
              <a:buChar char="⮚"/>
            </a:pPr>
            <a:r>
              <a:rPr b="1" lang="en-US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Next step is to estimate yearly usage of each unit (hr)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e9a169f19_0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Candidate Solar Array Locations</a:t>
            </a:r>
            <a:endParaRPr/>
          </a:p>
        </p:txBody>
      </p:sp>
      <p:graphicFrame>
        <p:nvGraphicFramePr>
          <p:cNvPr id="112" name="Google Shape;112;g3be9a169f19_0_0"/>
          <p:cNvGraphicFramePr/>
          <p:nvPr/>
        </p:nvGraphicFramePr>
        <p:xfrm>
          <a:off x="513750" y="151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{D8E3C21A-AD14-452D-8AEE-9400306E3A33}</a:tableStyleId>
              </a:tblPr>
              <a:tblGrid>
                <a:gridCol w="1658425"/>
                <a:gridCol w="953675"/>
                <a:gridCol w="1151750"/>
                <a:gridCol w="915550"/>
                <a:gridCol w="915550"/>
                <a:gridCol w="1387975"/>
              </a:tblGrid>
              <a:tr h="504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Building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PVWatts area (m</a:t>
                      </a:r>
                      <a:r>
                        <a:rPr b="1" baseline="30000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</a:t>
                      </a: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PVWatts capacity (kWdc)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Direction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Tilt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Notes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Longhouse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485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72.8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Structural concerns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CFS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134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20.0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SWW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17°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Education Center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290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43.4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12°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Elder Center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157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23.5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12°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Kitchen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132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19.8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17°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Remodel soon?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Gym (NW)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213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31.9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17°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Remodel soon?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Gym (SE)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222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33.3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17°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Remodel soon?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Administration (NW)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133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19.9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NW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17°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Remodel soon?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Administration (SE)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141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21.1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17°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Remodel soon?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8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Parking Canopy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e9a169f19_0_34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Propane Delivery Frequency</a:t>
            </a:r>
            <a:endParaRPr/>
          </a:p>
        </p:txBody>
      </p:sp>
      <p:pic>
        <p:nvPicPr>
          <p:cNvPr id="119" name="Google Shape;119;g3be9a169f19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500335"/>
            <a:ext cx="8188076" cy="3475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9a169f19_0_11"/>
          <p:cNvSpPr/>
          <p:nvPr/>
        </p:nvSpPr>
        <p:spPr>
          <a:xfrm>
            <a:off x="7688600" y="4556025"/>
            <a:ext cx="1257300" cy="48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be9a169f19_0_1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Propane vs. Temperature Regression</a:t>
            </a:r>
            <a:endParaRPr/>
          </a:p>
        </p:txBody>
      </p:sp>
      <p:pic>
        <p:nvPicPr>
          <p:cNvPr id="127" name="Google Shape;127;g3be9a169f19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50" y="1529350"/>
            <a:ext cx="7551825" cy="350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g3be9a169f19_0_21"/>
          <p:cNvGraphicFramePr/>
          <p:nvPr/>
        </p:nvGraphicFramePr>
        <p:xfrm>
          <a:off x="528500" y="28340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{D8E3C21A-AD14-452D-8AEE-9400306E3A33}</a:tableStyleId>
              </a:tblPr>
              <a:tblGrid>
                <a:gridCol w="1386075"/>
                <a:gridCol w="921250"/>
                <a:gridCol w="891825"/>
                <a:gridCol w="950675"/>
                <a:gridCol w="921250"/>
                <a:gridCol w="921250"/>
              </a:tblGrid>
              <a:tr h="583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Building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Area (sqft)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Heater efficiency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Site EUI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(kBTU/ft</a:t>
                      </a:r>
                      <a:r>
                        <a:rPr b="1" baseline="30000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</a:t>
                      </a: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-yr)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Ann</a:t>
                      </a: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ual fuel energy </a:t>
                      </a: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(MMBtu/yr)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Propane allocation:</a:t>
                      </a:r>
                      <a:endParaRPr b="1"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83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Longhouse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6000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83%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87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523.9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35.2%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3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Education Center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4060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83%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65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262.8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17.6%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3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CFS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 6681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80%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72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480.0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32.2%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3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Stoves/DHW/misc.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-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223.1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15</a:t>
                      </a:r>
                      <a:r>
                        <a:rPr lang="en-US" sz="1100">
                          <a:latin typeface="Encode Sans"/>
                          <a:ea typeface="Encode Sans"/>
                          <a:cs typeface="Encode Sans"/>
                          <a:sym typeface="Encode Sans"/>
                        </a:rPr>
                        <a:t>.0%</a:t>
                      </a:r>
                      <a:endParaRPr sz="1100">
                        <a:latin typeface="Encode Sans"/>
                        <a:ea typeface="Encode Sans"/>
                        <a:cs typeface="Encode Sans"/>
                        <a:sym typeface="Encode Sans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2242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34" name="Google Shape;134;g3be9a169f19_0_2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Regression Results</a:t>
            </a:r>
            <a:endParaRPr/>
          </a:p>
        </p:txBody>
      </p:sp>
      <p:sp>
        <p:nvSpPr>
          <p:cNvPr id="135" name="Google Shape;135;g3be9a169f19_0_21"/>
          <p:cNvSpPr txBox="1"/>
          <p:nvPr>
            <p:ph idx="2" type="body"/>
          </p:nvPr>
        </p:nvSpPr>
        <p:spPr>
          <a:xfrm>
            <a:off x="454025" y="1482152"/>
            <a:ext cx="8498100" cy="1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⮚"/>
            </a:pPr>
            <a:r>
              <a:rPr lang="en-US" sz="1900"/>
              <a:t>2023-2026 results were used to allocate propane usage by building</a:t>
            </a:r>
            <a:endParaRPr sz="1900"/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⮚"/>
            </a:pPr>
            <a:r>
              <a:rPr lang="en-US" sz="1900"/>
              <a:t>Site EUIs were estimated using Building Performance Database and then normalized to our data</a:t>
            </a:r>
            <a:endParaRPr sz="1900"/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SzPts val="1900"/>
              <a:buChar char="⮚"/>
            </a:pPr>
            <a:r>
              <a:rPr lang="en-US" sz="1900"/>
              <a:t>EUIs may need further tuning based on building energy envelopes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9b44ab8d6_2_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Heating Profile Assumptions</a:t>
            </a:r>
            <a:endParaRPr/>
          </a:p>
        </p:txBody>
      </p:sp>
      <p:sp>
        <p:nvSpPr>
          <p:cNvPr id="142" name="Google Shape;142;g3c9b44ab8d6_2_1"/>
          <p:cNvSpPr txBox="1"/>
          <p:nvPr>
            <p:ph idx="2" type="body"/>
          </p:nvPr>
        </p:nvSpPr>
        <p:spPr>
          <a:xfrm>
            <a:off x="125100" y="1564050"/>
            <a:ext cx="8820900" cy="30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We are trying to construct an annual heating profile based on propane delivery data, but want to ask about some assumptions.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⮚"/>
            </a:pPr>
            <a:r>
              <a:rPr lang="en-US" sz="1900">
                <a:solidFill>
                  <a:schemeClr val="dk1"/>
                </a:solidFill>
              </a:rPr>
              <a:t>Are the stoves/DHW used every day?</a:t>
            </a:r>
            <a:endParaRPr sz="1900">
              <a:solidFill>
                <a:schemeClr val="dk1"/>
              </a:solidFill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⮚"/>
            </a:pPr>
            <a:r>
              <a:rPr lang="en-US" sz="1900">
                <a:solidFill>
                  <a:schemeClr val="dk1"/>
                </a:solidFill>
              </a:rPr>
              <a:t>Are the Longhouse/Education Center/CFS only heated on weekdays?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ReOpt Assumptions - Utilities</a:t>
            </a:r>
            <a:endParaRPr/>
          </a:p>
        </p:txBody>
      </p:sp>
      <p:sp>
        <p:nvSpPr>
          <p:cNvPr id="148" name="Google Shape;148;p11"/>
          <p:cNvSpPr txBox="1"/>
          <p:nvPr>
            <p:ph idx="2" type="body"/>
          </p:nvPr>
        </p:nvSpPr>
        <p:spPr>
          <a:xfrm>
            <a:off x="447925" y="1574700"/>
            <a:ext cx="8360700" cy="29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/>
              <a:t>Electricity rate: PSE 24, Three P</a:t>
            </a:r>
            <a:r>
              <a:rPr lang="en-US"/>
              <a:t>hase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Single phase or three phase? Small life cycle cost reduction increase for three phase over single phase of about $4K over 25 years, no other changes</a:t>
            </a:r>
            <a:endParaRPr b="0"/>
          </a:p>
          <a:p>
            <a:pPr indent="-3683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⮚"/>
            </a:pPr>
            <a:r>
              <a:rPr lang="en-US"/>
              <a:t>Compensation type: Net metering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Net billing is another possibility - specify $/kWh exported</a:t>
            </a:r>
            <a:endParaRPr b="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When set to no compensation/incentives: PV w/o battery is still cost effective, saving ~$100K over 25 years compared to current system but requiring a larger PV size (74 kW vs. 59 kW)</a:t>
            </a:r>
            <a:endParaRPr b="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Look into this more - find out potential net billing #s</a:t>
            </a:r>
            <a:endParaRPr b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9b8cb7d11_0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ReOpt Assumptions - Utilities</a:t>
            </a:r>
            <a:endParaRPr/>
          </a:p>
        </p:txBody>
      </p:sp>
      <p:sp>
        <p:nvSpPr>
          <p:cNvPr id="154" name="Google Shape;154;g3c9b8cb7d11_0_0"/>
          <p:cNvSpPr txBox="1"/>
          <p:nvPr>
            <p:ph idx="2" type="body"/>
          </p:nvPr>
        </p:nvSpPr>
        <p:spPr>
          <a:xfrm>
            <a:off x="447925" y="1494600"/>
            <a:ext cx="8360700" cy="3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/>
              <a:t>Net Metering System Size Limit: 100 kW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WA state maximum system generating capacity</a:t>
            </a:r>
            <a:endParaRPr b="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⮚"/>
            </a:pPr>
            <a:r>
              <a:rPr lang="en-US"/>
              <a:t>Compensation beyond annual grid purchases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Currently assumed $0/kWh</a:t>
            </a:r>
            <a:endParaRPr b="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⮚"/>
            </a:pPr>
            <a:r>
              <a:rPr lang="en-US"/>
              <a:t>Heating System Fuel Type - Propane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⮚"/>
            </a:pPr>
            <a:r>
              <a:rPr lang="en-US"/>
              <a:t>Annual Existing Heating System Fuel Cost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From FerrellGas 2025-2026 data: $2.02/gal overall, $2.25/gal if removing maintenance deductions (only slightly </a:t>
            </a:r>
            <a:r>
              <a:rPr b="0" lang="en-US"/>
              <a:t>greater</a:t>
            </a:r>
            <a:r>
              <a:rPr b="0" lang="en-US"/>
              <a:t> life cycle cost savings at the $2.25/gal, ~$4K over 25 years)</a:t>
            </a:r>
            <a:endParaRPr b="0"/>
          </a:p>
          <a:p>
            <a:pPr indent="-228600" lvl="2" marL="1143000" rtl="0" algn="l">
              <a:spcBef>
                <a:spcPts val="0"/>
              </a:spcBef>
              <a:spcAft>
                <a:spcPts val="0"/>
              </a:spcAft>
              <a:buSzPts val="1800"/>
              <a:buChar char="&gt;"/>
            </a:pPr>
            <a:r>
              <a:rPr b="0" lang="en-US"/>
              <a:t>Leave bigger number, better to overestimate</a:t>
            </a:r>
            <a:endParaRPr b="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ReOpt could vary this by month</a:t>
            </a:r>
            <a:endParaRPr b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9aeb332fb_0_5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ReOpt Assumptions - </a:t>
            </a:r>
            <a:r>
              <a:rPr lang="en-US"/>
              <a:t>Financial </a:t>
            </a:r>
            <a:endParaRPr/>
          </a:p>
        </p:txBody>
      </p:sp>
      <p:sp>
        <p:nvSpPr>
          <p:cNvPr id="160" name="Google Shape;160;g3c9aeb332fb_0_5"/>
          <p:cNvSpPr txBox="1"/>
          <p:nvPr>
            <p:ph idx="2" type="body"/>
          </p:nvPr>
        </p:nvSpPr>
        <p:spPr>
          <a:xfrm>
            <a:off x="447925" y="1494600"/>
            <a:ext cx="8360700" cy="3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/>
              <a:t>Analysis period:</a:t>
            </a:r>
            <a:r>
              <a:rPr b="0" lang="en-US"/>
              <a:t> 25 years &amp; 10 years (if battery)</a:t>
            </a:r>
            <a:endParaRPr b="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/>
              <a:t>Host discount rate, nominal: </a:t>
            </a:r>
            <a:r>
              <a:rPr b="0" lang="en-US"/>
              <a:t>Inflation, 2.5%</a:t>
            </a:r>
            <a:endParaRPr b="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o"/>
            </a:pPr>
            <a:r>
              <a:rPr b="0" lang="en-US"/>
              <a:t>The rate at which the host discounts the future value of all future costs and savings. </a:t>
            </a:r>
            <a:r>
              <a:rPr lang="en-US"/>
              <a:t>Note this is an after tax discount rate if the Host is a taxable entity. 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/>
              <a:t>Electricity cost escalation rate: </a:t>
            </a:r>
            <a:r>
              <a:rPr b="0" lang="en-US"/>
              <a:t>6%/year</a:t>
            </a:r>
            <a:endParaRPr b="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/>
              <a:t>Fuel cost escalation rate: </a:t>
            </a:r>
            <a:r>
              <a:rPr b="0" lang="en-US"/>
              <a:t>3</a:t>
            </a:r>
            <a:r>
              <a:rPr b="0" lang="en-US"/>
              <a:t>.48</a:t>
            </a:r>
            <a:r>
              <a:rPr b="0" lang="en-US"/>
              <a:t>%/year (default), 8.48%/year (US Residential Propane Price)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9aeb332fb_0_1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ReOpt Assumptions - </a:t>
            </a:r>
            <a:r>
              <a:rPr lang="en-US"/>
              <a:t>Financial* not necessary </a:t>
            </a:r>
            <a:endParaRPr/>
          </a:p>
        </p:txBody>
      </p:sp>
      <p:sp>
        <p:nvSpPr>
          <p:cNvPr id="166" name="Google Shape;166;g3c9aeb332fb_0_10"/>
          <p:cNvSpPr txBox="1"/>
          <p:nvPr>
            <p:ph idx="2" type="body"/>
          </p:nvPr>
        </p:nvSpPr>
        <p:spPr>
          <a:xfrm>
            <a:off x="447925" y="1494600"/>
            <a:ext cx="8360700" cy="3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/>
              <a:t>Minimum capital cost, before incentives: $0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o"/>
            </a:pPr>
            <a:r>
              <a:rPr b="0" lang="en-US"/>
              <a:t>Optional user input to set the minimum </a:t>
            </a:r>
            <a:r>
              <a:rPr b="0" lang="en-US"/>
              <a:t>upfront</a:t>
            </a:r>
            <a:r>
              <a:rPr b="0" lang="en-US"/>
              <a:t> capital cost for all technologies, excluding incentives and replacement costs.</a:t>
            </a:r>
            <a:endParaRPr b="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/>
              <a:t>Maximum capital cost, before incentives: $?</a:t>
            </a:r>
            <a:endParaRPr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o"/>
            </a:pPr>
            <a:r>
              <a:rPr b="0" lang="en-US"/>
              <a:t>Optional user input to set the maximum up-front capital cost for all technologies, excluding incentives and replacement costs. </a:t>
            </a:r>
            <a:endParaRPr b="0"/>
          </a:p>
          <a:p>
            <a:pPr indent="0" lvl="0" marL="7429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⮚"/>
            </a:pPr>
            <a:r>
              <a:rPr lang="en-US"/>
              <a:t>Would we like to define a max?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7cd0d1f42_2_0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ReOpt - Findings With Battery</a:t>
            </a:r>
            <a:endParaRPr/>
          </a:p>
        </p:txBody>
      </p:sp>
      <p:sp>
        <p:nvSpPr>
          <p:cNvPr id="173" name="Google Shape;173;g3c7cd0d1f42_2_0"/>
          <p:cNvSpPr txBox="1"/>
          <p:nvPr>
            <p:ph idx="1" type="body"/>
          </p:nvPr>
        </p:nvSpPr>
        <p:spPr>
          <a:xfrm>
            <a:off x="454225" y="1744695"/>
            <a:ext cx="8184600" cy="145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Changing settings: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Energy Capacity cost ($/kW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en-US">
                <a:latin typeface="Open Sans"/>
                <a:ea typeface="Open Sans"/>
                <a:cs typeface="Open Sans"/>
                <a:sym typeface="Open Sans"/>
              </a:rPr>
              <a:t>) = $200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Power </a:t>
            </a: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Capacity cost ($/kW) = $400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Constant cost ($) = $50,000 (high end)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g3c7cd0d1f42_2_0"/>
          <p:cNvSpPr txBox="1"/>
          <p:nvPr>
            <p:ph idx="2" type="body"/>
          </p:nvPr>
        </p:nvSpPr>
        <p:spPr>
          <a:xfrm>
            <a:off x="473400" y="3356795"/>
            <a:ext cx="8197200" cy="1229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Technologies Selected: PV, Battery, ASHP Space Heater</a:t>
            </a:r>
            <a:endParaRPr sz="1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Minimum Energy capacity (kWh) 65.0</a:t>
            </a:r>
            <a:endParaRPr sz="1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1900"/>
              <a:t>Minimum Power Capacity (kW) 65.0</a:t>
            </a:r>
            <a:endParaRPr sz="19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chemeClr val="hlink"/>
                </a:solidFill>
                <a:hlinkClick r:id="rId3"/>
              </a:rPr>
              <a:t>https://www.gsl-energy.com/the-real-cost-of-commercial-battery-energy-storage-in-2025-what-you-need-to-know.html#:~:text=in%20energy%20storage.-,Average%20Cost%20of%20Commercial%20Battery%20Energy%20Storage,on%20the%20components%20and%20complexity</a:t>
            </a:r>
            <a:r>
              <a:rPr lang="en-US" sz="900"/>
              <a:t>. 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7cd0d1f42_2_7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ReOpt - Findings With Battery</a:t>
            </a:r>
            <a:endParaRPr/>
          </a:p>
        </p:txBody>
      </p:sp>
      <p:sp>
        <p:nvSpPr>
          <p:cNvPr id="181" name="Google Shape;181;g3c7cd0d1f42_2_7"/>
          <p:cNvSpPr txBox="1"/>
          <p:nvPr>
            <p:ph idx="2" type="body"/>
          </p:nvPr>
        </p:nvSpPr>
        <p:spPr>
          <a:xfrm>
            <a:off x="447923" y="1544489"/>
            <a:ext cx="8197200" cy="2251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lang="en-US" sz="1700">
                <a:solidFill>
                  <a:schemeClr val="dk1"/>
                </a:solidFill>
              </a:rPr>
              <a:t>Negative </a:t>
            </a:r>
            <a:r>
              <a:rPr lang="en-US" sz="1700">
                <a:solidFill>
                  <a:schemeClr val="dk1"/>
                </a:solidFill>
              </a:rPr>
              <a:t>return on investment in the long-term</a:t>
            </a:r>
            <a:endParaRPr sz="2100">
              <a:solidFill>
                <a:schemeClr val="dk1"/>
              </a:solidFill>
            </a:endParaRPr>
          </a:p>
          <a:p>
            <a:pPr indent="-26670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o"/>
            </a:pPr>
            <a:r>
              <a:rPr b="0" lang="en-US" sz="1500">
                <a:solidFill>
                  <a:schemeClr val="dk1"/>
                </a:solidFill>
              </a:rPr>
              <a:t>$195,050 life cycle savings over 25 years</a:t>
            </a:r>
            <a:endParaRPr b="0" sz="1500">
              <a:solidFill>
                <a:schemeClr val="dk1"/>
              </a:solidFill>
            </a:endParaRPr>
          </a:p>
          <a:p>
            <a:pPr indent="-26670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</a:pPr>
            <a:r>
              <a:rPr b="0" lang="en-US" sz="1500">
                <a:solidFill>
                  <a:schemeClr val="dk1"/>
                </a:solidFill>
              </a:rPr>
              <a:t>Payback period of 17.45 years</a:t>
            </a:r>
            <a:endParaRPr b="0" sz="1500">
              <a:solidFill>
                <a:schemeClr val="dk1"/>
              </a:solidFill>
            </a:endParaRPr>
          </a:p>
          <a:p>
            <a:pPr indent="-26670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</a:pPr>
            <a:r>
              <a:rPr b="0" lang="en-US" sz="1500">
                <a:solidFill>
                  <a:schemeClr val="dk1"/>
                </a:solidFill>
              </a:rPr>
              <a:t>Internal Rate of return 4.3%</a:t>
            </a:r>
            <a:endParaRPr b="0" sz="1500">
              <a:solidFill>
                <a:schemeClr val="dk1"/>
              </a:solidFill>
            </a:endParaRPr>
          </a:p>
          <a:p>
            <a:pPr indent="-29845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⮚"/>
            </a:pPr>
            <a:r>
              <a:rPr lang="en-US" sz="1700">
                <a:solidFill>
                  <a:schemeClr val="dk1"/>
                </a:solidFill>
              </a:rPr>
              <a:t>Capital cost estimates</a:t>
            </a:r>
            <a:endParaRPr sz="2100">
              <a:solidFill>
                <a:schemeClr val="dk1"/>
              </a:solidFill>
            </a:endParaRPr>
          </a:p>
          <a:p>
            <a:pPr indent="-25400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Char char="o"/>
            </a:pPr>
            <a:r>
              <a:rPr b="0" lang="en-US" sz="1500">
                <a:solidFill>
                  <a:schemeClr val="dk1"/>
                </a:solidFill>
              </a:rPr>
              <a:t>Total Year 1 Utility Energy Cost decreased by -$12,721</a:t>
            </a:r>
            <a:endParaRPr b="0" sz="1500">
              <a:solidFill>
                <a:schemeClr val="dk1"/>
              </a:solidFill>
            </a:endParaRPr>
          </a:p>
          <a:p>
            <a:pPr indent="-25400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</a:pPr>
            <a:r>
              <a:rPr b="0" lang="en-US" sz="1500">
                <a:solidFill>
                  <a:schemeClr val="dk1"/>
                </a:solidFill>
              </a:rPr>
              <a:t>Heating system fuel cost $964</a:t>
            </a:r>
            <a:endParaRPr b="0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0"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PGST Trial 5 | REopt Web Tool | REopt Energy Integration &amp; Optimization | NLR</a:t>
            </a:r>
            <a:r>
              <a:rPr b="0" lang="en-US" sz="1500">
                <a:solidFill>
                  <a:schemeClr val="dk1"/>
                </a:solidFill>
              </a:rPr>
              <a:t> </a:t>
            </a:r>
            <a:endParaRPr b="0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solidFill>
                <a:schemeClr val="dk1"/>
              </a:solidFill>
            </a:endParaRPr>
          </a:p>
          <a:p>
            <a:pPr indent="0" lvl="0" marL="74295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0" sz="1700">
              <a:solidFill>
                <a:schemeClr val="dk1"/>
              </a:solidFill>
            </a:endParaRPr>
          </a:p>
        </p:txBody>
      </p:sp>
      <p:pic>
        <p:nvPicPr>
          <p:cNvPr id="182" name="Google Shape;182;g3c7cd0d1f42_2_7"/>
          <p:cNvPicPr preferRelativeResize="0"/>
          <p:nvPr/>
        </p:nvPicPr>
        <p:blipFill rotWithShape="1">
          <a:blip r:embed="rId4">
            <a:alphaModFix/>
          </a:blip>
          <a:srcRect b="0" l="5681" r="6654" t="0"/>
          <a:stretch/>
        </p:blipFill>
        <p:spPr>
          <a:xfrm>
            <a:off x="6077875" y="1544500"/>
            <a:ext cx="2996074" cy="286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9b8cb7d11_2_6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ReOpt </a:t>
            </a:r>
            <a:r>
              <a:rPr lang="en-US"/>
              <a:t>- Flex Battery Program Setup</a:t>
            </a:r>
            <a:endParaRPr/>
          </a:p>
        </p:txBody>
      </p:sp>
      <p:sp>
        <p:nvSpPr>
          <p:cNvPr id="188" name="Google Shape;188;g3c9b8cb7d11_2_6"/>
          <p:cNvSpPr txBox="1"/>
          <p:nvPr>
            <p:ph idx="2" type="body"/>
          </p:nvPr>
        </p:nvSpPr>
        <p:spPr>
          <a:xfrm>
            <a:off x="447925" y="1494600"/>
            <a:ext cx="83607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Initial capacity rebate accounting</a:t>
            </a:r>
            <a:endParaRPr>
              <a:solidFill>
                <a:schemeClr val="dk1"/>
              </a:solidFill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>
                <a:solidFill>
                  <a:schemeClr val="dk1"/>
                </a:solidFill>
              </a:rPr>
              <a:t>Flex event participation accounting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>
                <a:solidFill>
                  <a:schemeClr val="dk1"/>
                </a:solidFill>
              </a:rPr>
              <a:t>Assumptions: 60 kW battery, 100 flex events per year</a:t>
            </a:r>
            <a:endParaRPr>
              <a:solidFill>
                <a:schemeClr val="dk1"/>
              </a:solidFill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>
                <a:solidFill>
                  <a:schemeClr val="dk1"/>
                </a:solidFill>
              </a:rPr>
              <a:t>Decreased constant cost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9" name="Google Shape;189;g3c9b8cb7d11_2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938" y="1992825"/>
            <a:ext cx="6568126" cy="5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9b8cb7d11_0_5"/>
          <p:cNvSpPr txBox="1"/>
          <p:nvPr>
            <p:ph type="title"/>
          </p:nvPr>
        </p:nvSpPr>
        <p:spPr>
          <a:xfrm>
            <a:off x="447925" y="369275"/>
            <a:ext cx="88179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 sz="2900">
                <a:latin typeface="Encode Sans Black"/>
                <a:ea typeface="Encode Sans Black"/>
                <a:cs typeface="Encode Sans Black"/>
                <a:sym typeface="Encode Sans Black"/>
              </a:rPr>
              <a:t>ReOpt Assumptions - </a:t>
            </a:r>
            <a:r>
              <a:rPr lang="en-US" sz="2900"/>
              <a:t>Air-Source Heat Pump</a:t>
            </a:r>
            <a:endParaRPr sz="2900"/>
          </a:p>
        </p:txBody>
      </p:sp>
      <p:sp>
        <p:nvSpPr>
          <p:cNvPr id="195" name="Google Shape;195;g3c9b8cb7d11_0_5"/>
          <p:cNvSpPr txBox="1"/>
          <p:nvPr>
            <p:ph idx="2" type="body"/>
          </p:nvPr>
        </p:nvSpPr>
        <p:spPr>
          <a:xfrm>
            <a:off x="447925" y="1574700"/>
            <a:ext cx="8552700" cy="337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lang="en-US" sz="2200"/>
              <a:t>Total Installed Cost</a:t>
            </a:r>
            <a:r>
              <a:rPr b="0" lang="en-US" sz="2200"/>
              <a:t>: $0.01/ton (assumed none) - use default to figure out how much needs to be covered by grants</a:t>
            </a:r>
            <a:endParaRPr b="0" sz="2200"/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Incremental O&amp;M Cost Increase Over Existing HVAC System ($/ton/yr)</a:t>
            </a:r>
            <a:r>
              <a:rPr b="0" lang="en-US" sz="2200"/>
              <a:t>: default at $0/ton/yr</a:t>
            </a:r>
            <a:endParaRPr b="0" sz="2200"/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ASHP </a:t>
            </a:r>
            <a:r>
              <a:rPr lang="en-US" sz="2200"/>
              <a:t>Performance</a:t>
            </a:r>
            <a:r>
              <a:rPr lang="en-US" sz="2200"/>
              <a:t> (COP and CF) Table</a:t>
            </a:r>
            <a:endParaRPr sz="2200"/>
          </a:p>
          <a:p>
            <a:pPr indent="-273050" lvl="1" marL="742950" rtl="0" algn="l">
              <a:spcBef>
                <a:spcPts val="0"/>
              </a:spcBef>
              <a:spcAft>
                <a:spcPts val="0"/>
              </a:spcAft>
              <a:buSzPts val="1800"/>
              <a:buChar char="o"/>
            </a:pPr>
            <a:r>
              <a:rPr b="0" lang="en-US" sz="1800"/>
              <a:t>Appears to match the state-required minimum COP of 3.6 at 50°F. Is it fine to leave this at the default?</a:t>
            </a:r>
            <a:endParaRPr b="0" sz="1800"/>
          </a:p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Heat Pump Capacity Sizing Factor</a:t>
            </a:r>
            <a:r>
              <a:rPr b="0" lang="en-US" sz="2200"/>
              <a:t>: default at 1.1</a:t>
            </a:r>
            <a:endParaRPr b="0" sz="2200"/>
          </a:p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Avoided HVAC Upgrades</a:t>
            </a:r>
            <a:r>
              <a:rPr b="0" lang="en-US" sz="2200"/>
              <a:t>: $0 (if current HVAC is not aged)</a:t>
            </a:r>
            <a:endParaRPr b="0" sz="2200"/>
          </a:p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Resistive Heating Backup Temp. Threshold</a:t>
            </a:r>
            <a:r>
              <a:rPr b="0" lang="en-US" sz="2200"/>
              <a:t>: 10°F default</a:t>
            </a:r>
            <a:endParaRPr b="0" sz="2200"/>
          </a:p>
          <a:p>
            <a:pPr indent="-330200" lvl="0" marL="342900" rtl="0" algn="l">
              <a:spcBef>
                <a:spcPts val="0"/>
              </a:spcBef>
              <a:spcAft>
                <a:spcPts val="0"/>
              </a:spcAft>
              <a:buSzPts val="2200"/>
              <a:buChar char="⮚"/>
            </a:pPr>
            <a:r>
              <a:rPr lang="en-US" sz="2200"/>
              <a:t>MACRS was ignored - no taxes</a:t>
            </a:r>
            <a:endParaRPr sz="22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447922" y="369285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201" name="Google Shape;201;p16"/>
          <p:cNvSpPr txBox="1"/>
          <p:nvPr>
            <p:ph idx="2" type="body"/>
          </p:nvPr>
        </p:nvSpPr>
        <p:spPr>
          <a:xfrm>
            <a:off x="447923" y="1528613"/>
            <a:ext cx="8197200" cy="30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⮚"/>
            </a:pPr>
            <a:r>
              <a:rPr lang="en-US" sz="2000"/>
              <a:t>Update</a:t>
            </a:r>
            <a:r>
              <a:rPr lang="en-US" sz="2000"/>
              <a:t> ReOpt inputs based on feedback</a:t>
            </a:r>
            <a:endParaRPr sz="20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Adding more </a:t>
            </a:r>
            <a:r>
              <a:rPr lang="en-US" sz="2000"/>
              <a:t>specific</a:t>
            </a:r>
            <a:r>
              <a:rPr lang="en-US" sz="2000"/>
              <a:t> values for battery cost data</a:t>
            </a:r>
            <a:endParaRPr sz="20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⮚"/>
            </a:pPr>
            <a:r>
              <a:rPr lang="en-US" sz="2000"/>
              <a:t>Continue refining propane consumption estimates</a:t>
            </a:r>
            <a:endParaRPr sz="200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Estimate yearly use of each propane consumer</a:t>
            </a:r>
            <a:endParaRPr b="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Determine propane consumption split </a:t>
            </a:r>
            <a:endParaRPr b="0"/>
          </a:p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000"/>
              <a:buChar char="o"/>
            </a:pPr>
            <a:r>
              <a:rPr b="0" lang="en-US"/>
              <a:t>S</a:t>
            </a:r>
            <a:r>
              <a:rPr b="0" lang="en-US" sz="2000"/>
              <a:t>izing</a:t>
            </a:r>
            <a:r>
              <a:rPr b="0" lang="en-US" sz="2000"/>
              <a:t> heat pumps to replace boiler/furnaces</a:t>
            </a:r>
            <a:endParaRPr b="0"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title"/>
          </p:nvPr>
        </p:nvSpPr>
        <p:spPr>
          <a:xfrm>
            <a:off x="460375" y="644993"/>
            <a:ext cx="6972300" cy="2641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-US">
                <a:latin typeface="Encode Sans Black"/>
                <a:ea typeface="Encode Sans Black"/>
                <a:cs typeface="Encode Sans Black"/>
                <a:sym typeface="Encode Sans Black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2014-10-14T00:51:43Z</dcterms:created>
  <dc:creator>Alanya Cannon</dc:creator>
</cp:coreProperties>
</file>