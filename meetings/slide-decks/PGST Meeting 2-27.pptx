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Encode Sans"/>
      <p:regular r:id="rId22"/>
      <p:bold r:id="rId23"/>
    </p:embeddedFont>
    <p:embeddedFont>
      <p:font typeface="Encode Sans Black"/>
      <p:bold r:id="rId24"/>
    </p:embeddedFont>
    <p:embeddedFont>
      <p:font typeface="Open Sans Light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kZwUl669fr/yJv40fo2ylBHoG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6B7CE5-7937-43A6-980B-CCAC64E9DFE7}">
  <a:tblStyle styleId="{0A6B7CE5-7937-43A6-980B-CCAC64E9DF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EncodeSans-regular.fntdata"/><Relationship Id="rId21" Type="http://schemas.openxmlformats.org/officeDocument/2006/relationships/slide" Target="slides/slide14.xml"/><Relationship Id="rId24" Type="http://schemas.openxmlformats.org/officeDocument/2006/relationships/font" Target="fonts/EncodeSansBlack-bold.fntdata"/><Relationship Id="rId23" Type="http://schemas.openxmlformats.org/officeDocument/2006/relationships/font" Target="fonts/Encod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Light-bold.fntdata"/><Relationship Id="rId25" Type="http://schemas.openxmlformats.org/officeDocument/2006/relationships/font" Target="fonts/OpenSansLight-regular.fntdata"/><Relationship Id="rId28" Type="http://schemas.openxmlformats.org/officeDocument/2006/relationships/font" Target="fonts/OpenSansLight-boldItalic.fntdata"/><Relationship Id="rId27" Type="http://schemas.openxmlformats.org/officeDocument/2006/relationships/font" Target="fonts/OpenSansLigh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463f077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c463f077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463f0774d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c463f0774d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b8619128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b8619128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b8619128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b86191288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b86191288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cb86191288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463f0774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c463f0774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b881028e8_3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cb881028e8_3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b881028e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b881028e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b881028e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b881028e8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b881028e8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b881028e8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63f0774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c463f0774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b881028e8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cb881028e8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8607"/>
            <a:ext cx="2416273" cy="21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447923" y="371510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" name="Google Shape;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47923" y="369733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8" name="Google Shape;2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0" name="Google Shape;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6"/>
          <p:cNvSpPr/>
          <p:nvPr>
            <p:ph idx="2" type="chart"/>
          </p:nvPr>
        </p:nvSpPr>
        <p:spPr>
          <a:xfrm>
            <a:off x="447923" y="1724977"/>
            <a:ext cx="8184662" cy="282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5" name="Google Shape;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3" name="Google Shape;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6" name="Google Shape;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9" name="Google Shape;4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009"/>
            <a:ext cx="2425226" cy="21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9" name="Google Shape;5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1" name="Google Shape;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460375" y="369733"/>
            <a:ext cx="8172210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4" name="Google Shape;6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1"/>
          <p:cNvSpPr/>
          <p:nvPr>
            <p:ph idx="2" type="chart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>
            <p:ph type="title"/>
          </p:nvPr>
        </p:nvSpPr>
        <p:spPr>
          <a:xfrm>
            <a:off x="460375" y="644993"/>
            <a:ext cx="6914984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/>
              <a:t>PGST Meeting 2/27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Today's Agenda </a:t>
            </a:r>
            <a:endParaRPr/>
          </a:p>
        </p:txBody>
      </p:sp>
      <p:sp>
        <p:nvSpPr>
          <p:cNvPr id="81" name="Google Shape;81;p2"/>
          <p:cNvSpPr txBox="1"/>
          <p:nvPr>
            <p:ph idx="2" type="body"/>
          </p:nvPr>
        </p:nvSpPr>
        <p:spPr>
          <a:xfrm>
            <a:off x="447923" y="1600201"/>
            <a:ext cx="819711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Working Assumptions for: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Estimating p</a:t>
            </a:r>
            <a:r>
              <a:rPr b="0" lang="en-US" sz="2000"/>
              <a:t>ropane consumption </a:t>
            </a:r>
            <a:r>
              <a:rPr b="0" lang="en-US"/>
              <a:t>by unit and building</a:t>
            </a:r>
            <a:endParaRPr b="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Refining linear regression to build heating profile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en-US" sz="2000">
                <a:solidFill>
                  <a:schemeClr val="dk1"/>
                </a:solidFill>
              </a:rPr>
              <a:t>Updated Regression Results</a:t>
            </a:r>
            <a:endParaRPr b="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Review energy profile progress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sz="2000"/>
              <a:t>Updated temperature </a:t>
            </a:r>
            <a:r>
              <a:rPr b="0" lang="en-US"/>
              <a:t>profile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Candidate Solar - Early Childhood Center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Solar Energy Credit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Next Steps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63f0774d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Working Assumptions</a:t>
            </a:r>
            <a:endParaRPr/>
          </a:p>
        </p:txBody>
      </p:sp>
      <p:sp>
        <p:nvSpPr>
          <p:cNvPr id="87" name="Google Shape;87;g3c463f0774d_0_0"/>
          <p:cNvSpPr txBox="1"/>
          <p:nvPr>
            <p:ph idx="2" type="body"/>
          </p:nvPr>
        </p:nvSpPr>
        <p:spPr>
          <a:xfrm>
            <a:off x="447923" y="1600201"/>
            <a:ext cx="81972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2023-2025 operation data is representative of current and future operation data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Propane data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Neglect</a:t>
            </a:r>
            <a:r>
              <a:rPr b="0" lang="en-US" sz="2000"/>
              <a:t> small propane deliveries (</a:t>
            </a:r>
            <a:r>
              <a:rPr b="0" lang="en-US"/>
              <a:t>&lt;</a:t>
            </a:r>
            <a:r>
              <a:rPr b="0" lang="en-US" sz="2000"/>
              <a:t>200 gal)</a:t>
            </a:r>
            <a:endParaRPr b="0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 sz="2000"/>
              <a:t>Propane deliveries per mo</a:t>
            </a:r>
            <a:r>
              <a:rPr b="0" lang="en-US"/>
              <a:t>nth </a:t>
            </a:r>
            <a:r>
              <a:rPr b="0" lang="en-US" sz="2000"/>
              <a:t>= monthly propane use</a:t>
            </a:r>
            <a:endParaRPr b="0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Unit efficiencies match plate information</a:t>
            </a:r>
            <a:endParaRPr b="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Temperature data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Data </a:t>
            </a:r>
            <a:r>
              <a:rPr b="0" lang="en-US" sz="2000"/>
              <a:t>from NOAA </a:t>
            </a:r>
            <a:r>
              <a:rPr b="0" lang="en-US"/>
              <a:t>is </a:t>
            </a:r>
            <a:r>
              <a:rPr b="0" lang="en-US" sz="2000"/>
              <a:t>accurate (Bremerton station)</a:t>
            </a:r>
            <a:endParaRPr b="0"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Average daily temperature &lt;60°F is HDD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463f0774d_0_1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Working Assumptions (Cont.)</a:t>
            </a:r>
            <a:endParaRPr/>
          </a:p>
        </p:txBody>
      </p:sp>
      <p:sp>
        <p:nvSpPr>
          <p:cNvPr id="93" name="Google Shape;93;g3c463f0774d_0_16"/>
          <p:cNvSpPr txBox="1"/>
          <p:nvPr>
            <p:ph idx="2" type="body"/>
          </p:nvPr>
        </p:nvSpPr>
        <p:spPr>
          <a:xfrm>
            <a:off x="447925" y="1497175"/>
            <a:ext cx="8529300" cy="3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⮚"/>
            </a:pPr>
            <a:r>
              <a:rPr lang="en-US" sz="1800"/>
              <a:t>Building Performance</a:t>
            </a:r>
            <a:endParaRPr b="0" sz="1800"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b="0" lang="en-US" sz="1800"/>
              <a:t>Site EUI values match medians from Building Performance Database</a:t>
            </a:r>
            <a:endParaRPr b="0" sz="1800"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b="0" lang="en-US" sz="1800">
                <a:solidFill>
                  <a:schemeClr val="dk1"/>
                </a:solidFill>
              </a:rPr>
              <a:t>Building heating demand = square footage × EUI</a:t>
            </a:r>
            <a:endParaRPr b="0" sz="1800"/>
          </a:p>
          <a:p>
            <a:pPr indent="-3302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⮚"/>
            </a:pPr>
            <a:r>
              <a:rPr lang="en-US" sz="1800"/>
              <a:t>Regression</a:t>
            </a:r>
            <a:endParaRPr sz="1800"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b="0" lang="en-US" sz="1800"/>
              <a:t>Linear regression models heat and propane usage</a:t>
            </a:r>
            <a:endParaRPr b="0" sz="1800"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b="0" lang="en-US" sz="1800"/>
              <a:t>Non-heating propane use (stoves, DHW) has no seasonal variation</a:t>
            </a:r>
            <a:endParaRPr b="0" sz="1800"/>
          </a:p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0" lang="en-US" sz="1800">
                <a:solidFill>
                  <a:schemeClr val="dk1"/>
                </a:solidFill>
              </a:rPr>
              <a:t>Space </a:t>
            </a:r>
            <a:r>
              <a:rPr b="0" lang="en-US" sz="1800">
                <a:solidFill>
                  <a:schemeClr val="dk1"/>
                </a:solidFill>
              </a:rPr>
              <a:t>heating energy is attributable to the Longhouse, Education Center, CFS and Gym buildings (no extra losses from tank, pipes, etc.)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b86191288_1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Regression Results</a:t>
            </a:r>
            <a:endParaRPr/>
          </a:p>
        </p:txBody>
      </p:sp>
      <p:pic>
        <p:nvPicPr>
          <p:cNvPr id="100" name="Google Shape;100;g3cb8619128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200" y="1600210"/>
            <a:ext cx="3691561" cy="34755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cb86191288_1_0"/>
          <p:cNvSpPr txBox="1"/>
          <p:nvPr>
            <p:ph idx="2" type="body"/>
          </p:nvPr>
        </p:nvSpPr>
        <p:spPr>
          <a:xfrm>
            <a:off x="447925" y="1523400"/>
            <a:ext cx="46902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Baseline of 589.3 gallons/month includes stoves and DHW loads (647 MMBtu/yr)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Running stove at max capacity (180,000 Btu/hr) for 3 hours/day, 5 days/week = 140 MMBtu/yr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Current profiles based on this analysis - lowering baseline may improve accuracy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86191288_1_8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Regression Results</a:t>
            </a:r>
            <a:endParaRPr/>
          </a:p>
        </p:txBody>
      </p:sp>
      <p:graphicFrame>
        <p:nvGraphicFramePr>
          <p:cNvPr id="108" name="Google Shape;108;g3cb86191288_1_8"/>
          <p:cNvGraphicFramePr/>
          <p:nvPr/>
        </p:nvGraphicFramePr>
        <p:xfrm>
          <a:off x="544325" y="1790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{0A6B7CE5-7937-43A6-980B-CCAC64E9DFE7}</a:tableStyleId>
              </a:tblPr>
              <a:tblGrid>
                <a:gridCol w="1620250"/>
                <a:gridCol w="1076900"/>
                <a:gridCol w="1042500"/>
                <a:gridCol w="1299925"/>
                <a:gridCol w="1303275"/>
                <a:gridCol w="1661525"/>
              </a:tblGrid>
              <a:tr h="903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Building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Area (ft</a:t>
                      </a:r>
                      <a:r>
                        <a:rPr b="1" baseline="30000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</a:t>
                      </a: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)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Heater efficiency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Site EUI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(kBTU/ft</a:t>
                      </a:r>
                      <a:r>
                        <a:rPr b="1" baseline="30000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</a:t>
                      </a: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-yr)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Annual fuel energy (MMBtu/yr)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Propane allocation:</a:t>
                      </a:r>
                      <a:endParaRPr b="1"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</a:tr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Longhouse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6000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112.9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677.2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27.8%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Education Center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4060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83.7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339.7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13.9%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 6681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92.9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620.5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25.5%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Gym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7700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81%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19.9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153.5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6.3%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Stoves/DHW/misc.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647.0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26.5%</a:t>
                      </a:r>
                      <a:endParaRPr sz="15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463f0774d_0_5"/>
          <p:cNvSpPr txBox="1"/>
          <p:nvPr>
            <p:ph type="title"/>
          </p:nvPr>
        </p:nvSpPr>
        <p:spPr>
          <a:xfrm>
            <a:off x="330172" y="28833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Heating Load Profile</a:t>
            </a:r>
            <a:endParaRPr/>
          </a:p>
        </p:txBody>
      </p:sp>
      <p:pic>
        <p:nvPicPr>
          <p:cNvPr id="114" name="Google Shape;114;g3c463f0774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75" y="1514983"/>
            <a:ext cx="8549449" cy="359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881028e8_3_2"/>
          <p:cNvSpPr txBox="1"/>
          <p:nvPr>
            <p:ph type="title"/>
          </p:nvPr>
        </p:nvSpPr>
        <p:spPr>
          <a:xfrm>
            <a:off x="330172" y="28833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Stoves/DHW Load Profile</a:t>
            </a:r>
            <a:endParaRPr/>
          </a:p>
        </p:txBody>
      </p:sp>
      <p:pic>
        <p:nvPicPr>
          <p:cNvPr id="120" name="Google Shape;120;g3cb881028e8_3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8810"/>
            <a:ext cx="8839201" cy="1856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cb881028e8_3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57" y="3287325"/>
            <a:ext cx="8839343" cy="18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b881028e8_1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Candidate Solar</a:t>
            </a:r>
            <a:r>
              <a:rPr lang="en-US"/>
              <a:t> -</a:t>
            </a:r>
            <a:r>
              <a:rPr lang="en-US"/>
              <a:t> Early Childhood </a:t>
            </a:r>
            <a:r>
              <a:rPr lang="en-US"/>
              <a:t>Center</a:t>
            </a:r>
            <a:endParaRPr/>
          </a:p>
        </p:txBody>
      </p:sp>
      <p:sp>
        <p:nvSpPr>
          <p:cNvPr id="128" name="Google Shape;128;g3cb881028e8_1_0"/>
          <p:cNvSpPr txBox="1"/>
          <p:nvPr>
            <p:ph idx="2" type="body"/>
          </p:nvPr>
        </p:nvSpPr>
        <p:spPr>
          <a:xfrm>
            <a:off x="447925" y="1503000"/>
            <a:ext cx="45672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PV Watts Area: 814 m</a:t>
            </a:r>
            <a:r>
              <a:rPr baseline="30000" lang="en-US" sz="2000"/>
              <a:t>2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PV Watts Capacity: 154.9 kW-dc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Direction: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N, W, E, and S-facing roofs</a:t>
            </a:r>
            <a:endParaRPr b="0"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Tilt: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Estimated from Google Maps</a:t>
            </a:r>
            <a:endParaRPr b="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b="0" lang="en-US"/>
              <a:t>Depending on the roof, ranging from ~21-24°</a:t>
            </a:r>
            <a:endParaRPr b="0"/>
          </a:p>
        </p:txBody>
      </p:sp>
      <p:pic>
        <p:nvPicPr>
          <p:cNvPr id="129" name="Google Shape;129;g3cb881028e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025" y="1502999"/>
            <a:ext cx="3713326" cy="24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b881028e8_1_17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Candidate Solar - Roof Estimates</a:t>
            </a:r>
            <a:endParaRPr/>
          </a:p>
        </p:txBody>
      </p:sp>
      <p:graphicFrame>
        <p:nvGraphicFramePr>
          <p:cNvPr id="136" name="Google Shape;136;g3cb881028e8_1_17"/>
          <p:cNvGraphicFramePr/>
          <p:nvPr/>
        </p:nvGraphicFramePr>
        <p:xfrm>
          <a:off x="526238" y="159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{0A6B7CE5-7937-43A6-980B-CCAC64E9DFE7}</a:tableStyleId>
              </a:tblPr>
              <a:tblGrid>
                <a:gridCol w="592250"/>
                <a:gridCol w="692475"/>
                <a:gridCol w="704575"/>
                <a:gridCol w="834725"/>
                <a:gridCol w="465100"/>
                <a:gridCol w="1236650"/>
              </a:tblGrid>
              <a:tr h="50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Roofs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Direction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PVWatts area (m</a:t>
                      </a:r>
                      <a:r>
                        <a:rPr b="1" baseline="30000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</a:t>
                      </a: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PVWatts capacity (kWdc)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Tilt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Notes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D3A2"/>
                    </a:solidFill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24°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Partially blocked by a tree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150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28.5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22°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Partly shaded by a tree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W1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25.1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23°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Partially blocked by a tree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W2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87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16.6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21°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142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27.1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23°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13.0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21°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53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24°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129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24.6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22°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Partly shaded by a tree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Total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814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154.9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7" name="Google Shape;137;g3cb881028e8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950" y="1770350"/>
            <a:ext cx="3431075" cy="230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cb881028e8_1_17"/>
          <p:cNvSpPr/>
          <p:nvPr/>
        </p:nvSpPr>
        <p:spPr>
          <a:xfrm>
            <a:off x="5566825" y="2347550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N1</a:t>
            </a:r>
            <a:endParaRPr b="1" sz="800"/>
          </a:p>
        </p:txBody>
      </p:sp>
      <p:sp>
        <p:nvSpPr>
          <p:cNvPr id="139" name="Google Shape;139;g3cb881028e8_1_17"/>
          <p:cNvSpPr/>
          <p:nvPr/>
        </p:nvSpPr>
        <p:spPr>
          <a:xfrm>
            <a:off x="6709075" y="2365475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N1</a:t>
            </a:r>
            <a:endParaRPr b="1" sz="800"/>
          </a:p>
        </p:txBody>
      </p:sp>
      <p:sp>
        <p:nvSpPr>
          <p:cNvPr id="140" name="Google Shape;140;g3cb881028e8_1_17"/>
          <p:cNvSpPr/>
          <p:nvPr/>
        </p:nvSpPr>
        <p:spPr>
          <a:xfrm>
            <a:off x="7657075" y="2124000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N2</a:t>
            </a:r>
            <a:endParaRPr b="1" sz="800"/>
          </a:p>
        </p:txBody>
      </p:sp>
      <p:sp>
        <p:nvSpPr>
          <p:cNvPr id="141" name="Google Shape;141;g3cb881028e8_1_17"/>
          <p:cNvSpPr/>
          <p:nvPr/>
        </p:nvSpPr>
        <p:spPr>
          <a:xfrm>
            <a:off x="7675025" y="2889363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N2</a:t>
            </a:r>
            <a:endParaRPr b="1" sz="800"/>
          </a:p>
        </p:txBody>
      </p:sp>
      <p:sp>
        <p:nvSpPr>
          <p:cNvPr id="142" name="Google Shape;142;g3cb881028e8_1_17"/>
          <p:cNvSpPr/>
          <p:nvPr/>
        </p:nvSpPr>
        <p:spPr>
          <a:xfrm>
            <a:off x="7229775" y="2668238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E2</a:t>
            </a:r>
            <a:endParaRPr b="1" sz="800"/>
          </a:p>
        </p:txBody>
      </p:sp>
      <p:sp>
        <p:nvSpPr>
          <p:cNvPr id="143" name="Google Shape;143;g3cb881028e8_1_17"/>
          <p:cNvSpPr/>
          <p:nvPr/>
        </p:nvSpPr>
        <p:spPr>
          <a:xfrm>
            <a:off x="6429675" y="3126938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E1</a:t>
            </a:r>
            <a:endParaRPr b="1" sz="800"/>
          </a:p>
        </p:txBody>
      </p:sp>
      <p:sp>
        <p:nvSpPr>
          <p:cNvPr id="144" name="Google Shape;144;g3cb881028e8_1_17"/>
          <p:cNvSpPr/>
          <p:nvPr/>
        </p:nvSpPr>
        <p:spPr>
          <a:xfrm>
            <a:off x="6914525" y="2988950"/>
            <a:ext cx="2061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W2</a:t>
            </a:r>
            <a:endParaRPr b="1" sz="800"/>
          </a:p>
        </p:txBody>
      </p:sp>
      <p:sp>
        <p:nvSpPr>
          <p:cNvPr id="145" name="Google Shape;145;g3cb881028e8_1_17"/>
          <p:cNvSpPr/>
          <p:nvPr/>
        </p:nvSpPr>
        <p:spPr>
          <a:xfrm>
            <a:off x="5961275" y="2790225"/>
            <a:ext cx="2061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W1</a:t>
            </a:r>
            <a:endParaRPr b="1" sz="800"/>
          </a:p>
        </p:txBody>
      </p:sp>
      <p:sp>
        <p:nvSpPr>
          <p:cNvPr id="146" name="Google Shape;146;g3cb881028e8_1_17"/>
          <p:cNvSpPr/>
          <p:nvPr/>
        </p:nvSpPr>
        <p:spPr>
          <a:xfrm>
            <a:off x="7675025" y="2485550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</a:t>
            </a:r>
            <a:r>
              <a:rPr b="1" lang="en-US" sz="800"/>
              <a:t>2</a:t>
            </a:r>
            <a:endParaRPr b="1" sz="800"/>
          </a:p>
        </p:txBody>
      </p:sp>
      <p:sp>
        <p:nvSpPr>
          <p:cNvPr id="147" name="Google Shape;147;g3cb881028e8_1_17"/>
          <p:cNvSpPr/>
          <p:nvPr/>
        </p:nvSpPr>
        <p:spPr>
          <a:xfrm>
            <a:off x="7657075" y="3226575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S2</a:t>
            </a:r>
            <a:endParaRPr b="1" sz="800"/>
          </a:p>
        </p:txBody>
      </p:sp>
      <p:sp>
        <p:nvSpPr>
          <p:cNvPr id="148" name="Google Shape;148;g3cb881028e8_1_17"/>
          <p:cNvSpPr/>
          <p:nvPr/>
        </p:nvSpPr>
        <p:spPr>
          <a:xfrm>
            <a:off x="6709075" y="2571750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S1</a:t>
            </a:r>
            <a:endParaRPr b="1" sz="800"/>
          </a:p>
        </p:txBody>
      </p:sp>
      <p:sp>
        <p:nvSpPr>
          <p:cNvPr id="149" name="Google Shape;149;g3cb881028e8_1_17"/>
          <p:cNvSpPr/>
          <p:nvPr/>
        </p:nvSpPr>
        <p:spPr>
          <a:xfrm>
            <a:off x="5552225" y="2623550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S1</a:t>
            </a:r>
            <a:endParaRPr b="1" sz="800"/>
          </a:p>
        </p:txBody>
      </p:sp>
      <p:sp>
        <p:nvSpPr>
          <p:cNvPr id="150" name="Google Shape;150;g3cb881028e8_1_17"/>
          <p:cNvSpPr/>
          <p:nvPr/>
        </p:nvSpPr>
        <p:spPr>
          <a:xfrm>
            <a:off x="6892975" y="2067975"/>
            <a:ext cx="2061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W2</a:t>
            </a:r>
            <a:endParaRPr b="1" sz="800"/>
          </a:p>
        </p:txBody>
      </p:sp>
      <p:sp>
        <p:nvSpPr>
          <p:cNvPr id="151" name="Google Shape;151;g3cb881028e8_1_17"/>
          <p:cNvSpPr/>
          <p:nvPr/>
        </p:nvSpPr>
        <p:spPr>
          <a:xfrm>
            <a:off x="7206125" y="3323613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E2</a:t>
            </a:r>
            <a:endParaRPr b="1" sz="800"/>
          </a:p>
        </p:txBody>
      </p:sp>
      <p:sp>
        <p:nvSpPr>
          <p:cNvPr id="152" name="Google Shape;152;g3cb881028e8_1_17"/>
          <p:cNvSpPr/>
          <p:nvPr/>
        </p:nvSpPr>
        <p:spPr>
          <a:xfrm>
            <a:off x="7206125" y="2048838"/>
            <a:ext cx="183900" cy="1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/>
              <a:t>E2</a:t>
            </a:r>
            <a:endParaRPr b="1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463f0774d_0_1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Net Billing: Solar Energy Credit</a:t>
            </a:r>
            <a:endParaRPr/>
          </a:p>
        </p:txBody>
      </p:sp>
      <p:sp>
        <p:nvSpPr>
          <p:cNvPr id="158" name="Google Shape;158;g3c463f0774d_0_10"/>
          <p:cNvSpPr txBox="1"/>
          <p:nvPr>
            <p:ph idx="2" type="body"/>
          </p:nvPr>
        </p:nvSpPr>
        <p:spPr>
          <a:xfrm>
            <a:off x="447925" y="1503000"/>
            <a:ext cx="8197200" cy="30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Solar Energy Credit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According to the solar energy credit, net billing is at $0.067130/kWh, which was applied to ReOpt</a:t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/>
          </a:p>
          <a:p>
            <a:pPr indent="-355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Lower life cycle cost savings </a:t>
            </a:r>
            <a:endParaRPr b="0"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When evaluated in ReOpt without a battery, the life cycle cost savings were nearly a third less (~$190K compared to ~$290K over 25 years) </a:t>
            </a:r>
            <a:endParaRPr b="0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b881028e8_1_12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Net Billing: </a:t>
            </a:r>
            <a:r>
              <a:rPr lang="en-US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Solar Energy Credit</a:t>
            </a:r>
            <a:endParaRPr/>
          </a:p>
        </p:txBody>
      </p:sp>
      <p:sp>
        <p:nvSpPr>
          <p:cNvPr id="164" name="Google Shape;164;g3cb881028e8_1_12"/>
          <p:cNvSpPr txBox="1"/>
          <p:nvPr>
            <p:ph idx="2" type="body"/>
          </p:nvPr>
        </p:nvSpPr>
        <p:spPr>
          <a:xfrm>
            <a:off x="447923" y="1503001"/>
            <a:ext cx="81972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⮚"/>
            </a:pPr>
            <a:r>
              <a:rPr lang="en-US" sz="2200">
                <a:solidFill>
                  <a:schemeClr val="dk1"/>
                </a:solidFill>
              </a:rPr>
              <a:t>Use net billing in ReOpt based on PSE switchover?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0" lang="en-US" sz="2200">
                <a:solidFill>
                  <a:schemeClr val="dk1"/>
                </a:solidFill>
              </a:rPr>
              <a:t>PSE website says they discontinued net metering at the end of 2025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ReOpt PV Optimization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ReOpt optimizes the solar installation at max specified size (100 kW, based on state restrictions)</a:t>
            </a:r>
            <a:endParaRPr b="0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We could adjust this by setting a new max</a:t>
            </a:r>
            <a:endParaRPr b="0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This is due to the assumption of no capital cost and no limit to net billing</a:t>
            </a:r>
            <a:endParaRPr b="0"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70" name="Google Shape;170;p16"/>
          <p:cNvSpPr txBox="1"/>
          <p:nvPr>
            <p:ph idx="2" type="body"/>
          </p:nvPr>
        </p:nvSpPr>
        <p:spPr>
          <a:xfrm>
            <a:off x="447923" y="1528613"/>
            <a:ext cx="8197200" cy="30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 sz="2000"/>
              <a:t>Refine baseline, non-heating propane consumption for more accuracy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ReOPT parameter sweep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Separate load profiles for each building</a:t>
            </a:r>
            <a:endParaRPr sz="2000"/>
          </a:p>
          <a:p>
            <a:pPr indent="-3175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SzPts val="2000"/>
              <a:buChar char="⮚"/>
            </a:pPr>
            <a:r>
              <a:rPr lang="en-US" sz="2000"/>
              <a:t>Heat pump fitting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</cp:coreProperties>
</file>