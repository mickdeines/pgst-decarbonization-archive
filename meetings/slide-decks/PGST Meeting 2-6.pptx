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7" r:id="rId2"/>
    <p:sldMasterId id="2147483652" r:id="rId3"/>
  </p:sldMasterIdLst>
  <p:notesMasterIdLst>
    <p:notesMasterId r:id="rId22"/>
  </p:notesMasterIdLst>
  <p:sldIdLst>
    <p:sldId id="256" r:id="rId4"/>
    <p:sldId id="257" r:id="rId5"/>
    <p:sldId id="291" r:id="rId6"/>
    <p:sldId id="297" r:id="rId7"/>
    <p:sldId id="299" r:id="rId8"/>
    <p:sldId id="307" r:id="rId9"/>
    <p:sldId id="300" r:id="rId10"/>
    <p:sldId id="301" r:id="rId11"/>
    <p:sldId id="308" r:id="rId12"/>
    <p:sldId id="294" r:id="rId13"/>
    <p:sldId id="304" r:id="rId14"/>
    <p:sldId id="306" r:id="rId15"/>
    <p:sldId id="302" r:id="rId16"/>
    <p:sldId id="303" r:id="rId17"/>
    <p:sldId id="305" r:id="rId18"/>
    <p:sldId id="293" r:id="rId19"/>
    <p:sldId id="296" r:id="rId20"/>
    <p:sldId id="292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754CA8"/>
    <a:srgbClr val="A84C4C"/>
    <a:srgbClr val="25005C"/>
    <a:srgbClr val="E2CA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AFBC66-3241-52B8-F7D8-14C401E2D96E}" v="620" dt="2026-02-06T02:02:01.537"/>
    <p1510:client id="{9C101CB9-3A00-7CC4-C996-B421549672A9}" v="205" dt="2026-02-06T07:42:55.880"/>
    <p1510:client id="{A53B7D59-F900-452C-8B0A-6BE0ED6E03D4}" v="1340" dt="2026-02-06T02:19:27.194"/>
    <p1510:client id="{F89C451C-A5AD-835D-A8A5-5C43AC3BBD7E}" v="2737" dt="2026-02-06T02:29:24.5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C0809-93C9-47C3-B9E4-5E76A84BFBE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9E2B7-4E11-4069-BEF9-9AFBD6CB9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4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9E2B7-4E11-4069-BEF9-9AFBD6CB91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76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9E2B7-4E11-4069-BEF9-9AFBD6CB91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/>
              <a:t>TITLE HERE</a:t>
            </a:r>
            <a:br>
              <a:rPr lang="en-US"/>
            </a:br>
            <a:r>
              <a:rPr lang="en-US"/>
              <a:t>ENCODE NORMAL</a:t>
            </a:r>
            <a:br>
              <a:rPr lang="en-US"/>
            </a:br>
            <a:r>
              <a:rPr lang="en-US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081" y="3426449"/>
            <a:ext cx="16002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8081" y="4598607"/>
            <a:ext cx="2416273" cy="213486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0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/>
              <a:t>TITLE HERE </a:t>
            </a:r>
            <a:br>
              <a:rPr lang="en-US"/>
            </a:br>
            <a:r>
              <a:rPr lang="en-US"/>
              <a:t>ENCODE NORMAL BLACK, 50 PT.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081" y="3426449"/>
            <a:ext cx="1600200" cy="139700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81" y="4675530"/>
            <a:ext cx="2540000" cy="172311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9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7923" y="371510"/>
            <a:ext cx="8197114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/>
              <a:t>SUB-HEADER HERE (UNI SANS REGULAR, 24 PT.)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19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37" y="4675530"/>
            <a:ext cx="2540000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40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7923" y="369733"/>
            <a:ext cx="8197114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3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370622"/>
            <a:ext cx="8184662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6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447923" y="1724977"/>
            <a:ext cx="8184662" cy="282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/>
              <a:t>Graphics can go here – </a:t>
            </a:r>
            <a:br>
              <a:rPr lang="en-US"/>
            </a:br>
            <a:r>
              <a:rPr lang="en-US"/>
              <a:t>replace this box with your image or chart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37" y="4675530"/>
            <a:ext cx="2540000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41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TITLE HERE</a:t>
            </a:r>
            <a:br>
              <a:rPr lang="en-US"/>
            </a:br>
            <a:r>
              <a:rPr lang="en-US"/>
              <a:t>ENCODE NORMAL</a:t>
            </a:r>
            <a:br>
              <a:rPr lang="en-US"/>
            </a:br>
            <a:r>
              <a:rPr lang="en-US"/>
              <a:t>BLACK, 50 PT. 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1" y="3426449"/>
            <a:ext cx="1597439" cy="139700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81" y="4599107"/>
            <a:ext cx="2416273" cy="212486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5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TITLE HERE</a:t>
            </a:r>
            <a:br>
              <a:rPr lang="en-US"/>
            </a:br>
            <a:r>
              <a:rPr lang="en-US"/>
              <a:t>ENCODE NORMAL</a:t>
            </a:r>
            <a:br>
              <a:rPr lang="en-US"/>
            </a:br>
            <a:r>
              <a:rPr lang="en-US"/>
              <a:t>BLACK, 50 PT. 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61" y="3426449"/>
            <a:ext cx="1597439" cy="139700"/>
          </a:xfrm>
          <a:prstGeom prst="rect">
            <a:avLst/>
          </a:prstGeom>
        </p:spPr>
      </p:pic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85" y="4675530"/>
            <a:ext cx="2539991" cy="172311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9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4" y="369733"/>
            <a:ext cx="8184657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74" y="1363508"/>
            <a:ext cx="1090095" cy="96362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/>
              <a:t>SUB-HEADER HERE (UNI SANS REGULAR, 24 PT.)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41" y="4675530"/>
            <a:ext cx="2539991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01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369733"/>
            <a:ext cx="8184662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74" y="1363508"/>
            <a:ext cx="1090095" cy="9636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9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381608"/>
            <a:ext cx="8172210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74" y="1363508"/>
            <a:ext cx="1090095" cy="96362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/>
              <a:t>Graphics can go here – </a:t>
            </a:r>
            <a:br>
              <a:rPr lang="en-US"/>
            </a:br>
            <a:r>
              <a:rPr lang="en-US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41" y="4675530"/>
            <a:ext cx="2539991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44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TITLE HERE</a:t>
            </a:r>
            <a:br>
              <a:rPr lang="en-US"/>
            </a:br>
            <a:r>
              <a:rPr lang="en-US"/>
              <a:t>ENCODE NORMAL</a:t>
            </a:r>
            <a:br>
              <a:rPr lang="en-US"/>
            </a:br>
            <a:r>
              <a:rPr lang="en-US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081" y="3426449"/>
            <a:ext cx="16002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81" y="4599009"/>
            <a:ext cx="2425226" cy="213273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28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</p:spPr>
        <p:txBody>
          <a:bodyPr anchor="b"/>
          <a:lstStyle>
            <a:lvl1pPr algn="l">
              <a:defRPr sz="5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TITLE HERE</a:t>
            </a:r>
            <a:br>
              <a:rPr lang="en-US"/>
            </a:br>
            <a:r>
              <a:rPr lang="en-US"/>
              <a:t>ENCODE NORMAL</a:t>
            </a:r>
            <a:br>
              <a:rPr lang="en-US"/>
            </a:br>
            <a:r>
              <a:rPr lang="en-US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8081" y="3426449"/>
            <a:ext cx="1600200" cy="139700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85" y="4675530"/>
            <a:ext cx="2539991" cy="172311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9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7922" y="369285"/>
            <a:ext cx="8197109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4572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9144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3716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182880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41" y="4675530"/>
            <a:ext cx="2539991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72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370622"/>
            <a:ext cx="8184662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</p:spPr>
        <p:txBody>
          <a:bodyPr/>
          <a:lstStyle>
            <a:lvl1pPr marL="342900" indent="-342900"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0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143000" indent="-228600">
              <a:buSzPct val="100000"/>
              <a:buFont typeface="Lucida Grande"/>
              <a:buChar char="&gt;"/>
              <a:defRPr sz="18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16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057400" indent="-228600">
              <a:buFont typeface="Lucida Grande"/>
              <a:buChar char="&gt;"/>
              <a:defRPr sz="1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/>
              <a:t>Content here (Open Sans Bold, 24 pt.)</a:t>
            </a:r>
          </a:p>
          <a:p>
            <a:pPr lvl="1"/>
            <a:r>
              <a:rPr lang="en-US"/>
              <a:t>Second level (Open Sans Bold, 20)</a:t>
            </a:r>
          </a:p>
          <a:p>
            <a:pPr lvl="2"/>
            <a:r>
              <a:rPr lang="en-US"/>
              <a:t>Third level (Open Sans Bold, 18)</a:t>
            </a:r>
          </a:p>
          <a:p>
            <a:pPr lvl="3"/>
            <a:r>
              <a:rPr lang="en-US"/>
              <a:t>Fourth level (Open Sans Bold, 16)</a:t>
            </a:r>
          </a:p>
          <a:p>
            <a:pPr lvl="4"/>
            <a:r>
              <a:rPr lang="en-US"/>
              <a:t>Fifth level (Open Sans Bold, 14)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915" y="4219956"/>
            <a:ext cx="1371600" cy="92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20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375" y="369733"/>
            <a:ext cx="8172210" cy="993775"/>
          </a:xfrm>
          <a:prstGeom prst="rect">
            <a:avLst/>
          </a:prstGeom>
        </p:spPr>
        <p:txBody>
          <a:bodyPr anchor="b"/>
          <a:lstStyle>
            <a:lvl1pPr algn="l">
              <a:defRPr sz="3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/>
              <a:t>HEADER HERE </a:t>
            </a:r>
            <a:br>
              <a:rPr lang="en-US"/>
            </a:br>
            <a:r>
              <a:rPr lang="en-US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031" y="1363508"/>
            <a:ext cx="1103781" cy="96362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/>
              <a:t>Graphics can go here – </a:t>
            </a:r>
            <a:br>
              <a:rPr lang="en-US"/>
            </a:br>
            <a:r>
              <a:rPr lang="en-US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41" y="4675530"/>
            <a:ext cx="2539991" cy="17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52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787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703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59" r:id="rId3"/>
    <p:sldLayoutId id="2147483660" r:id="rId4"/>
    <p:sldLayoutId id="2147483661" r:id="rId5"/>
    <p:sldLayoutId id="2147483681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2C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6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3" r:id="rId2"/>
    <p:sldLayoutId id="2147483674" r:id="rId3"/>
    <p:sldLayoutId id="2147483675" r:id="rId4"/>
    <p:sldLayoutId id="2147483677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6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3" r:id="rId2"/>
    <p:sldLayoutId id="2147483663" r:id="rId3"/>
    <p:sldLayoutId id="2147483664" r:id="rId4"/>
    <p:sldLayoutId id="2147483665" r:id="rId5"/>
    <p:sldLayoutId id="2147483680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644993"/>
            <a:ext cx="6914984" cy="2641756"/>
          </a:xfrm>
        </p:spPr>
        <p:txBody>
          <a:bodyPr/>
          <a:lstStyle/>
          <a:p>
            <a:r>
              <a:rPr lang="en-US"/>
              <a:t>PGST Meeting 2/6</a:t>
            </a:r>
          </a:p>
        </p:txBody>
      </p:sp>
    </p:spTree>
    <p:extLst>
      <p:ext uri="{BB962C8B-B14F-4D97-AF65-F5344CB8AC3E}">
        <p14:creationId xmlns:p14="http://schemas.microsoft.com/office/powerpoint/2010/main" val="203848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Today's Agenda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47923" y="1600201"/>
            <a:ext cx="8197114" cy="2971800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Site visit summary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Propane consumption data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ReOPT Simulation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Next steps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Final questions</a:t>
            </a:r>
            <a:endParaRPr lang="en-US" sz="2000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2281399F-FE2B-41D2-05C5-1BFB61EC9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3" b="-2174"/>
          <a:stretch>
            <a:fillRect/>
          </a:stretch>
        </p:blipFill>
        <p:spPr>
          <a:xfrm>
            <a:off x="4845602" y="308861"/>
            <a:ext cx="2107013" cy="499687"/>
          </a:xfrm>
          <a:prstGeom prst="rect">
            <a:avLst/>
          </a:prstGeom>
        </p:spPr>
      </p:pic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B33EBE60-B0BD-7E5A-8E27-E4D9078E70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8" b="-2016"/>
          <a:stretch>
            <a:fillRect/>
          </a:stretch>
        </p:blipFill>
        <p:spPr>
          <a:xfrm>
            <a:off x="5023429" y="1831877"/>
            <a:ext cx="1761177" cy="527861"/>
          </a:xfrm>
          <a:prstGeom prst="rect">
            <a:avLst/>
          </a:prstGeom>
        </p:spPr>
      </p:pic>
      <p:pic>
        <p:nvPicPr>
          <p:cNvPr id="8" name="Picture 7" descr="question mark - SWOOP Analytics ...">
            <a:extLst>
              <a:ext uri="{FF2B5EF4-FFF2-40B4-BE49-F238E27FC236}">
                <a16:creationId xmlns:a16="http://schemas.microsoft.com/office/drawing/2014/main" id="{5F4246D6-EEFE-5135-980E-34A4B13A87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" r="5591" b="8257"/>
          <a:stretch>
            <a:fillRect/>
          </a:stretch>
        </p:blipFill>
        <p:spPr>
          <a:xfrm>
            <a:off x="4853003" y="3401106"/>
            <a:ext cx="2096721" cy="10748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9387F-1E21-559D-EE58-C9E7003326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52" r="1717" b="-710"/>
          <a:stretch>
            <a:fillRect/>
          </a:stretch>
        </p:blipFill>
        <p:spPr>
          <a:xfrm>
            <a:off x="6713259" y="965276"/>
            <a:ext cx="1693794" cy="640720"/>
          </a:xfrm>
          <a:prstGeom prst="rect">
            <a:avLst/>
          </a:prstGeom>
        </p:spPr>
      </p:pic>
      <p:pic>
        <p:nvPicPr>
          <p:cNvPr id="2" name="Picture 1" descr="Practical Next Steps Consulting - Consulting, Change Management">
            <a:extLst>
              <a:ext uri="{FF2B5EF4-FFF2-40B4-BE49-F238E27FC236}">
                <a16:creationId xmlns:a16="http://schemas.microsoft.com/office/drawing/2014/main" id="{E8984909-DF4D-3AB9-998E-D8D750BC38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83" t="12702" r="10993" b="4688"/>
          <a:stretch>
            <a:fillRect/>
          </a:stretch>
        </p:blipFill>
        <p:spPr>
          <a:xfrm>
            <a:off x="6953612" y="2501746"/>
            <a:ext cx="1483164" cy="8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448E-7B05-2BB4-98DD-3D40BA087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3864-420C-C04E-D66C-CBB0F06B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Site Visit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BB998-F77E-FA98-0166-39A493C01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71854"/>
            <a:ext cx="4949020" cy="3000146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Main priorities &amp; concerns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Education Center &amp; Longhouse</a:t>
            </a:r>
            <a:endParaRPr lang="en-US" b="0"/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Either too hot / too cold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Malfunctions with both heating and cooling systems.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Redundant pump systems.</a:t>
            </a:r>
          </a:p>
          <a:p>
            <a:pPr lvl="1">
              <a:buFont typeface="Courier New"/>
              <a:buChar char="o"/>
            </a:pPr>
            <a:endParaRPr lang="en-US" b="0">
              <a:latin typeface="Open Sans"/>
              <a:ea typeface="Open Sans"/>
              <a:cs typeface="Open Sans"/>
            </a:endParaRP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Is Elder Center included in study?</a:t>
            </a:r>
          </a:p>
          <a:p>
            <a:pPr lvl="1">
              <a:buFont typeface="Courier New"/>
              <a:buChar char="o"/>
            </a:pPr>
            <a:endParaRPr lang="en-US"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endParaRPr lang="en-US">
              <a:latin typeface="Open Sans"/>
              <a:ea typeface="Open Sans"/>
              <a:cs typeface="Open Sans"/>
            </a:endParaRPr>
          </a:p>
        </p:txBody>
      </p:sp>
      <p:pic>
        <p:nvPicPr>
          <p:cNvPr id="3" name="Picture 2" descr="A person standing in a room with flags from the ceiling&#10;&#10;AI-generated content may be incorrect.">
            <a:extLst>
              <a:ext uri="{FF2B5EF4-FFF2-40B4-BE49-F238E27FC236}">
                <a16:creationId xmlns:a16="http://schemas.microsoft.com/office/drawing/2014/main" id="{50DA0CDA-622A-FBA3-1D2D-1FA0EAB8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95" y="777076"/>
            <a:ext cx="3195673" cy="4243080"/>
          </a:xfrm>
          <a:prstGeom prst="rect">
            <a:avLst/>
          </a:prstGeom>
        </p:spPr>
      </p:pic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49038422-0F0B-BE8C-97C2-3B4D6AE7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3" b="-2174"/>
          <a:stretch>
            <a:fillRect/>
          </a:stretch>
        </p:blipFill>
        <p:spPr>
          <a:xfrm>
            <a:off x="6937215" y="122248"/>
            <a:ext cx="2107013" cy="49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0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F9B9-1E64-5122-D51A-826A6867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9EEE-8CBD-94F6-C208-692A54CE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Site Visit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85176-4C41-2275-D875-CC056EF1F1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59519"/>
            <a:ext cx="8373908" cy="3583981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Options for improvement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Improve energy envelope</a:t>
            </a:r>
            <a:endParaRPr lang="en-US" b="0"/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Reduce redundant systems (conflicting thermostats, etc.) </a:t>
            </a:r>
          </a:p>
          <a:p>
            <a:pPr lvl="2">
              <a:buFont typeface="Wingdings"/>
              <a:buChar char="§"/>
            </a:pPr>
            <a:r>
              <a:rPr lang="en-US" b="0">
                <a:latin typeface="Open Sans"/>
                <a:ea typeface="Open Sans"/>
                <a:cs typeface="Open Sans"/>
              </a:rPr>
              <a:t>Kurt responsible for maintenance </a:t>
            </a:r>
          </a:p>
          <a:p>
            <a:pPr lvl="2">
              <a:buFont typeface="Wingdings"/>
              <a:buChar char="§"/>
            </a:pPr>
            <a:r>
              <a:rPr lang="en-US" b="0">
                <a:latin typeface="Open Sans"/>
                <a:ea typeface="Open Sans"/>
                <a:cs typeface="Open Sans"/>
              </a:rPr>
              <a:t>What is our role?</a:t>
            </a:r>
          </a:p>
          <a:p>
            <a:pPr lvl="2">
              <a:buFont typeface="Wingdings"/>
              <a:buChar char="§"/>
            </a:pPr>
            <a:r>
              <a:rPr lang="en-US" b="0">
                <a:latin typeface="Open Sans"/>
                <a:ea typeface="Open Sans"/>
                <a:cs typeface="Open Sans"/>
              </a:rPr>
              <a:t>How should we handle the uneven and inefficient HVAC system in the Education Center? By estimating the reduction in energy usage by addressing these issues?</a:t>
            </a:r>
            <a:endParaRPr lang="en-US" b="0"/>
          </a:p>
          <a:p>
            <a:pPr marL="0" indent="0">
              <a:buNone/>
            </a:pPr>
            <a:endParaRPr lang="en-US" b="0">
              <a:latin typeface="Open Sans"/>
              <a:ea typeface="Open Sans"/>
              <a:cs typeface="Open Sans"/>
            </a:endParaRPr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9F00FBBF-558B-0C9A-D434-A0FDB9753E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3" b="-2174"/>
          <a:stretch>
            <a:fillRect/>
          </a:stretch>
        </p:blipFill>
        <p:spPr>
          <a:xfrm>
            <a:off x="6937215" y="122248"/>
            <a:ext cx="2052583" cy="51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E8A2-31C6-EEB3-5336-789BDAED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0E0B-A13E-1B20-D118-D886DB9E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22" y="369285"/>
            <a:ext cx="1681144" cy="989446"/>
          </a:xfrm>
        </p:spPr>
        <p:txBody>
          <a:bodyPr lIns="91440" tIns="45720" rIns="91440" bIns="45720" anchor="b"/>
          <a:lstStyle/>
          <a:p>
            <a:r>
              <a:rPr lang="en-US"/>
              <a:t>Site Visit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6D034-99EC-0BA8-7007-DD9283CE24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2673" y="1513328"/>
            <a:ext cx="3992406" cy="3630172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Where can PV be implemented?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Longhouse not viable structurally </a:t>
            </a:r>
          </a:p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South facing roofs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H, I, J, D, E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A, B, C (future remodel)</a:t>
            </a:r>
            <a:endParaRPr lang="en-US" b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F013EC-5C53-C7C3-3CE0-6A6062F0104C}"/>
              </a:ext>
            </a:extLst>
          </p:cNvPr>
          <p:cNvGrpSpPr/>
          <p:nvPr/>
        </p:nvGrpSpPr>
        <p:grpSpPr>
          <a:xfrm>
            <a:off x="4364813" y="1030836"/>
            <a:ext cx="4575114" cy="3118016"/>
            <a:chOff x="2650313" y="268836"/>
            <a:chExt cx="6177045" cy="4087833"/>
          </a:xfrm>
        </p:grpSpPr>
        <p:pic>
          <p:nvPicPr>
            <p:cNvPr id="3" name="Picture 2" descr="A sign with a map on it&#10;&#10;AI-generated content may be incorrect.">
              <a:extLst>
                <a:ext uri="{FF2B5EF4-FFF2-40B4-BE49-F238E27FC236}">
                  <a16:creationId xmlns:a16="http://schemas.microsoft.com/office/drawing/2014/main" id="{DD36644A-621C-B615-5C9E-40BA3C419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4358" t="25192" r="12000" b="36131"/>
            <a:stretch>
              <a:fillRect/>
            </a:stretch>
          </p:blipFill>
          <p:spPr>
            <a:xfrm>
              <a:off x="2650313" y="268836"/>
              <a:ext cx="6177045" cy="408783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CF5490-1A56-0114-B9D7-51F183F139C7}"/>
                </a:ext>
              </a:extLst>
            </p:cNvPr>
            <p:cNvSpPr/>
            <p:nvPr/>
          </p:nvSpPr>
          <p:spPr>
            <a:xfrm rot="3360000">
              <a:off x="4488986" y="2016062"/>
              <a:ext cx="181409" cy="401113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37526E-F29B-04C0-3668-E6798FD8505F}"/>
                </a:ext>
              </a:extLst>
            </p:cNvPr>
            <p:cNvSpPr/>
            <p:nvPr/>
          </p:nvSpPr>
          <p:spPr>
            <a:xfrm rot="3540000">
              <a:off x="5303407" y="1623403"/>
              <a:ext cx="159843" cy="282501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389FF9-B2EB-C437-4E5E-0D4C21CDB1E0}"/>
                </a:ext>
              </a:extLst>
            </p:cNvPr>
            <p:cNvSpPr/>
            <p:nvPr/>
          </p:nvSpPr>
          <p:spPr>
            <a:xfrm rot="2460000">
              <a:off x="6120696" y="2106739"/>
              <a:ext cx="127579" cy="284606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CA6F1A-BAB6-D28D-A9A6-9A615D21EEB5}"/>
                </a:ext>
              </a:extLst>
            </p:cNvPr>
            <p:cNvSpPr/>
            <p:nvPr/>
          </p:nvSpPr>
          <p:spPr>
            <a:xfrm rot="2340000">
              <a:off x="6427978" y="2129009"/>
              <a:ext cx="207523" cy="279552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82CDB8-1F39-1AFE-98E7-301DD316F2F1}"/>
                </a:ext>
              </a:extLst>
            </p:cNvPr>
            <p:cNvSpPr/>
            <p:nvPr/>
          </p:nvSpPr>
          <p:spPr>
            <a:xfrm rot="2520000">
              <a:off x="6833725" y="2162365"/>
              <a:ext cx="155378" cy="298254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179623-36A6-FC69-A525-B0EC9B5F23E7}"/>
                </a:ext>
              </a:extLst>
            </p:cNvPr>
            <p:cNvSpPr/>
            <p:nvPr/>
          </p:nvSpPr>
          <p:spPr>
            <a:xfrm rot="2520000">
              <a:off x="7427407" y="2173687"/>
              <a:ext cx="114942" cy="637919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BBBDC5A-366B-6DB7-772E-B6F99CA67C8F}"/>
                </a:ext>
              </a:extLst>
            </p:cNvPr>
            <p:cNvSpPr/>
            <p:nvPr/>
          </p:nvSpPr>
          <p:spPr>
            <a:xfrm rot="3660000">
              <a:off x="5986211" y="1323411"/>
              <a:ext cx="82050" cy="271995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BB81D6-121F-2A12-3797-EFBCB17A1BB9}"/>
                </a:ext>
              </a:extLst>
            </p:cNvPr>
            <p:cNvSpPr/>
            <p:nvPr/>
          </p:nvSpPr>
          <p:spPr>
            <a:xfrm rot="2760000">
              <a:off x="7688318" y="1450121"/>
              <a:ext cx="65604" cy="637919"/>
            </a:xfrm>
            <a:prstGeom prst="rect">
              <a:avLst/>
            </a:prstGeom>
            <a:solidFill>
              <a:srgbClr val="FFFF00">
                <a:alpha val="46000"/>
              </a:srgb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7EE3FABD-2B33-1494-A887-1C79CB4EA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3" b="-2174"/>
          <a:stretch>
            <a:fillRect/>
          </a:stretch>
        </p:blipFill>
        <p:spPr>
          <a:xfrm>
            <a:off x="6937215" y="122248"/>
            <a:ext cx="2052583" cy="51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1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64A99-479B-3194-ADD5-BADDDB15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D2C2-E9AD-AB00-307A-15231147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21" y="369285"/>
            <a:ext cx="3198389" cy="989446"/>
          </a:xfrm>
        </p:spPr>
        <p:txBody>
          <a:bodyPr lIns="91440" tIns="45720" rIns="91440" bIns="45720" anchor="b"/>
          <a:lstStyle/>
          <a:p>
            <a:r>
              <a:rPr lang="en-US"/>
              <a:t>Additional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C943E-49CF-3657-63D9-F9D9148773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2673" y="1513328"/>
            <a:ext cx="8276712" cy="3630172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Post site visit Rachel sent us:</a:t>
            </a:r>
          </a:p>
          <a:p>
            <a:pPr lvl="1" indent="-342900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Photos of propane appliances around complex</a:t>
            </a:r>
          </a:p>
          <a:p>
            <a:pPr lvl="1" indent="-342900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Clinic microgrid performance reports</a:t>
            </a:r>
            <a:endParaRPr lang="en-US" b="0"/>
          </a:p>
          <a:p>
            <a:pPr lvl="1" indent="-342900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PV data for old and new solar system</a:t>
            </a:r>
            <a:endParaRPr lang="en-US" b="0"/>
          </a:p>
          <a:p>
            <a:pPr lvl="1" indent="-342900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Commercial, no-battery solar Wastewater Treatment Plant $/watt estimates</a:t>
            </a:r>
          </a:p>
          <a:p>
            <a:pPr lvl="1">
              <a:buFont typeface="Courier New"/>
              <a:buChar char="o"/>
            </a:pPr>
            <a:endParaRPr lang="en-US" b="0">
              <a:latin typeface="Open Sans"/>
              <a:ea typeface="Open Sans"/>
              <a:cs typeface="Open Sans"/>
            </a:endParaRPr>
          </a:p>
          <a:p>
            <a:pPr indent="-342900">
              <a:buFont typeface="Wingdings"/>
              <a:buChar char="Ø"/>
            </a:pPr>
            <a:endParaRPr lang="en-US" sz="1400" b="0">
              <a:latin typeface="Open Sans"/>
              <a:ea typeface="Open Sans"/>
              <a:cs typeface="Open Sans"/>
            </a:endParaRPr>
          </a:p>
          <a:p>
            <a:pPr indent="-342900">
              <a:buFont typeface="Wingdings"/>
              <a:buChar char="Ø"/>
            </a:pPr>
            <a:r>
              <a:rPr lang="en-US" sz="2000" b="0">
                <a:latin typeface="Open Sans"/>
                <a:ea typeface="Open Sans"/>
                <a:cs typeface="Open Sans"/>
              </a:rPr>
              <a:t>Thank you!</a:t>
            </a:r>
            <a:endParaRPr lang="en-US" sz="2000" b="0"/>
          </a:p>
        </p:txBody>
      </p:sp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FA8BF898-A4FE-C51D-8DCC-DEA5B2F39D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83" b="-2174"/>
          <a:stretch>
            <a:fillRect/>
          </a:stretch>
        </p:blipFill>
        <p:spPr>
          <a:xfrm>
            <a:off x="6937215" y="122248"/>
            <a:ext cx="2052583" cy="5105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048065-2783-DB9F-E238-04FC4B71D5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809"/>
          <a:stretch>
            <a:fillRect/>
          </a:stretch>
        </p:blipFill>
        <p:spPr>
          <a:xfrm>
            <a:off x="171744" y="1564699"/>
            <a:ext cx="8086922" cy="26631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B0DCCF-228D-8B8E-C588-8670E3474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9422" y="3091186"/>
            <a:ext cx="448229" cy="136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0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ECA9-D778-13A1-5161-F5769A1A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1AB0-9F1D-230F-A3C4-1551127A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Propane Consumption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580D56-55EA-468A-63D6-4529ABF0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43" y="229968"/>
            <a:ext cx="1715478" cy="636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C758CD-DAB0-96A3-DB8D-67927B5A3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59" r="396" b="1862"/>
          <a:stretch>
            <a:fillRect/>
          </a:stretch>
        </p:blipFill>
        <p:spPr>
          <a:xfrm>
            <a:off x="807018" y="1727169"/>
            <a:ext cx="3738610" cy="2746449"/>
          </a:xfrm>
          <a:prstGeom prst="rect">
            <a:avLst/>
          </a:prstGeom>
        </p:spPr>
      </p:pic>
      <p:pic>
        <p:nvPicPr>
          <p:cNvPr id="6" name="Picture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2B0BC926-EF26-C86F-0DFC-B8F328D89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538" y="1727029"/>
            <a:ext cx="3632443" cy="274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7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4EEC8-C0D0-36EE-90CA-2383E284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3850-EBC3-C1B6-C635-5D477AB34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Propane Consumption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66189D-D071-3AFC-A72F-98948114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43" y="229968"/>
            <a:ext cx="1715478" cy="636204"/>
          </a:xfrm>
          <a:prstGeom prst="rect">
            <a:avLst/>
          </a:prstGeom>
        </p:spPr>
      </p:pic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1EF42868-0893-831E-8EEE-A86135F921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9" t="269" r="-425" b="-806"/>
          <a:stretch>
            <a:fillRect/>
          </a:stretch>
        </p:blipFill>
        <p:spPr>
          <a:xfrm>
            <a:off x="595564" y="1632535"/>
            <a:ext cx="3448966" cy="2745585"/>
          </a:xfrm>
          <a:prstGeom prst="rect">
            <a:avLst/>
          </a:prstGeom>
        </p:spPr>
      </p:pic>
      <p:pic>
        <p:nvPicPr>
          <p:cNvPr id="6" name="Picture 5" descr="A heat map with different colored squares&#10;&#10;AI-generated content may be incorrect.">
            <a:extLst>
              <a:ext uri="{FF2B5EF4-FFF2-40B4-BE49-F238E27FC236}">
                <a16:creationId xmlns:a16="http://schemas.microsoft.com/office/drawing/2014/main" id="{E199D8AA-4F2C-AFAA-48B8-CC69D54F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" t="-550" r="-2" b="275"/>
          <a:stretch>
            <a:fillRect/>
          </a:stretch>
        </p:blipFill>
        <p:spPr>
          <a:xfrm>
            <a:off x="4458954" y="1632535"/>
            <a:ext cx="3542318" cy="274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4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C1067-1202-E17E-6ADF-6FFB5477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7762-0C8F-B7CA-967D-E203F5172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Propane Consumption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650FC-6963-18E7-05B8-11C053A22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43" y="229968"/>
            <a:ext cx="1715478" cy="636204"/>
          </a:xfrm>
          <a:prstGeom prst="rect">
            <a:avLst/>
          </a:prstGeom>
        </p:spPr>
      </p:pic>
      <p:pic>
        <p:nvPicPr>
          <p:cNvPr id="4" name="Picture 3" descr="A graph of a graph showing a number of gas prices&#10;&#10;AI-generated content may be incorrect.">
            <a:extLst>
              <a:ext uri="{FF2B5EF4-FFF2-40B4-BE49-F238E27FC236}">
                <a16:creationId xmlns:a16="http://schemas.microsoft.com/office/drawing/2014/main" id="{9D46C52D-50D0-DD05-8266-1E1668B16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86" r="222" b="-286"/>
          <a:stretch>
            <a:fillRect/>
          </a:stretch>
        </p:blipFill>
        <p:spPr>
          <a:xfrm>
            <a:off x="629903" y="1655094"/>
            <a:ext cx="3500212" cy="2741729"/>
          </a:xfrm>
          <a:prstGeom prst="rect">
            <a:avLst/>
          </a:prstGeom>
        </p:spPr>
      </p:pic>
      <p:pic>
        <p:nvPicPr>
          <p:cNvPr id="7" name="Picture 6" descr="A graph of a graph showing the cost of propane consumption&#10;&#10;AI-generated content may be incorrect.">
            <a:extLst>
              <a:ext uri="{FF2B5EF4-FFF2-40B4-BE49-F238E27FC236}">
                <a16:creationId xmlns:a16="http://schemas.microsoft.com/office/drawing/2014/main" id="{CF15FEB4-4BE7-6DDB-5733-8A9CAD01A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88" b="-275"/>
          <a:stretch>
            <a:fillRect/>
          </a:stretch>
        </p:blipFill>
        <p:spPr>
          <a:xfrm>
            <a:off x="4384759" y="1655094"/>
            <a:ext cx="4006531" cy="274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00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582D-CEAC-9DDB-25CC-EE79BF25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0CD2-C4CA-3965-F36E-E24AABF4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Propane Consumption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12577-8466-1170-2981-85B46411CA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21758"/>
            <a:ext cx="8197114" cy="2794571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1800" dirty="0">
                <a:latin typeface="Open Sans"/>
                <a:ea typeface="Open Sans"/>
                <a:cs typeface="Open Sans"/>
              </a:rPr>
              <a:t>Key finding: </a:t>
            </a:r>
            <a:r>
              <a:rPr lang="en-US" sz="1800" b="0" dirty="0">
                <a:latin typeface="Open Sans"/>
                <a:ea typeface="Open Sans"/>
                <a:cs typeface="Open Sans"/>
              </a:rPr>
              <a:t>Propane energy consumption was 14.7x electrical …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endParaRPr lang="en-US" sz="1800" dirty="0"/>
          </a:p>
          <a:p>
            <a:pPr>
              <a:buFont typeface="Wingdings"/>
              <a:buChar char="Ø"/>
            </a:pPr>
            <a:endParaRPr lang="en-US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A6FA81-7348-4810-3C78-CD46E2A0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43" y="229968"/>
            <a:ext cx="1715478" cy="6362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719A83-C354-1ED7-CDE4-80704C6998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73142" y="2405564"/>
            <a:ext cx="4831275" cy="33055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4" name="Picture 13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21311019-298F-79F9-C41C-FC24559019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7" b="2817"/>
          <a:stretch>
            <a:fillRect/>
          </a:stretch>
        </p:blipFill>
        <p:spPr>
          <a:xfrm>
            <a:off x="1020680" y="3072063"/>
            <a:ext cx="6130522" cy="69132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33012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42310-04FB-CF17-A6A5-6F1A9AED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B156-BD05-313E-E643-1B54A1B6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ReOpt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057D1-6602-683E-CC67-D22BAA6514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74707"/>
            <a:ext cx="4763051" cy="2997293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We ran a </a:t>
            </a:r>
            <a:r>
              <a:rPr lang="en-US" sz="2000" err="1">
                <a:latin typeface="Open Sans"/>
                <a:ea typeface="Open Sans"/>
                <a:cs typeface="Open Sans"/>
              </a:rPr>
              <a:t>ReOpt</a:t>
            </a:r>
            <a:r>
              <a:rPr lang="en-US" sz="2000">
                <a:latin typeface="Open Sans"/>
                <a:ea typeface="Open Sans"/>
                <a:cs typeface="Open Sans"/>
              </a:rPr>
              <a:t> simulation based on the annual electricity and propane data:</a:t>
            </a:r>
          </a:p>
          <a:p>
            <a:pPr indent="-342900">
              <a:buFont typeface="Wingdings"/>
              <a:buChar char="Ø"/>
            </a:pPr>
            <a:endParaRPr lang="en-US" sz="2000">
              <a:latin typeface="Open Sans"/>
              <a:ea typeface="Open Sans"/>
              <a:cs typeface="Open Sans"/>
            </a:endParaRPr>
          </a:p>
          <a:p>
            <a:pPr lvl="1" indent="-342900">
              <a:buFont typeface="Courier New"/>
              <a:buChar char="o"/>
            </a:pPr>
            <a:r>
              <a:rPr lang="en-US" sz="1600" b="0">
                <a:latin typeface="Open Sans"/>
                <a:ea typeface="Open Sans"/>
                <a:cs typeface="Open Sans"/>
              </a:rPr>
              <a:t>This software gives an </a:t>
            </a:r>
            <a:r>
              <a:rPr lang="en-US" sz="1600" b="0" u="sng">
                <a:latin typeface="Open Sans"/>
                <a:ea typeface="Open Sans"/>
                <a:cs typeface="Open Sans"/>
              </a:rPr>
              <a:t>estimation</a:t>
            </a:r>
            <a:r>
              <a:rPr lang="en-US" sz="1600" b="0">
                <a:latin typeface="Open Sans"/>
                <a:ea typeface="Open Sans"/>
                <a:cs typeface="Open Sans"/>
              </a:rPr>
              <a:t> of how the system can be improved with the addition of PV systems.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19A70E53-DF82-1E7E-60D2-E3D6CE49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8" b="-2016"/>
          <a:stretch>
            <a:fillRect/>
          </a:stretch>
        </p:blipFill>
        <p:spPr>
          <a:xfrm>
            <a:off x="6749593" y="160143"/>
            <a:ext cx="2305462" cy="69114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9DC685-5245-87F4-8D87-115D88ADF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4"/>
          <a:stretch>
            <a:fillRect/>
          </a:stretch>
        </p:blipFill>
        <p:spPr>
          <a:xfrm>
            <a:off x="5637458" y="1263521"/>
            <a:ext cx="3199187" cy="261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2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2419-4246-8DD0-8373-0B0594A4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EB4B-D314-54D8-B9C1-3DAE907FC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ReOpt - Assumptions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5C1E4-B93A-B417-C03B-267AEEBE20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481401"/>
            <a:ext cx="8604152" cy="3090599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Electricity rate:</a:t>
            </a:r>
            <a:r>
              <a:rPr lang="en-US" sz="2000" b="0">
                <a:latin typeface="Open Sans"/>
                <a:ea typeface="Open Sans"/>
                <a:cs typeface="Open Sans"/>
              </a:rPr>
              <a:t> PSE Inc. 24 (General Service - 3 phase) </a:t>
            </a:r>
            <a:endParaRPr lang="en-US" sz="2000">
              <a:latin typeface="Open Sans"/>
              <a:ea typeface="Open Sans"/>
              <a:cs typeface="Open Sans"/>
            </a:endParaRPr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Compensation type:</a:t>
            </a:r>
            <a:r>
              <a:rPr lang="en-US" sz="2000" b="0">
                <a:latin typeface="Open Sans"/>
                <a:ea typeface="Open Sans"/>
                <a:cs typeface="Open Sans"/>
              </a:rPr>
              <a:t> Net metering (full retail rate) </a:t>
            </a:r>
            <a:endParaRPr lang="en-US" sz="2000"/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Net metering system size limit:</a:t>
            </a:r>
            <a:r>
              <a:rPr lang="en-US" sz="2000" b="0">
                <a:latin typeface="Open Sans"/>
                <a:ea typeface="Open Sans"/>
                <a:cs typeface="Open Sans"/>
              </a:rPr>
              <a:t> 50 kW </a:t>
            </a:r>
            <a:endParaRPr lang="en-US" sz="2000"/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Compensation for excess export beyond annual purchases:</a:t>
            </a:r>
            <a:r>
              <a:rPr lang="en-US" sz="2000" b="0">
                <a:latin typeface="Open Sans"/>
                <a:ea typeface="Open Sans"/>
                <a:cs typeface="Open Sans"/>
              </a:rPr>
              <a:t> $0/kWh </a:t>
            </a:r>
            <a:endParaRPr lang="en-US" sz="2000" b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Existing heating system fuel type:</a:t>
            </a:r>
            <a:r>
              <a:rPr lang="en-US" sz="2000" b="0">
                <a:latin typeface="Open Sans"/>
                <a:ea typeface="Open Sans"/>
                <a:cs typeface="Open Sans"/>
              </a:rPr>
              <a:t> Propane ($2.5/gal) </a:t>
            </a:r>
            <a:endParaRPr lang="en-US" sz="2000"/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Analysis period:</a:t>
            </a:r>
            <a:r>
              <a:rPr lang="en-US" sz="2000" b="0">
                <a:latin typeface="Open Sans"/>
                <a:ea typeface="Open Sans"/>
                <a:cs typeface="Open Sans"/>
              </a:rPr>
              <a:t> 25 years</a:t>
            </a:r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Electricity cost escalation rate:</a:t>
            </a:r>
            <a:r>
              <a:rPr lang="en-US" sz="2000" b="0">
                <a:latin typeface="Open Sans"/>
                <a:ea typeface="Open Sans"/>
                <a:cs typeface="Open Sans"/>
              </a:rPr>
              <a:t> 1.66%/year</a:t>
            </a:r>
          </a:p>
          <a:p>
            <a:pPr>
              <a:buFont typeface="Wingdings"/>
              <a:buChar char="Ø"/>
            </a:pPr>
            <a:r>
              <a:rPr lang="en-US" sz="2000" b="0" u="sng">
                <a:latin typeface="Open Sans"/>
                <a:ea typeface="Open Sans"/>
                <a:cs typeface="Open Sans"/>
              </a:rPr>
              <a:t>Propane cost escalation rate:</a:t>
            </a:r>
            <a:r>
              <a:rPr lang="en-US" sz="2000" b="0">
                <a:latin typeface="Open Sans"/>
                <a:ea typeface="Open Sans"/>
                <a:cs typeface="Open Sans"/>
              </a:rPr>
              <a:t> 3.48%/year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A47D312D-1F6E-BCB0-2642-7836990C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8" b="-2016"/>
          <a:stretch>
            <a:fillRect/>
          </a:stretch>
        </p:blipFill>
        <p:spPr>
          <a:xfrm>
            <a:off x="6749593" y="160143"/>
            <a:ext cx="2305462" cy="69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43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121E0-7D3F-8251-D33A-DCB59793C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6E1F-AF62-C3B3-D0C4-E1B2C1D7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ReOpt - Inputs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F388C-6079-D3D6-C76F-9691C60B37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19831"/>
            <a:ext cx="8197114" cy="3052169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 b="0">
                <a:latin typeface="Open Sans"/>
                <a:ea typeface="Open Sans"/>
                <a:cs typeface="Open Sans"/>
              </a:rPr>
              <a:t>Office building – small </a:t>
            </a:r>
          </a:p>
          <a:p>
            <a:pPr marL="0" indent="0">
              <a:buNone/>
            </a:pPr>
            <a:endParaRPr lang="en-US" sz="2000" b="0">
              <a:latin typeface="Open Sans"/>
              <a:ea typeface="Open Sans"/>
              <a:cs typeface="Open Sans"/>
            </a:endParaRPr>
          </a:p>
          <a:p>
            <a:pPr marL="400050" lvl="1" indent="0">
              <a:buNone/>
            </a:pPr>
            <a:r>
              <a:rPr lang="en-US" sz="1600" b="0">
                <a:latin typeface="Open Sans"/>
                <a:ea typeface="Open Sans"/>
                <a:cs typeface="Open Sans"/>
              </a:rPr>
              <a:t>Electricity consumption per month:         Propane consumption per month: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262275-A593-635D-71CB-D31FD3CCD27C}"/>
              </a:ext>
            </a:extLst>
          </p:cNvPr>
          <p:cNvGrpSpPr/>
          <p:nvPr/>
        </p:nvGrpSpPr>
        <p:grpSpPr>
          <a:xfrm>
            <a:off x="609449" y="2649862"/>
            <a:ext cx="3878871" cy="2227219"/>
            <a:chOff x="2101640" y="2331507"/>
            <a:chExt cx="2536712" cy="1460890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F312DF7-3E8C-A59B-B292-36A88C4AB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933" t="17049" r="46356" b="38553"/>
            <a:stretch>
              <a:fillRect/>
            </a:stretch>
          </p:blipFill>
          <p:spPr>
            <a:xfrm>
              <a:off x="2101640" y="2331507"/>
              <a:ext cx="1268141" cy="146089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Picture 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1BC7C42-2B5C-B8D7-5834-39C904D55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933" t="61184" r="46356" b="2119"/>
            <a:stretch>
              <a:fillRect/>
            </a:stretch>
          </p:blipFill>
          <p:spPr>
            <a:xfrm>
              <a:off x="3370196" y="2570561"/>
              <a:ext cx="1268156" cy="1207446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E4A8E56-E7DA-2F90-98FF-CB12BA2A58A0}"/>
              </a:ext>
            </a:extLst>
          </p:cNvPr>
          <p:cNvSpPr/>
          <p:nvPr/>
        </p:nvSpPr>
        <p:spPr>
          <a:xfrm>
            <a:off x="609371" y="2571451"/>
            <a:ext cx="3880138" cy="2334489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DFC56-AC0E-91ED-8946-4A1863A66EBC}"/>
              </a:ext>
            </a:extLst>
          </p:cNvPr>
          <p:cNvSpPr/>
          <p:nvPr/>
        </p:nvSpPr>
        <p:spPr>
          <a:xfrm>
            <a:off x="4766065" y="2571450"/>
            <a:ext cx="3880138" cy="2334489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5B1C099-F3A1-0A7D-4AD4-A73F74CC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24" t="14257" r="48986" b="41401"/>
          <a:stretch>
            <a:fillRect/>
          </a:stretch>
        </p:blipFill>
        <p:spPr>
          <a:xfrm>
            <a:off x="4844370" y="2662981"/>
            <a:ext cx="1715281" cy="2191013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51D7294E-92AC-4566-A035-9929EFBD35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09" t="58328" r="48991" b="541"/>
          <a:stretch>
            <a:fillRect/>
          </a:stretch>
        </p:blipFill>
        <p:spPr>
          <a:xfrm>
            <a:off x="6794268" y="2703506"/>
            <a:ext cx="1850279" cy="2175129"/>
          </a:xfrm>
          <a:prstGeom prst="rect">
            <a:avLst/>
          </a:prstGeom>
        </p:spPr>
      </p:pic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DE48819B-0743-D92D-2B84-EEBEC91983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706" r="935" b="-2016"/>
          <a:stretch>
            <a:fillRect/>
          </a:stretch>
        </p:blipFill>
        <p:spPr>
          <a:xfrm>
            <a:off x="6710222" y="160143"/>
            <a:ext cx="2323253" cy="70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3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28C2-C6C3-FFB4-7CBE-5C4A6EFB5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D573-5B7A-7C59-411E-C5123329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ReOpt - Findings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9F968-0AEE-21E9-29B9-89AA1D9A00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2" y="1497246"/>
            <a:ext cx="8391283" cy="3546229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Reasonable PV size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0">
                <a:latin typeface="Open Sans"/>
                <a:ea typeface="Open Sans"/>
                <a:cs typeface="Open Sans"/>
              </a:rPr>
              <a:t>ReOpt approximates a financially optimized 45 kW PV size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Positive return on investment in the long-term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0">
                <a:latin typeface="Open Sans"/>
                <a:ea typeface="Open Sans"/>
                <a:cs typeface="Open Sans"/>
              </a:rPr>
              <a:t>$73,945 life cycle savings over 25 years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Reduction in grid dependence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0">
                <a:latin typeface="Open Sans"/>
                <a:ea typeface="Open Sans"/>
                <a:cs typeface="Open Sans"/>
              </a:rPr>
              <a:t>PV installation results in just over half the annual grid consumption (23,986 kWh compared to 44,193 kWh)</a:t>
            </a:r>
          </a:p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Capital cost estimates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0">
                <a:latin typeface="Open Sans"/>
                <a:ea typeface="Open Sans"/>
                <a:cs typeface="Open Sans"/>
              </a:rPr>
              <a:t>Total before incentives: $100,440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b="0">
                <a:latin typeface="Open Sans"/>
                <a:ea typeface="Open Sans"/>
                <a:cs typeface="Open Sans"/>
              </a:rPr>
              <a:t>About $2232/kW-DC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09DD19A2-5199-79D2-F8BD-7E3FE142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2" b="-2016"/>
          <a:stretch>
            <a:fillRect/>
          </a:stretch>
        </p:blipFill>
        <p:spPr>
          <a:xfrm>
            <a:off x="6749593" y="160143"/>
            <a:ext cx="2305462" cy="69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9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40B2-4F9D-8368-DADA-0C2B4C0F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A5A43-538D-6C96-990E-F7BCA452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ReOpt - Findings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A576B-69BF-C9B9-E627-86A26729EF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2" y="1671552"/>
            <a:ext cx="8197114" cy="2794571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 sz="2000">
                <a:latin typeface="Open Sans"/>
                <a:ea typeface="Open Sans"/>
                <a:cs typeface="Open Sans"/>
              </a:rPr>
              <a:t>PV exports and grid usage: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3E2128-6E1F-8428-8CDD-70921F36F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40" y="2077875"/>
            <a:ext cx="7866977" cy="280097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99D3C6AD-C4A7-95E9-DBA3-80F965CBD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35" b="-2016"/>
          <a:stretch>
            <a:fillRect/>
          </a:stretch>
        </p:blipFill>
        <p:spPr>
          <a:xfrm>
            <a:off x="6749593" y="160143"/>
            <a:ext cx="2305462" cy="69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6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86D1-C03C-43C0-E52F-EF46CA196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A168-044B-ABC2-45E6-3CA169DA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/>
              <a:t>Next Steps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BAAD0-0D24-3721-0AF5-0A84064195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528613"/>
            <a:ext cx="8197114" cy="3043387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Further analyze site visit information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Examine units manufacturing plates </a:t>
            </a:r>
            <a:endParaRPr lang="en-US">
              <a:latin typeface="Open Sans"/>
              <a:ea typeface="Open Sans"/>
              <a:cs typeface="Open Sans"/>
            </a:endParaRP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Determine complex energy demand and capacity</a:t>
            </a:r>
            <a:endParaRPr lang="en-US">
              <a:latin typeface="Open Sans"/>
              <a:ea typeface="Open Sans"/>
              <a:cs typeface="Open Sans"/>
            </a:endParaRPr>
          </a:p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Determine amount of heat pumps needed 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Using complex capacity data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Offset propane usage (space heating) </a:t>
            </a:r>
          </a:p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Explore PV use to offset electricity usage</a:t>
            </a:r>
          </a:p>
          <a:p>
            <a:pPr lvl="1">
              <a:buFont typeface="Courier New"/>
              <a:buChar char="o"/>
            </a:pPr>
            <a:r>
              <a:rPr lang="en-US" b="0">
                <a:latin typeface="Open Sans"/>
                <a:ea typeface="Open Sans"/>
                <a:cs typeface="Open Sans"/>
              </a:rPr>
              <a:t>Estimate capital costs and energy savings</a:t>
            </a:r>
          </a:p>
        </p:txBody>
      </p:sp>
      <p:pic>
        <p:nvPicPr>
          <p:cNvPr id="5" name="Picture 4" descr="Practical Next Steps Consulting - Consulting, Change Management">
            <a:extLst>
              <a:ext uri="{FF2B5EF4-FFF2-40B4-BE49-F238E27FC236}">
                <a16:creationId xmlns:a16="http://schemas.microsoft.com/office/drawing/2014/main" id="{33288605-8696-1828-16CA-6788ADDF56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3" t="12702" r="10993" b="4688"/>
          <a:stretch>
            <a:fillRect/>
          </a:stretch>
        </p:blipFill>
        <p:spPr>
          <a:xfrm>
            <a:off x="7269266" y="178797"/>
            <a:ext cx="1685327" cy="11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73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0458-5661-C5AE-76D7-B4FD6E36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C0AB-973C-3FC2-11B1-E5473AAFA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8A63A-6C21-D3D9-25F5-21D4457150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923" y="1777429"/>
            <a:ext cx="8197114" cy="2794571"/>
          </a:xfrm>
        </p:spPr>
        <p:txBody>
          <a:bodyPr lIns="91440" tIns="45720" rIns="91440" bIns="45720" anchor="t"/>
          <a:lstStyle/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Are there any specific deliverables or deadlines you would like us to follow?</a:t>
            </a:r>
          </a:p>
          <a:p>
            <a:pPr>
              <a:buFont typeface="Wingdings"/>
              <a:buChar char="Ø"/>
            </a:pPr>
            <a:r>
              <a:rPr lang="en-US">
                <a:latin typeface="Open Sans"/>
                <a:ea typeface="Open Sans"/>
                <a:cs typeface="Open Sans"/>
              </a:rPr>
              <a:t>Any requests/advice in regards to the project?</a:t>
            </a:r>
          </a:p>
        </p:txBody>
      </p:sp>
      <p:pic>
        <p:nvPicPr>
          <p:cNvPr id="3" name="Picture 2" descr="question mark - SWOOP Analytics ...">
            <a:extLst>
              <a:ext uri="{FF2B5EF4-FFF2-40B4-BE49-F238E27FC236}">
                <a16:creationId xmlns:a16="http://schemas.microsoft.com/office/drawing/2014/main" id="{05F89596-F712-9199-1A83-C05B49C3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" r="5591" b="8257"/>
          <a:stretch>
            <a:fillRect/>
          </a:stretch>
        </p:blipFill>
        <p:spPr>
          <a:xfrm>
            <a:off x="6740468" y="200705"/>
            <a:ext cx="2096721" cy="107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4B7E-E0D7-451E-3383-5F7D4E02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b"/>
          <a:lstStyle/>
          <a:p>
            <a:r>
              <a:rPr lang="en-US">
                <a:latin typeface="Encode Sans Normal Black"/>
              </a:rPr>
              <a:t>Thank you!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5963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18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Custom Design</vt:lpstr>
      <vt:lpstr>2_Custom Design</vt:lpstr>
      <vt:lpstr>1_Custom Design</vt:lpstr>
      <vt:lpstr>PGST Meeting 2/6</vt:lpstr>
      <vt:lpstr>Today's Agenda </vt:lpstr>
      <vt:lpstr>Site Visit</vt:lpstr>
      <vt:lpstr>Site Visit</vt:lpstr>
      <vt:lpstr>Site Visit</vt:lpstr>
      <vt:lpstr>Additional Data</vt:lpstr>
      <vt:lpstr>Propane Consumption</vt:lpstr>
      <vt:lpstr>Propane Consumption</vt:lpstr>
      <vt:lpstr>Propane Consumption</vt:lpstr>
      <vt:lpstr>Propane Consumption</vt:lpstr>
      <vt:lpstr>ReOpt</vt:lpstr>
      <vt:lpstr>ReOpt - Assumptions</vt:lpstr>
      <vt:lpstr>ReOpt - Inputs</vt:lpstr>
      <vt:lpstr>ReOpt - Findings</vt:lpstr>
      <vt:lpstr>ReOpt - Findings</vt:lpstr>
      <vt:lpstr>Next Steps</vt:lpstr>
      <vt:lpstr>Questions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Alanya Cannon</dc:creator>
  <cp:revision>77</cp:revision>
  <dcterms:created xsi:type="dcterms:W3CDTF">2014-10-14T00:51:43Z</dcterms:created>
  <dcterms:modified xsi:type="dcterms:W3CDTF">2026-02-06T07:47:47Z</dcterms:modified>
</cp:coreProperties>
</file>