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5" r:id="rId6"/>
    <p:sldMasterId id="214748366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</p:sldIdLst>
  <p:sldSz cy="5143500" cx="9144000"/>
  <p:notesSz cx="6858000" cy="9144000"/>
  <p:embeddedFontLst>
    <p:embeddedFont>
      <p:font typeface="Encode Sans"/>
      <p:regular r:id="rId49"/>
      <p:bold r:id="rId50"/>
    </p:embeddedFont>
    <p:embeddedFont>
      <p:font typeface="Encode Sans Black"/>
      <p:bold r:id="rId51"/>
    </p:embeddedFont>
    <p:embeddedFont>
      <p:font typeface="Open Sans Light"/>
      <p:regular r:id="rId52"/>
      <p:bold r:id="rId53"/>
      <p:italic r:id="rId54"/>
      <p:boldItalic r:id="rId55"/>
    </p:embeddedFont>
    <p:embeddedFont>
      <p:font typeface="Open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6">
          <p15:clr>
            <a:srgbClr val="A4A3A4"/>
          </p15:clr>
        </p15:guide>
      </p15:sldGuideLst>
    </p:ext>
    <p:ext uri="GoogleSlidesCustomDataVersion2">
      <go:slidesCustomData xmlns:go="http://customooxmlschemas.google.com/" r:id="rId60" roundtripDataSignature="AMtx7mirYKPQUHApiLqa96BllXkoYV1F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FB5891-BB87-40AD-81B5-557167136394}">
  <a:tblStyle styleId="{7DFB5891-BB87-40AD-81B5-5571671363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1D52326-E197-44F0-AE47-5C85C35B555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font" Target="fonts/EncodeSans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60" Type="http://customschemas.google.com/relationships/presentationmetadata" Target="meta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EncodeSansBlack-bold.fntdata"/><Relationship Id="rId50" Type="http://schemas.openxmlformats.org/officeDocument/2006/relationships/font" Target="fonts/EncodeSans-bold.fntdata"/><Relationship Id="rId53" Type="http://schemas.openxmlformats.org/officeDocument/2006/relationships/font" Target="fonts/OpenSansLight-bold.fntdata"/><Relationship Id="rId52" Type="http://schemas.openxmlformats.org/officeDocument/2006/relationships/font" Target="fonts/OpenSansLight-regular.fntdata"/><Relationship Id="rId11" Type="http://schemas.openxmlformats.org/officeDocument/2006/relationships/slide" Target="slides/slide3.xml"/><Relationship Id="rId55" Type="http://schemas.openxmlformats.org/officeDocument/2006/relationships/font" Target="fonts/OpenSansLight-boldItalic.fntdata"/><Relationship Id="rId10" Type="http://schemas.openxmlformats.org/officeDocument/2006/relationships/slide" Target="slides/slide2.xml"/><Relationship Id="rId54" Type="http://schemas.openxmlformats.org/officeDocument/2006/relationships/font" Target="fonts/OpenSansLight-italic.fntdata"/><Relationship Id="rId13" Type="http://schemas.openxmlformats.org/officeDocument/2006/relationships/slide" Target="slides/slide5.xml"/><Relationship Id="rId57" Type="http://schemas.openxmlformats.org/officeDocument/2006/relationships/font" Target="fonts/OpenSans-bold.fntdata"/><Relationship Id="rId12" Type="http://schemas.openxmlformats.org/officeDocument/2006/relationships/slide" Target="slides/slide4.xml"/><Relationship Id="rId56" Type="http://schemas.openxmlformats.org/officeDocument/2006/relationships/font" Target="fonts/OpenSans-regular.fntdata"/><Relationship Id="rId15" Type="http://schemas.openxmlformats.org/officeDocument/2006/relationships/slide" Target="slides/slide7.xml"/><Relationship Id="rId59" Type="http://schemas.openxmlformats.org/officeDocument/2006/relationships/font" Target="fonts/OpenSans-boldItalic.fntdata"/><Relationship Id="rId14" Type="http://schemas.openxmlformats.org/officeDocument/2006/relationships/slide" Target="slides/slide6.xml"/><Relationship Id="rId58" Type="http://schemas.openxmlformats.org/officeDocument/2006/relationships/font" Target="fonts/OpenSans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432b2860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b432b286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db432b286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6d3654c47_1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d6d3654c47_1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d6d3654c47_11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6bdd8366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6bdd8366e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6bdd8366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af3db923b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af3db923b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daf3db923b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af3db923b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daf3db923b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Find difference between meter readings - with propane boiler (PSE sch 24) and with the electric boiler (PSE sch 25) to find the increase in electricity costs the year after putting in the boiler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If we want to show electric boiler vs. propane boiler fuel → take fuel costs and compare to electric boiler electricity cost.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Schedule 25 penalizes for peaks and the electric boiler increases the height of peaks.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Need to better understand inputs into REopt and go over the approach more thoroughly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Dollar numbers will be remembered - need to understand everything clearly before presenting it.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CAPEX was better validated - using two credible sources. The message is good: there is a lot of variation in estimates.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Need to explore OPEX better.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Clear explanation and showing work. Explanation goes up into Rachel’s five pages, showing work in the Appendix. </a:t>
            </a:r>
            <a:endParaRPr/>
          </a:p>
        </p:txBody>
      </p:sp>
      <p:sp>
        <p:nvSpPr>
          <p:cNvPr id="115" name="Google Shape;115;g3daf3db923b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b32a9566d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db32a9566d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db32a9566d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b432b286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db432b286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db432b286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b432b2860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db432b2860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db432b2860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b432b2860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db432b2860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db432b2860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b432b2860_1_9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b432b2860_1_9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b432b2860_1_9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b432b2860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b432b2860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db432b2860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b432b2860_1_4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3db432b2860_1_48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db432b2860_1_48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b432b2860_1_49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g3db432b2860_1_49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db432b2860_1_49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b432b2860_1_5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3db432b2860_1_51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db432b2860_1_51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b432b2860_1_5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db432b2860_1_538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db432b2860_1_538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b432b2860_1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b432b2860_1_578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b432b2860_1_5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g3db432b2860_1_58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db432b2860_1_58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b432b2860_1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db432b2860_1_62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b432b2860_1_6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g3db432b2860_1_62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db432b2860_1_62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b432b2860_1_6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g3db432b2860_1_63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db432b2860_1_63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b432b2860_1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db432b2860_1_66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b432b2860_1_6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g3db432b2860_1_66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db432b2860_1_66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b432b2860_1_6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g3db432b2860_1_69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db432b2860_1_69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db432b2860_1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db432b2860_1_722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b432b2860_1_7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db432b2860_1_726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db432b2860_1_726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b432b2860_1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db432b2860_1_75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b432b2860_1_7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g3db432b2860_1_75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db432b2860_1_75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b432b2860_1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db432b2860_1_79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b432b2860_1_79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g3db432b2860_1_795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db432b2860_1_795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db432b2860_1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db432b2860_1_828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b432b2860_1_8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g3db432b2860_1_832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db432b2860_1_832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b432b2860_1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db432b2860_1_86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b432b2860_1_8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g3db432b2860_1_86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db432b2860_1_86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db432b2860_1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db432b2860_1_89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b432b2860_1_8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9" name="Google Shape;609;g3db432b2860_1_89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db432b2860_1_89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db432b2860_1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3db432b2860_1_926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b432b2860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g3db432b2860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5" name="Google Shape;645;g3db432b2860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 txBox="1"/>
          <p:nvPr>
            <p:ph type="title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3"/>
          <p:cNvSpPr txBox="1"/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" name="Google Shape;1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title"/>
          </p:nvPr>
        </p:nvSpPr>
        <p:spPr>
          <a:xfrm>
            <a:off x="447923" y="371510"/>
            <a:ext cx="8197114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" name="Google Shape;2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4"/>
          <p:cNvSpPr txBox="1"/>
          <p:nvPr>
            <p:ph idx="1" type="body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24"/>
          <p:cNvSpPr txBox="1"/>
          <p:nvPr>
            <p:ph idx="2" type="body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" name="Google Shape;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37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447923" y="369733"/>
            <a:ext cx="8197114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7" name="Google Shape;2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9" name="Google Shape;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Graphic">
  <p:cSld name="Header + Graphic">
    <p:bg>
      <p:bgPr>
        <a:solidFill>
          <a:schemeClr val="dk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460375" y="370622"/>
            <a:ext cx="8184662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2" name="Google Shape;3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6"/>
          <p:cNvSpPr/>
          <p:nvPr>
            <p:ph idx="2" type="chart"/>
          </p:nvPr>
        </p:nvSpPr>
        <p:spPr>
          <a:xfrm>
            <a:off x="447923" y="1724977"/>
            <a:ext cx="8184662" cy="2828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1" sz="24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4" name="Google Shape;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37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47922" y="369285"/>
            <a:ext cx="8197109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2" name="Google Shape;4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7" name="Google Shape;4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599009"/>
            <a:ext cx="2425226" cy="21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type="title"/>
          </p:nvPr>
        </p:nvSpPr>
        <p:spPr>
          <a:xfrm>
            <a:off x="460376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2" name="Google Shape;5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5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60375" y="370622"/>
            <a:ext cx="8184662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6" name="Google Shape;5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0"/>
          <p:cNvSpPr txBox="1"/>
          <p:nvPr>
            <p:ph idx="1" type="body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Graphic">
  <p:cSld name="Header + Graphic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460375" y="369733"/>
            <a:ext cx="8172210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0" name="Google Shape;6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1"/>
          <p:cNvSpPr/>
          <p:nvPr>
            <p:ph idx="2" type="chart"/>
          </p:nvPr>
        </p:nvSpPr>
        <p:spPr>
          <a:xfrm>
            <a:off x="447923" y="1724977"/>
            <a:ext cx="8184662" cy="29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title"/>
          </p:nvPr>
        </p:nvSpPr>
        <p:spPr>
          <a:xfrm>
            <a:off x="460375" y="644993"/>
            <a:ext cx="69723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/>
              <a:t>PGST Meeting 5/1</a:t>
            </a:r>
            <a:endParaRPr/>
          </a:p>
        </p:txBody>
      </p:sp>
      <p:sp>
        <p:nvSpPr>
          <p:cNvPr id="73" name="Google Shape;73;p1"/>
          <p:cNvSpPr txBox="1"/>
          <p:nvPr>
            <p:ph type="title"/>
          </p:nvPr>
        </p:nvSpPr>
        <p:spPr>
          <a:xfrm>
            <a:off x="454025" y="3637558"/>
            <a:ext cx="85866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 sz="2000">
                <a:solidFill>
                  <a:schemeClr val="lt1"/>
                </a:solidFill>
              </a:rPr>
              <a:t>Port Gamble S'Klallam Tribe Energy Analysis and Decarbonization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 sz="2000">
                <a:solidFill>
                  <a:schemeClr val="lt1"/>
                </a:solidFill>
              </a:rPr>
              <a:t>UW ChemE Capstone Team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447922" y="369285"/>
            <a:ext cx="8197109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Today's Agenda </a:t>
            </a:r>
            <a:endParaRPr/>
          </a:p>
        </p:txBody>
      </p:sp>
      <p:sp>
        <p:nvSpPr>
          <p:cNvPr id="79" name="Google Shape;79;p2"/>
          <p:cNvSpPr txBox="1"/>
          <p:nvPr>
            <p:ph idx="2" type="body"/>
          </p:nvPr>
        </p:nvSpPr>
        <p:spPr>
          <a:xfrm>
            <a:off x="447925" y="1600200"/>
            <a:ext cx="8197200" cy="3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BAU Propane Data Finalized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Campus-Wide Survey Draft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Final Report Draft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Electric Heating Scenarios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0" lang="en-US">
                <a:solidFill>
                  <a:schemeClr val="dk1"/>
                </a:solidFill>
              </a:rPr>
              <a:t>Electric Boiler</a:t>
            </a:r>
            <a:endParaRPr b="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0" lang="en-US">
                <a:solidFill>
                  <a:schemeClr val="dk1"/>
                </a:solidFill>
              </a:rPr>
              <a:t>ASHP Options</a:t>
            </a:r>
            <a:endParaRPr b="0">
              <a:solidFill>
                <a:schemeClr val="dk1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&gt;"/>
            </a:pPr>
            <a:r>
              <a:rPr b="0" lang="en-US">
                <a:solidFill>
                  <a:schemeClr val="dk1"/>
                </a:solidFill>
              </a:rPr>
              <a:t>Boiler replacement</a:t>
            </a:r>
            <a:endParaRPr b="0">
              <a:solidFill>
                <a:schemeClr val="dk1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&gt;"/>
            </a:pPr>
            <a:r>
              <a:rPr b="0" lang="en-US">
                <a:solidFill>
                  <a:schemeClr val="dk1"/>
                </a:solidFill>
              </a:rPr>
              <a:t>Furnace replacement</a:t>
            </a:r>
            <a:endParaRPr b="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Next Steps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db432b2860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75" y="1498135"/>
            <a:ext cx="4349800" cy="306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3db432b2860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1875" y="1406685"/>
            <a:ext cx="4027474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db432b2860_1_0"/>
          <p:cNvSpPr txBox="1"/>
          <p:nvPr>
            <p:ph type="title"/>
          </p:nvPr>
        </p:nvSpPr>
        <p:spPr>
          <a:xfrm>
            <a:off x="454022" y="2603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BAU Propane Data Finalized</a:t>
            </a:r>
            <a:endParaRPr/>
          </a:p>
        </p:txBody>
      </p:sp>
      <p:sp>
        <p:nvSpPr>
          <p:cNvPr id="88" name="Google Shape;88;g3db432b2860_1_0"/>
          <p:cNvSpPr txBox="1"/>
          <p:nvPr/>
        </p:nvSpPr>
        <p:spPr>
          <a:xfrm>
            <a:off x="83875" y="4297450"/>
            <a:ext cx="8712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⮚"/>
            </a:pP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BAU propane dataset is finalized (hourly, by device). Full methodology and assumptions are detailed in Appendix slides.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6d3654c47_11_31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95" name="Google Shape;95;g3d6d3654c47_11_3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Campus-Wide Survey Draft Complete</a:t>
            </a:r>
            <a:endParaRPr/>
          </a:p>
        </p:txBody>
      </p:sp>
      <p:sp>
        <p:nvSpPr>
          <p:cNvPr id="96" name="Google Shape;96;g3d6d3654c47_11_31"/>
          <p:cNvSpPr txBox="1"/>
          <p:nvPr>
            <p:ph idx="2" type="body"/>
          </p:nvPr>
        </p:nvSpPr>
        <p:spPr>
          <a:xfrm>
            <a:off x="447925" y="1600200"/>
            <a:ext cx="8197200" cy="3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/>
              <a:t>Solar Information: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Roof areas</a:t>
            </a:r>
            <a:endParaRPr b="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Solar capacity</a:t>
            </a:r>
            <a:endParaRPr b="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Annual solar potentials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en-US">
                <a:solidFill>
                  <a:schemeClr val="dk1"/>
                </a:solidFill>
              </a:rPr>
              <a:t>Device Data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0" lang="en-US">
                <a:solidFill>
                  <a:schemeClr val="dk1"/>
                </a:solidFill>
              </a:rPr>
              <a:t>Relevant propane powered devices</a:t>
            </a:r>
            <a:endParaRPr b="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0" lang="en-US">
                <a:solidFill>
                  <a:schemeClr val="dk1"/>
                </a:solidFill>
              </a:rPr>
              <a:t>Annual GHG emissions per device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e6bdd8366e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25" y="0"/>
            <a:ext cx="70403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e6bdd8366e_0_1"/>
          <p:cNvSpPr txBox="1"/>
          <p:nvPr>
            <p:ph type="title"/>
          </p:nvPr>
        </p:nvSpPr>
        <p:spPr>
          <a:xfrm>
            <a:off x="4041724" y="67025"/>
            <a:ext cx="51486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Administrative Complex Site Survey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af3db923b_0_7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110" name="Google Shape;110;g3daf3db923b_0_7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Final Report Draft</a:t>
            </a:r>
            <a:endParaRPr/>
          </a:p>
        </p:txBody>
      </p:sp>
      <p:sp>
        <p:nvSpPr>
          <p:cNvPr id="111" name="Google Shape;111;g3daf3db923b_0_7"/>
          <p:cNvSpPr txBox="1"/>
          <p:nvPr>
            <p:ph idx="2" type="body"/>
          </p:nvPr>
        </p:nvSpPr>
        <p:spPr>
          <a:xfrm>
            <a:off x="447925" y="1459431"/>
            <a:ext cx="819720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⮚"/>
            </a:pPr>
            <a:r>
              <a:rPr lang="en-US"/>
              <a:t>Report structure is finalized across five sections: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 u="sng"/>
              <a:t>Overview of Past Work:</a:t>
            </a:r>
            <a:r>
              <a:rPr b="0" lang="en-US"/>
              <a:t> summarizes prior analysis</a:t>
            </a:r>
            <a:endParaRPr b="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 u="sng"/>
              <a:t>Business as Usual:</a:t>
            </a:r>
            <a:r>
              <a:rPr b="0" lang="en-US"/>
              <a:t> </a:t>
            </a:r>
            <a:r>
              <a:rPr b="0" lang="en-US"/>
              <a:t>current electricity and propane consumption, REopt modeling </a:t>
            </a:r>
            <a:endParaRPr b="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 u="sng"/>
              <a:t>Proposed Electric Heating Systems:</a:t>
            </a:r>
            <a:r>
              <a:rPr b="0" lang="en-US"/>
              <a:t> </a:t>
            </a:r>
            <a:r>
              <a:rPr b="0" lang="en-US"/>
              <a:t>cost and emissions under several electrification scenarios</a:t>
            </a:r>
            <a:endParaRPr b="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 u="sng"/>
              <a:t>Solar Implementation:</a:t>
            </a:r>
            <a:r>
              <a:rPr b="0" lang="en-US"/>
              <a:t> </a:t>
            </a:r>
            <a:r>
              <a:rPr b="0" lang="en-US"/>
              <a:t>roof-by-roof solar potential and optimal capacity</a:t>
            </a:r>
            <a:endParaRPr b="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 u="sng"/>
              <a:t>Grant and Funding Resources:</a:t>
            </a:r>
            <a:r>
              <a:rPr b="0" lang="en-US"/>
              <a:t> explores funding options</a:t>
            </a:r>
            <a:endParaRPr b="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/>
              <a:t>Numbers being finalized </a:t>
            </a:r>
            <a:r>
              <a:rPr b="0" i="1" lang="en-US"/>
              <a:t>—</a:t>
            </a:r>
            <a:r>
              <a:rPr b="0" i="1" lang="en-US"/>
              <a:t> full draft coming soon </a:t>
            </a:r>
            <a:endParaRPr b="0"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af3db923b_0_2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Electric Heating Scenarios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>
                <a:latin typeface="Encode Sans"/>
                <a:ea typeface="Encode Sans"/>
                <a:cs typeface="Encode Sans"/>
                <a:sym typeface="Encode Sans"/>
              </a:rPr>
              <a:t>Electric Boiler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18" name="Google Shape;118;g3daf3db923b_0_21"/>
          <p:cNvSpPr txBox="1"/>
          <p:nvPr>
            <p:ph idx="2" type="body"/>
          </p:nvPr>
        </p:nvSpPr>
        <p:spPr>
          <a:xfrm>
            <a:off x="3856025" y="3519875"/>
            <a:ext cx="4186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chemeClr val="dk1"/>
                </a:solidFill>
              </a:rPr>
              <a:t>(note: PSE has 2045 carbon-free target)</a:t>
            </a:r>
            <a:endParaRPr i="1" sz="1600"/>
          </a:p>
        </p:txBody>
      </p:sp>
      <p:graphicFrame>
        <p:nvGraphicFramePr>
          <p:cNvPr id="119" name="Google Shape;119;g3daf3db923b_0_21"/>
          <p:cNvGraphicFramePr/>
          <p:nvPr/>
        </p:nvGraphicFramePr>
        <p:xfrm>
          <a:off x="927025" y="1665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{7DFB5891-BB87-40AD-81B5-557167136394}</a:tableStyleId>
              </a:tblPr>
              <a:tblGrid>
                <a:gridCol w="1142050"/>
                <a:gridCol w="1786950"/>
                <a:gridCol w="4310025"/>
              </a:tblGrid>
              <a:tr h="4824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CAPEX: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~$13,000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EIA documentation (165 kW)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100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</a:t>
                      </a: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$82,000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LBNL equation based on rating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OPEX: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~$41,000/year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REopt, Schedule 25 billing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GHG: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 tCO</a:t>
                      </a:r>
                      <a:r>
                        <a:rPr baseline="-25000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e/year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Grid emissions, assuming no PV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" name="Google Shape;120;g3daf3db923b_0_21"/>
          <p:cNvSpPr txBox="1"/>
          <p:nvPr>
            <p:ph idx="2" type="body"/>
          </p:nvPr>
        </p:nvSpPr>
        <p:spPr>
          <a:xfrm>
            <a:off x="870775" y="4243750"/>
            <a:ext cx="6650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Wide </a:t>
            </a:r>
            <a:r>
              <a:rPr lang="en-US" sz="1800">
                <a:solidFill>
                  <a:schemeClr val="dk1"/>
                </a:solidFill>
              </a:rPr>
              <a:t>CAPEX range indicative of high supplier variation.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b32a9566d_0_2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127" name="Google Shape;127;g3db32a9566d_0_2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Electric Heating Scenarios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>
                <a:latin typeface="Encode Sans"/>
                <a:ea typeface="Encode Sans"/>
                <a:cs typeface="Encode Sans"/>
                <a:sym typeface="Encode Sans"/>
              </a:rPr>
              <a:t>ASHP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28" name="Google Shape;128;g3db32a9566d_0_2"/>
          <p:cNvSpPr txBox="1"/>
          <p:nvPr>
            <p:ph idx="2" type="body"/>
          </p:nvPr>
        </p:nvSpPr>
        <p:spPr>
          <a:xfrm>
            <a:off x="447925" y="1600200"/>
            <a:ext cx="8197200" cy="3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/>
              <a:t> Building needs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Longhouse radiative floor heating: </a:t>
            </a:r>
            <a:r>
              <a:rPr lang="en-US"/>
              <a:t>135°</a:t>
            </a:r>
            <a:r>
              <a:rPr lang="en-US"/>
              <a:t>F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Ed. Center air-over-water heating: </a:t>
            </a:r>
            <a:r>
              <a:rPr lang="en-US"/>
              <a:t>19</a:t>
            </a:r>
            <a:r>
              <a:rPr lang="en-US"/>
              <a:t>5</a:t>
            </a:r>
            <a:r>
              <a:rPr lang="en-US">
                <a:solidFill>
                  <a:schemeClr val="dk1"/>
                </a:solidFill>
              </a:rPr>
              <a:t>°F</a:t>
            </a:r>
            <a:endParaRPr>
              <a:solidFill>
                <a:schemeClr val="dk1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&gt;"/>
            </a:pPr>
            <a:r>
              <a:rPr lang="en-US">
                <a:solidFill>
                  <a:schemeClr val="dk1"/>
                </a:solidFill>
              </a:rPr>
              <a:t>The Education Center's high temperature requirement is the key constraint</a:t>
            </a:r>
            <a:r>
              <a:rPr b="0" lang="en-US">
                <a:solidFill>
                  <a:schemeClr val="dk1"/>
                </a:solidFill>
              </a:rPr>
              <a:t> 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BAU heating system: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0" lang="en-US">
                <a:solidFill>
                  <a:schemeClr val="dk1"/>
                </a:solidFill>
              </a:rPr>
              <a:t>Boiler supplies 195°F water to the Ed. Center and mixes with cooling water to deliver 135°F to the Longhouse. 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b432b2860_0_0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135" name="Google Shape;135;g3db432b2860_0_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Electric Heating Scenarios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>
                <a:latin typeface="Encode Sans"/>
                <a:ea typeface="Encode Sans"/>
                <a:cs typeface="Encode Sans"/>
                <a:sym typeface="Encode Sans"/>
              </a:rPr>
              <a:t>ASHP: Options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36" name="Google Shape;136;g3db432b2860_0_0"/>
          <p:cNvSpPr txBox="1"/>
          <p:nvPr>
            <p:ph idx="2" type="body"/>
          </p:nvPr>
        </p:nvSpPr>
        <p:spPr>
          <a:xfrm>
            <a:off x="447925" y="1600200"/>
            <a:ext cx="8197200" cy="3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Option A: Full Heat Pump Replacement</a:t>
            </a:r>
            <a:endParaRPr b="0" sz="21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0" lang="en-US" sz="1700">
                <a:solidFill>
                  <a:schemeClr val="dk1"/>
                </a:solidFill>
              </a:rPr>
              <a:t>High efficiency HP for 135°F </a:t>
            </a:r>
            <a:endParaRPr b="0"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0" lang="en-US" sz="1700">
                <a:solidFill>
                  <a:schemeClr val="dk1"/>
                </a:solidFill>
              </a:rPr>
              <a:t>Low efficiency HP for 170°F </a:t>
            </a:r>
            <a:endParaRPr b="0" sz="1700">
              <a:solidFill>
                <a:schemeClr val="dk1"/>
              </a:solidFill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0" lang="en-US" sz="1700">
                <a:solidFill>
                  <a:schemeClr val="dk1"/>
                </a:solidFill>
              </a:rPr>
              <a:t>Requires HX retrofit (won't reach 195℉ on its own)</a:t>
            </a:r>
            <a:endParaRPr b="0" sz="17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Option B: Electric Boiler Hybrid System</a:t>
            </a:r>
            <a:endParaRPr b="0" sz="1700">
              <a:solidFill>
                <a:schemeClr val="dk1"/>
              </a:solidFill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0" lang="en-US" sz="1700">
                <a:solidFill>
                  <a:schemeClr val="dk1"/>
                </a:solidFill>
              </a:rPr>
              <a:t>No retrofit requirement (Utilizes EB for 170°F → 195°F)</a:t>
            </a:r>
            <a:endParaRPr b="0"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0" lang="en-US" sz="1700">
                <a:solidFill>
                  <a:schemeClr val="dk1"/>
                </a:solidFill>
              </a:rPr>
              <a:t>100% propane displaced</a:t>
            </a:r>
            <a:endParaRPr b="0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Option C: Existing Boiler Hybrid System</a:t>
            </a:r>
            <a:endParaRPr sz="2100">
              <a:solidFill>
                <a:schemeClr val="dk1"/>
              </a:solidFill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0" lang="en-US" sz="1700">
                <a:solidFill>
                  <a:schemeClr val="dk1"/>
                </a:solidFill>
              </a:rPr>
              <a:t>No retrofit requirement (Utilizes PB for 170°F → 195°F)</a:t>
            </a:r>
            <a:endParaRPr b="0" sz="1700">
              <a:solidFill>
                <a:schemeClr val="dk1"/>
              </a:solidFill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0" lang="en-US" sz="1700">
                <a:solidFill>
                  <a:schemeClr val="dk1"/>
                </a:solidFill>
              </a:rPr>
              <a:t>Displaces significant amount of propane</a:t>
            </a:r>
            <a:endParaRPr b="0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b432b2860_0_9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Electric Heating Scenarios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latin typeface="Open Sans"/>
                <a:ea typeface="Open Sans"/>
                <a:cs typeface="Open Sans"/>
                <a:sym typeface="Open Sans"/>
              </a:rPr>
              <a:t>We compared </a:t>
            </a:r>
            <a:r>
              <a:rPr b="0" lang="en-US" sz="2200">
                <a:latin typeface="Open Sans"/>
                <a:ea typeface="Open Sans"/>
                <a:cs typeface="Open Sans"/>
                <a:sym typeface="Open Sans"/>
              </a:rPr>
              <a:t>140°F vs. 170°F leaving water temperature.</a:t>
            </a:r>
            <a:endParaRPr b="0" sz="2200"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43" name="Google Shape;143;g3db432b2860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25" y="1567300"/>
            <a:ext cx="5327474" cy="3278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db432b2860_0_91"/>
          <p:cNvSpPr txBox="1"/>
          <p:nvPr/>
        </p:nvSpPr>
        <p:spPr>
          <a:xfrm>
            <a:off x="5781500" y="2136500"/>
            <a:ext cx="32058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Conclusion: 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Operating at 140°F LWT yields meaningfully higher COP across all outdoor temperatures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reduces annual electricity consumption by ~7,500 kWh/yr compared to 170°F LWT.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b432b2860_0_77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151" name="Google Shape;151;g3db432b2860_0_77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Electric Heating Scenarios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>
                <a:latin typeface="Encode Sans"/>
                <a:ea typeface="Encode Sans"/>
                <a:cs typeface="Encode Sans"/>
                <a:sym typeface="Encode Sans"/>
              </a:rPr>
              <a:t>ASHP Evaluation Framework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52" name="Google Shape;152;g3db432b2860_0_77"/>
          <p:cNvSpPr txBox="1"/>
          <p:nvPr>
            <p:ph idx="2" type="body"/>
          </p:nvPr>
        </p:nvSpPr>
        <p:spPr>
          <a:xfrm>
            <a:off x="447925" y="1600200"/>
            <a:ext cx="8539800" cy="3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Each option compared across three dimensions: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solidFill>
                  <a:schemeClr val="dk1"/>
                </a:solidFill>
              </a:rPr>
              <a:t>CAPEX </a:t>
            </a:r>
            <a:r>
              <a:rPr b="0" lang="en-US">
                <a:solidFill>
                  <a:schemeClr val="dk1"/>
                </a:solidFill>
              </a:rPr>
              <a:t>— equipment and installation costs</a:t>
            </a:r>
            <a:endParaRPr b="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solidFill>
                  <a:schemeClr val="dk1"/>
                </a:solidFill>
              </a:rPr>
              <a:t>OPEX </a:t>
            </a:r>
            <a:r>
              <a:rPr b="0" lang="en-US">
                <a:solidFill>
                  <a:schemeClr val="dk1"/>
                </a:solidFill>
              </a:rPr>
              <a:t>— annual electricity costs</a:t>
            </a:r>
            <a:endParaRPr b="0">
              <a:solidFill>
                <a:schemeClr val="dk1"/>
              </a:solidFill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&gt;"/>
            </a:pPr>
            <a:r>
              <a:rPr b="0" lang="en-US" sz="1700">
                <a:solidFill>
                  <a:schemeClr val="dk1"/>
                </a:solidFill>
              </a:rPr>
              <a:t>HP efficiency (COP) is </a:t>
            </a:r>
            <a:r>
              <a:rPr b="0" lang="en-US" sz="1700" u="sng">
                <a:solidFill>
                  <a:schemeClr val="dk1"/>
                </a:solidFill>
              </a:rPr>
              <a:t>temperature dependent</a:t>
            </a:r>
            <a:endParaRPr b="0" sz="1700">
              <a:solidFill>
                <a:schemeClr val="dk1"/>
              </a:solidFill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&gt;"/>
            </a:pPr>
            <a:r>
              <a:rPr b="0" lang="en-US" sz="1700">
                <a:solidFill>
                  <a:schemeClr val="dk1"/>
                </a:solidFill>
              </a:rPr>
              <a:t>Electric boiler efficiency constant (ε</a:t>
            </a:r>
            <a:r>
              <a:rPr b="0" baseline="-25000" lang="en-US" sz="1700">
                <a:solidFill>
                  <a:schemeClr val="dk1"/>
                </a:solidFill>
              </a:rPr>
              <a:t>EB</a:t>
            </a:r>
            <a:r>
              <a:rPr b="0" lang="en-US" sz="1700">
                <a:solidFill>
                  <a:schemeClr val="dk1"/>
                </a:solidFill>
              </a:rPr>
              <a:t>&lt; COP</a:t>
            </a:r>
            <a:r>
              <a:rPr b="0" baseline="-25000" lang="en-US" sz="1700">
                <a:solidFill>
                  <a:schemeClr val="dk1"/>
                </a:solidFill>
              </a:rPr>
              <a:t>HP</a:t>
            </a:r>
            <a:r>
              <a:rPr b="0" lang="en-US" sz="1700">
                <a:solidFill>
                  <a:schemeClr val="dk1"/>
                </a:solidFill>
              </a:rPr>
              <a:t>)</a:t>
            </a:r>
            <a:endParaRPr b="0" sz="17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>
                <a:solidFill>
                  <a:schemeClr val="dk1"/>
                </a:solidFill>
              </a:rPr>
              <a:t>GHG </a:t>
            </a:r>
            <a:r>
              <a:rPr b="0" lang="en-US">
                <a:solidFill>
                  <a:schemeClr val="dk1"/>
                </a:solidFill>
              </a:rPr>
              <a:t>— emissions reductions from propane displacement</a:t>
            </a:r>
            <a:endParaRPr b="0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Goal:</a:t>
            </a:r>
            <a:r>
              <a:rPr b="0" lang="en-US">
                <a:solidFill>
                  <a:schemeClr val="dk1"/>
                </a:solidFill>
              </a:rPr>
              <a:t> Pro/cons summary of each design option</a:t>
            </a:r>
            <a:endParaRPr b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b432b2860_1_939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159" name="Google Shape;159;g3db432b2860_1_939"/>
          <p:cNvSpPr txBox="1"/>
          <p:nvPr>
            <p:ph idx="2" type="body"/>
          </p:nvPr>
        </p:nvSpPr>
        <p:spPr>
          <a:xfrm>
            <a:off x="403125" y="1770475"/>
            <a:ext cx="8197200" cy="2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Finalize electric heating scenarios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0" lang="en-US">
                <a:solidFill>
                  <a:schemeClr val="dk1"/>
                </a:solidFill>
              </a:rPr>
              <a:t>Pros/Cons of boiler replacement options</a:t>
            </a:r>
            <a:endParaRPr b="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0" lang="en-US">
                <a:solidFill>
                  <a:schemeClr val="dk1"/>
                </a:solidFill>
              </a:rPr>
              <a:t>Impacts of Air-to-Air replacement of furnaces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Solar sizing for increased </a:t>
            </a:r>
            <a:r>
              <a:rPr lang="en-US">
                <a:solidFill>
                  <a:schemeClr val="dk1"/>
                </a:solidFill>
              </a:rPr>
              <a:t>electricity load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Overall project CAPEX summary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Final report delivery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b432b2860_1_23"/>
          <p:cNvSpPr txBox="1"/>
          <p:nvPr>
            <p:ph type="title"/>
          </p:nvPr>
        </p:nvSpPr>
        <p:spPr>
          <a:xfrm>
            <a:off x="460376" y="644993"/>
            <a:ext cx="7023600" cy="2641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b432b2860_1_484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 cap="flat" cmpd="sng" w="12700">
            <a:solidFill>
              <a:srgbClr val="065A8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db432b2860_1_484"/>
          <p:cNvSpPr/>
          <p:nvPr/>
        </p:nvSpPr>
        <p:spPr>
          <a:xfrm>
            <a:off x="7132320" y="182880"/>
            <a:ext cx="3200400" cy="3200400"/>
          </a:xfrm>
          <a:prstGeom prst="ellipse">
            <a:avLst/>
          </a:prstGeom>
          <a:solidFill>
            <a:srgbClr val="028090">
              <a:alpha val="50199"/>
            </a:srgbClr>
          </a:solidFill>
          <a:ln cap="flat" cmpd="sng" w="12700">
            <a:solidFill>
              <a:srgbClr val="028090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db432b2860_1_484"/>
          <p:cNvSpPr/>
          <p:nvPr/>
        </p:nvSpPr>
        <p:spPr>
          <a:xfrm>
            <a:off x="548640" y="9144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lang="en-US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Appendix - Full </a:t>
            </a:r>
            <a:r>
              <a:rPr b="1" lang="en-US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Propane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lang="en-US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Disaggregation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db432b2860_1_484"/>
          <p:cNvSpPr/>
          <p:nvPr/>
        </p:nvSpPr>
        <p:spPr>
          <a:xfrm>
            <a:off x="548640" y="2880360"/>
            <a:ext cx="2560200" cy="456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b432b2860_1_484"/>
          <p:cNvSpPr/>
          <p:nvPr/>
        </p:nvSpPr>
        <p:spPr>
          <a:xfrm>
            <a:off x="548640" y="3017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Bottom-Up Methodology — ERA5 · Regression · Equipment Modeling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db432b2860_1_484"/>
          <p:cNvSpPr/>
          <p:nvPr/>
        </p:nvSpPr>
        <p:spPr>
          <a:xfrm>
            <a:off x="548640" y="42976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Port Gamble S'Klallam Tribe | Energy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b432b2860_1_494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db432b2860_1_494"/>
          <p:cNvSpPr/>
          <p:nvPr/>
        </p:nvSpPr>
        <p:spPr>
          <a:xfrm>
            <a:off x="365760" y="109728"/>
            <a:ext cx="8412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ERA5 Reanalysis Dataset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db432b2860_1_494"/>
          <p:cNvSpPr/>
          <p:nvPr/>
        </p:nvSpPr>
        <p:spPr>
          <a:xfrm>
            <a:off x="365760" y="100584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Temperature Data Source &amp; Handling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db432b2860_1_494"/>
          <p:cNvSpPr/>
          <p:nvPr/>
        </p:nvSpPr>
        <p:spPr>
          <a:xfrm>
            <a:off x="274320" y="1463039"/>
            <a:ext cx="4023300" cy="33618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g3db432b2860_1_4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727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db432b2860_1_494"/>
          <p:cNvSpPr/>
          <p:nvPr/>
        </p:nvSpPr>
        <p:spPr>
          <a:xfrm>
            <a:off x="914400" y="1572768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3A5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ERA5?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db432b2860_1_494"/>
          <p:cNvSpPr/>
          <p:nvPr/>
        </p:nvSpPr>
        <p:spPr>
          <a:xfrm>
            <a:off x="411480" y="2011680"/>
            <a:ext cx="3886200" cy="26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ERA5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is ECMWF's fifth-generation atmospheric reanalysis — a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global hourly gridded climate dataset that blends historical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observations with a physics-based model.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Grid resolution: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0.25° (~28 km)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Variable used: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m air temperature (t2m)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Record period: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2015–2026 (hourly)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Format: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GRIB2 (ERA5 download)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Parser: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cfgrib / xarray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db432b2860_1_494"/>
          <p:cNvSpPr/>
          <p:nvPr/>
        </p:nvSpPr>
        <p:spPr>
          <a:xfrm>
            <a:off x="4572000" y="1463039"/>
            <a:ext cx="4297800" cy="14217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db432b2860_1_494"/>
          <p:cNvSpPr/>
          <p:nvPr/>
        </p:nvSpPr>
        <p:spPr>
          <a:xfrm>
            <a:off x="4572000" y="1463040"/>
            <a:ext cx="4297800" cy="347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db432b2860_1_494"/>
          <p:cNvSpPr/>
          <p:nvPr/>
        </p:nvSpPr>
        <p:spPr>
          <a:xfrm>
            <a:off x="4681728" y="1499616"/>
            <a:ext cx="407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1 — Bilinear Interpolation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db432b2860_1_494"/>
          <p:cNvSpPr/>
          <p:nvPr/>
        </p:nvSpPr>
        <p:spPr>
          <a:xfrm>
            <a:off x="4681728" y="1810511"/>
            <a:ext cx="41880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Grid-cell → site-point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ERA5 native 0.25° cells (~28 km) don't match the site exactly.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Interpolation done with bilinear weighting on the four surrounding cells.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Site: lat 47.852°, lon 237.431° (ERA5 0–360° convention).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db432b2860_1_494"/>
          <p:cNvSpPr/>
          <p:nvPr/>
        </p:nvSpPr>
        <p:spPr>
          <a:xfrm>
            <a:off x="4572000" y="2970175"/>
            <a:ext cx="4297800" cy="786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db432b2860_1_494"/>
          <p:cNvSpPr/>
          <p:nvPr/>
        </p:nvSpPr>
        <p:spPr>
          <a:xfrm>
            <a:off x="4572000" y="2970825"/>
            <a:ext cx="4297800" cy="3474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b432b2860_1_494"/>
          <p:cNvSpPr/>
          <p:nvPr/>
        </p:nvSpPr>
        <p:spPr>
          <a:xfrm>
            <a:off x="4700016" y="3007401"/>
            <a:ext cx="407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2 — Unit Conversion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db432b2860_1_494"/>
          <p:cNvSpPr/>
          <p:nvPr/>
        </p:nvSpPr>
        <p:spPr>
          <a:xfrm>
            <a:off x="4681728" y="3427927"/>
            <a:ext cx="4078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Kelvin → °F: (K − 273.15) × 9/5 + 32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db432b2860_1_494"/>
          <p:cNvSpPr/>
          <p:nvPr/>
        </p:nvSpPr>
        <p:spPr>
          <a:xfrm>
            <a:off x="4572000" y="3831336"/>
            <a:ext cx="4297800" cy="993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db432b2860_1_494"/>
          <p:cNvSpPr/>
          <p:nvPr/>
        </p:nvSpPr>
        <p:spPr>
          <a:xfrm>
            <a:off x="4572000" y="3831336"/>
            <a:ext cx="42978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db432b2860_1_494"/>
          <p:cNvSpPr/>
          <p:nvPr/>
        </p:nvSpPr>
        <p:spPr>
          <a:xfrm>
            <a:off x="4681728" y="3867912"/>
            <a:ext cx="407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3 — Daily Summary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db432b2860_1_494"/>
          <p:cNvSpPr/>
          <p:nvPr/>
        </p:nvSpPr>
        <p:spPr>
          <a:xfrm>
            <a:off x="4681728" y="4241260"/>
            <a:ext cx="40782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Collected T</a:t>
            </a:r>
            <a:r>
              <a:rPr baseline="-25000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</a:t>
            </a:r>
            <a:r>
              <a:rPr baseline="-25000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T</a:t>
            </a:r>
            <a:r>
              <a:rPr baseline="-25000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day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Outputs: 2015-2026 Hourly and Daily Temperature CSVs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b432b2860_1_517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db432b2860_1_517"/>
          <p:cNvSpPr/>
          <p:nvPr/>
        </p:nvSpPr>
        <p:spPr>
          <a:xfrm>
            <a:off x="365760" y="109728"/>
            <a:ext cx="8412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Delivery Data Cleaning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db432b2860_1_517"/>
          <p:cNvSpPr/>
          <p:nvPr/>
        </p:nvSpPr>
        <p:spPr>
          <a:xfrm>
            <a:off x="365760" y="100584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Propane Transaction Records — Ferrell Gas 2005–2025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db432b2860_1_517"/>
          <p:cNvSpPr/>
          <p:nvPr/>
        </p:nvSpPr>
        <p:spPr>
          <a:xfrm>
            <a:off x="365760" y="141732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Raw transaction records include deliveries, credits, and returns. Two cleaning rules are applied before the delivery file is used downstream.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db432b2860_1_517"/>
          <p:cNvSpPr/>
          <p:nvPr/>
        </p:nvSpPr>
        <p:spPr>
          <a:xfrm>
            <a:off x="274320" y="1965960"/>
            <a:ext cx="4114800" cy="2469000"/>
          </a:xfrm>
          <a:prstGeom prst="rect">
            <a:avLst/>
          </a:prstGeom>
          <a:solidFill>
            <a:srgbClr val="EFF6FF"/>
          </a:solidFill>
          <a:ln cap="flat" cmpd="sng" w="1905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db432b2860_1_517"/>
          <p:cNvSpPr/>
          <p:nvPr/>
        </p:nvSpPr>
        <p:spPr>
          <a:xfrm>
            <a:off x="274320" y="1965960"/>
            <a:ext cx="4114800" cy="3840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g3db432b2860_1_5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20208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db432b2860_1_517"/>
          <p:cNvSpPr/>
          <p:nvPr/>
        </p:nvSpPr>
        <p:spPr>
          <a:xfrm>
            <a:off x="749808" y="2029968"/>
            <a:ext cx="352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Assumption 1 — Remove Return Deliveries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db432b2860_1_517"/>
          <p:cNvSpPr/>
          <p:nvPr/>
        </p:nvSpPr>
        <p:spPr>
          <a:xfrm>
            <a:off x="411480" y="2423160"/>
            <a:ext cx="38862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Negative-gallon transactions represent returned/credited deliveries.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Rule: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each negative entry, search for a positive entry with exactly matching gallons within ±30 days. Drop both.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Rationale: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These are accounting corrections, not actual fuel deliveries, and would double-count if retained.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db432b2860_1_517"/>
          <p:cNvSpPr/>
          <p:nvPr/>
        </p:nvSpPr>
        <p:spPr>
          <a:xfrm>
            <a:off x="4754880" y="1965960"/>
            <a:ext cx="4114800" cy="2469000"/>
          </a:xfrm>
          <a:prstGeom prst="rect">
            <a:avLst/>
          </a:prstGeom>
          <a:solidFill>
            <a:srgbClr val="EFF6FF"/>
          </a:solidFill>
          <a:ln cap="flat" cmpd="sng" w="1905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db432b2860_1_517"/>
          <p:cNvSpPr/>
          <p:nvPr/>
        </p:nvSpPr>
        <p:spPr>
          <a:xfrm>
            <a:off x="4754880" y="1965960"/>
            <a:ext cx="4114800" cy="384000"/>
          </a:xfrm>
          <a:prstGeom prst="rect">
            <a:avLst/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g3db432b2860_1_5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4608" y="20208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db432b2860_1_517"/>
          <p:cNvSpPr/>
          <p:nvPr/>
        </p:nvSpPr>
        <p:spPr>
          <a:xfrm>
            <a:off x="5230368" y="2029968"/>
            <a:ext cx="352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Assumption 2 — Minimum Delivery Size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db432b2860_1_517"/>
          <p:cNvSpPr/>
          <p:nvPr/>
        </p:nvSpPr>
        <p:spPr>
          <a:xfrm>
            <a:off x="4892040" y="2423160"/>
            <a:ext cx="38862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Small deliveries likely represent alternate propane tank fills under the same account.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Rule: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Drop all deliveries under 200 gallons.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Rationale: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Routine deliveries serving the campus buildings are always bulk fills. Sub-200 gal records are not representative of steady-state consumption.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db432b2860_1_517"/>
          <p:cNvSpPr/>
          <p:nvPr/>
        </p:nvSpPr>
        <p:spPr>
          <a:xfrm>
            <a:off x="274320" y="4572000"/>
            <a:ext cx="8595300" cy="384000"/>
          </a:xfrm>
          <a:prstGeom prst="rect">
            <a:avLst/>
          </a:prstGeom>
          <a:solidFill>
            <a:srgbClr val="E8F5E9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g3db432b2860_1_5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" y="46360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db432b2860_1_517"/>
          <p:cNvSpPr/>
          <p:nvPr/>
        </p:nvSpPr>
        <p:spPr>
          <a:xfrm>
            <a:off x="731520" y="4626864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Output: Propane Deliveries 2005–2025.csv — used directly by regression (Notebook 3) and the disaggregation model (Notebook 4). Monthly aggregation logic is intentionally excluded from downstream use.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b432b2860_1_538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db432b2860_1_538"/>
          <p:cNvSpPr/>
          <p:nvPr/>
        </p:nvSpPr>
        <p:spPr>
          <a:xfrm>
            <a:off x="365760" y="109728"/>
            <a:ext cx="8412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Delivery-Window Regression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db432b2860_1_538"/>
          <p:cNvSpPr/>
          <p:nvPr/>
        </p:nvSpPr>
        <p:spPr>
          <a:xfrm>
            <a:off x="365760" y="100584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Fitting Propane Use vs. Temperature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db432b2860_1_538"/>
          <p:cNvSpPr/>
          <p:nvPr/>
        </p:nvSpPr>
        <p:spPr>
          <a:xfrm>
            <a:off x="274320" y="1371600"/>
            <a:ext cx="4389000" cy="1417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db432b2860_1_538"/>
          <p:cNvSpPr/>
          <p:nvPr/>
        </p:nvSpPr>
        <p:spPr>
          <a:xfrm>
            <a:off x="274320" y="1371600"/>
            <a:ext cx="43890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db432b2860_1_538"/>
          <p:cNvSpPr/>
          <p:nvPr/>
        </p:nvSpPr>
        <p:spPr>
          <a:xfrm>
            <a:off x="384048" y="1408176"/>
            <a:ext cx="416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 Delivery Windows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db432b2860_1_538"/>
          <p:cNvSpPr/>
          <p:nvPr/>
        </p:nvSpPr>
        <p:spPr>
          <a:xfrm>
            <a:off x="384048" y="1773936"/>
            <a:ext cx="41697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delivery is the end of a consumption window beginning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 the prior delivery date. Window length = days between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deliveries. Gallons ÷ days = gal/day for that window.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Interval-average temperature is computed from daily ERA5 data.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db432b2860_1_538"/>
          <p:cNvSpPr/>
          <p:nvPr/>
        </p:nvSpPr>
        <p:spPr>
          <a:xfrm>
            <a:off x="274320" y="2852928"/>
            <a:ext cx="4389000" cy="12801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db432b2860_1_538"/>
          <p:cNvSpPr/>
          <p:nvPr/>
        </p:nvSpPr>
        <p:spPr>
          <a:xfrm>
            <a:off x="274320" y="2852928"/>
            <a:ext cx="4389000" cy="347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db432b2860_1_538"/>
          <p:cNvSpPr/>
          <p:nvPr/>
        </p:nvSpPr>
        <p:spPr>
          <a:xfrm>
            <a:off x="384048" y="2889504"/>
            <a:ext cx="416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Piecewise Linear Model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db432b2860_1_538"/>
          <p:cNvSpPr/>
          <p:nvPr/>
        </p:nvSpPr>
        <p:spPr>
          <a:xfrm>
            <a:off x="384048" y="3255264"/>
            <a:ext cx="41697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Below Tb (60°F): gal/day = m × T + b [heating regime]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Above Tb (60°F): gal/day = baseline_gpd [base loads only]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Baseline is the mean of all windows with T ≥ Tb.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Tb sweep: 50–71°F tested; 60°F selected.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db432b2860_1_538"/>
          <p:cNvSpPr/>
          <p:nvPr/>
        </p:nvSpPr>
        <p:spPr>
          <a:xfrm>
            <a:off x="274320" y="4187952"/>
            <a:ext cx="4389000" cy="822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db432b2860_1_538"/>
          <p:cNvSpPr/>
          <p:nvPr/>
        </p:nvSpPr>
        <p:spPr>
          <a:xfrm>
            <a:off x="274320" y="4187952"/>
            <a:ext cx="4389000" cy="3474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db432b2860_1_538"/>
          <p:cNvSpPr/>
          <p:nvPr/>
        </p:nvSpPr>
        <p:spPr>
          <a:xfrm>
            <a:off x="384048" y="4224528"/>
            <a:ext cx="416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Outlier Removal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db432b2860_1_538"/>
          <p:cNvSpPr/>
          <p:nvPr/>
        </p:nvSpPr>
        <p:spPr>
          <a:xfrm>
            <a:off x="384048" y="4590288"/>
            <a:ext cx="4169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After first fit, the 2 windows with largest absolute residual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are dropped. Model is refit on the cleaned set.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db432b2860_1_538"/>
          <p:cNvSpPr/>
          <p:nvPr/>
        </p:nvSpPr>
        <p:spPr>
          <a:xfrm>
            <a:off x="4937760" y="1371600"/>
            <a:ext cx="3931800" cy="36393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db432b2860_1_538"/>
          <p:cNvSpPr/>
          <p:nvPr/>
        </p:nvSpPr>
        <p:spPr>
          <a:xfrm>
            <a:off x="5074920" y="141732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3A5C"/>
                </a:solidFill>
                <a:latin typeface="Trebuchet MS"/>
                <a:ea typeface="Trebuchet MS"/>
                <a:cs typeface="Trebuchet MS"/>
                <a:sym typeface="Trebuchet MS"/>
              </a:rPr>
              <a:t>Key Parameters &amp; Outputs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db432b2860_1_538"/>
          <p:cNvSpPr/>
          <p:nvPr/>
        </p:nvSpPr>
        <p:spPr>
          <a:xfrm>
            <a:off x="5074920" y="1828800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db432b2860_1_538"/>
          <p:cNvSpPr/>
          <p:nvPr/>
        </p:nvSpPr>
        <p:spPr>
          <a:xfrm>
            <a:off x="6903720" y="1828800"/>
            <a:ext cx="18288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db432b2860_1_538"/>
          <p:cNvSpPr/>
          <p:nvPr/>
        </p:nvSpPr>
        <p:spPr>
          <a:xfrm>
            <a:off x="6949440" y="1828800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2023–2025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db432b2860_1_538"/>
          <p:cNvSpPr/>
          <p:nvPr/>
        </p:nvSpPr>
        <p:spPr>
          <a:xfrm>
            <a:off x="5074920" y="2331720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Balance Point Tb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db432b2860_1_538"/>
          <p:cNvSpPr/>
          <p:nvPr/>
        </p:nvSpPr>
        <p:spPr>
          <a:xfrm>
            <a:off x="6903720" y="2331720"/>
            <a:ext cx="18288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db432b2860_1_538"/>
          <p:cNvSpPr/>
          <p:nvPr/>
        </p:nvSpPr>
        <p:spPr>
          <a:xfrm>
            <a:off x="6949440" y="2331720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60 °F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db432b2860_1_538"/>
          <p:cNvSpPr/>
          <p:nvPr/>
        </p:nvSpPr>
        <p:spPr>
          <a:xfrm>
            <a:off x="5074920" y="2834640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Design Min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b432b2860_1_538"/>
          <p:cNvSpPr/>
          <p:nvPr/>
        </p:nvSpPr>
        <p:spPr>
          <a:xfrm>
            <a:off x="6903720" y="2834640"/>
            <a:ext cx="18288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db432b2860_1_538"/>
          <p:cNvSpPr/>
          <p:nvPr/>
        </p:nvSpPr>
        <p:spPr>
          <a:xfrm>
            <a:off x="6949440" y="2834640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20 °F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db432b2860_1_538"/>
          <p:cNvSpPr/>
          <p:nvPr/>
        </p:nvSpPr>
        <p:spPr>
          <a:xfrm>
            <a:off x="5074920" y="3337560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Outliers Removed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db432b2860_1_538"/>
          <p:cNvSpPr/>
          <p:nvPr/>
        </p:nvSpPr>
        <p:spPr>
          <a:xfrm>
            <a:off x="6903720" y="3337560"/>
            <a:ext cx="18288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db432b2860_1_538"/>
          <p:cNvSpPr/>
          <p:nvPr/>
        </p:nvSpPr>
        <p:spPr>
          <a:xfrm>
            <a:off x="6949440" y="3337560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db432b2860_1_538"/>
          <p:cNvSpPr/>
          <p:nvPr/>
        </p:nvSpPr>
        <p:spPr>
          <a:xfrm>
            <a:off x="5074920" y="3840480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db432b2860_1_538"/>
          <p:cNvSpPr/>
          <p:nvPr/>
        </p:nvSpPr>
        <p:spPr>
          <a:xfrm>
            <a:off x="6903720" y="3840480"/>
            <a:ext cx="18288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db432b2860_1_538"/>
          <p:cNvSpPr/>
          <p:nvPr/>
        </p:nvSpPr>
        <p:spPr>
          <a:xfrm>
            <a:off x="6949440" y="3840480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 (slope), b (intercept), baseline_gpd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db432b2860_1_538"/>
          <p:cNvSpPr/>
          <p:nvPr/>
        </p:nvSpPr>
        <p:spPr>
          <a:xfrm>
            <a:off x="5074920" y="4343400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db432b2860_1_538"/>
          <p:cNvSpPr/>
          <p:nvPr/>
        </p:nvSpPr>
        <p:spPr>
          <a:xfrm>
            <a:off x="6903720" y="4343400"/>
            <a:ext cx="18288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db432b2860_1_538"/>
          <p:cNvSpPr/>
          <p:nvPr/>
        </p:nvSpPr>
        <p:spPr>
          <a:xfrm>
            <a:off x="6949440" y="4343400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R²_heat, R²_baseline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db432b2860_1_538"/>
          <p:cNvSpPr/>
          <p:nvPr/>
        </p:nvSpPr>
        <p:spPr>
          <a:xfrm>
            <a:off x="4937760" y="4572000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g3db432b2860_1_5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306063"/>
            <a:ext cx="752475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db432b2860_1_5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188686"/>
            <a:ext cx="5193185" cy="190635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db432b2860_1_578"/>
          <p:cNvSpPr txBox="1"/>
          <p:nvPr/>
        </p:nvSpPr>
        <p:spPr>
          <a:xfrm>
            <a:off x="4047663" y="2577843"/>
            <a:ext cx="278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m=-6.742649, b=415.5719, baseline=18.6820 (gal/day)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0.842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b432b2860_1_584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db432b2860_1_584"/>
          <p:cNvSpPr/>
          <p:nvPr/>
        </p:nvSpPr>
        <p:spPr>
          <a:xfrm>
            <a:off x="365760" y="109728"/>
            <a:ext cx="8412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Linear Duty Cycle Method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db432b2860_1_584"/>
          <p:cNvSpPr/>
          <p:nvPr/>
        </p:nvSpPr>
        <p:spPr>
          <a:xfrm>
            <a:off x="365760" y="100584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Translating Outdoor Temperature → Hourly Propane Demand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db432b2860_1_584"/>
          <p:cNvSpPr/>
          <p:nvPr/>
        </p:nvSpPr>
        <p:spPr>
          <a:xfrm>
            <a:off x="274320" y="1417320"/>
            <a:ext cx="4572000" cy="14631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db432b2860_1_584"/>
          <p:cNvSpPr/>
          <p:nvPr/>
        </p:nvSpPr>
        <p:spPr>
          <a:xfrm>
            <a:off x="274320" y="1417320"/>
            <a:ext cx="45720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db432b2860_1_584"/>
          <p:cNvSpPr/>
          <p:nvPr/>
        </p:nvSpPr>
        <p:spPr>
          <a:xfrm>
            <a:off x="384048" y="1453896"/>
            <a:ext cx="435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Duty Cycle Formula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db432b2860_1_584"/>
          <p:cNvSpPr/>
          <p:nvPr/>
        </p:nvSpPr>
        <p:spPr>
          <a:xfrm>
            <a:off x="384048" y="1819656"/>
            <a:ext cx="43524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DC = (T</a:t>
            </a:r>
            <a:r>
              <a:rPr baseline="-25000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− T</a:t>
            </a:r>
            <a:r>
              <a:rPr baseline="-25000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outdoor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 / (T</a:t>
            </a:r>
            <a:r>
              <a:rPr baseline="-25000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− T</a:t>
            </a:r>
            <a:r>
              <a:rPr baseline="-25000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design_min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Tb = 60°F (balance point)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design_min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= 20°F (design winter minimum)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DC is clipped to [0.0, 1.0].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db432b2860_1_584"/>
          <p:cNvSpPr/>
          <p:nvPr/>
        </p:nvSpPr>
        <p:spPr>
          <a:xfrm>
            <a:off x="274320" y="2971800"/>
            <a:ext cx="4572000" cy="1188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db432b2860_1_584"/>
          <p:cNvSpPr/>
          <p:nvPr/>
        </p:nvSpPr>
        <p:spPr>
          <a:xfrm>
            <a:off x="274320" y="2971800"/>
            <a:ext cx="4572000" cy="3474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db432b2860_1_584"/>
          <p:cNvSpPr/>
          <p:nvPr/>
        </p:nvSpPr>
        <p:spPr>
          <a:xfrm>
            <a:off x="384048" y="3008376"/>
            <a:ext cx="435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Engineering Storytelling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db432b2860_1_584"/>
          <p:cNvSpPr/>
          <p:nvPr/>
        </p:nvSpPr>
        <p:spPr>
          <a:xfrm>
            <a:off x="384048" y="3374136"/>
            <a:ext cx="4352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design minimum of 20°F reflects equipment sizing: the heating systems are designed to maintain comfortable indoor temperatures down to this outdoor threshold. Over the 2023–2025 period, temperatures fell below 20°F on only one day (1/13/2024), reaching a minimum of 16.8°F.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db432b2860_1_584"/>
          <p:cNvSpPr/>
          <p:nvPr/>
        </p:nvSpPr>
        <p:spPr>
          <a:xfrm>
            <a:off x="5120640" y="1417320"/>
            <a:ext cx="3749100" cy="27432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db432b2860_1_584"/>
          <p:cNvSpPr/>
          <p:nvPr/>
        </p:nvSpPr>
        <p:spPr>
          <a:xfrm>
            <a:off x="5257800" y="1481328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B3A5C"/>
                </a:solidFill>
                <a:latin typeface="Trebuchet MS"/>
                <a:ea typeface="Trebuchet MS"/>
                <a:cs typeface="Trebuchet MS"/>
                <a:sym typeface="Trebuchet MS"/>
              </a:rPr>
              <a:t>Duty Cycle at Key Temperatures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db432b2860_1_584"/>
          <p:cNvSpPr/>
          <p:nvPr/>
        </p:nvSpPr>
        <p:spPr>
          <a:xfrm>
            <a:off x="5212080" y="1920240"/>
            <a:ext cx="35661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db432b2860_1_584"/>
          <p:cNvSpPr/>
          <p:nvPr/>
        </p:nvSpPr>
        <p:spPr>
          <a:xfrm>
            <a:off x="5212080" y="1920240"/>
            <a:ext cx="63900" cy="438900"/>
          </a:xfrm>
          <a:prstGeom prst="rect">
            <a:avLst/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db432b2860_1_584"/>
          <p:cNvSpPr/>
          <p:nvPr/>
        </p:nvSpPr>
        <p:spPr>
          <a:xfrm>
            <a:off x="5349240" y="1956816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 = 20°F (design min)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db432b2860_1_584"/>
          <p:cNvSpPr/>
          <p:nvPr/>
        </p:nvSpPr>
        <p:spPr>
          <a:xfrm>
            <a:off x="7269480" y="1956816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5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4572A"/>
                </a:solidFill>
                <a:latin typeface="Calibri"/>
                <a:ea typeface="Calibri"/>
                <a:cs typeface="Calibri"/>
                <a:sym typeface="Calibri"/>
              </a:rPr>
              <a:t>DC = 1.0 → Full rated input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db432b2860_1_584"/>
          <p:cNvSpPr/>
          <p:nvPr/>
        </p:nvSpPr>
        <p:spPr>
          <a:xfrm>
            <a:off x="5212080" y="2450592"/>
            <a:ext cx="35661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db432b2860_1_584"/>
          <p:cNvSpPr/>
          <p:nvPr/>
        </p:nvSpPr>
        <p:spPr>
          <a:xfrm>
            <a:off x="5212080" y="2450592"/>
            <a:ext cx="63900" cy="438900"/>
          </a:xfrm>
          <a:prstGeom prst="rect">
            <a:avLst/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db432b2860_1_584"/>
          <p:cNvSpPr/>
          <p:nvPr/>
        </p:nvSpPr>
        <p:spPr>
          <a:xfrm>
            <a:off x="5349240" y="2487168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 = 40°F (cold day)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db432b2860_1_584"/>
          <p:cNvSpPr/>
          <p:nvPr/>
        </p:nvSpPr>
        <p:spPr>
          <a:xfrm>
            <a:off x="7269480" y="2487168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5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4572A"/>
                </a:solidFill>
                <a:latin typeface="Calibri"/>
                <a:ea typeface="Calibri"/>
                <a:cs typeface="Calibri"/>
                <a:sym typeface="Calibri"/>
              </a:rPr>
              <a:t>DC = 0.5 → Half rated input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db432b2860_1_584"/>
          <p:cNvSpPr/>
          <p:nvPr/>
        </p:nvSpPr>
        <p:spPr>
          <a:xfrm>
            <a:off x="5212080" y="2980944"/>
            <a:ext cx="35661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db432b2860_1_584"/>
          <p:cNvSpPr/>
          <p:nvPr/>
        </p:nvSpPr>
        <p:spPr>
          <a:xfrm>
            <a:off x="5212080" y="2980944"/>
            <a:ext cx="63900" cy="4389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db432b2860_1_584"/>
          <p:cNvSpPr/>
          <p:nvPr/>
        </p:nvSpPr>
        <p:spPr>
          <a:xfrm>
            <a:off x="5349240" y="301752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 = 60°F (balance pt)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db432b2860_1_584"/>
          <p:cNvSpPr/>
          <p:nvPr/>
        </p:nvSpPr>
        <p:spPr>
          <a:xfrm>
            <a:off x="7269480" y="3017520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DC = 0.0 → No heating needed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db432b2860_1_584"/>
          <p:cNvSpPr/>
          <p:nvPr/>
        </p:nvSpPr>
        <p:spPr>
          <a:xfrm>
            <a:off x="5212080" y="3511296"/>
            <a:ext cx="35661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db432b2860_1_584"/>
          <p:cNvSpPr/>
          <p:nvPr/>
        </p:nvSpPr>
        <p:spPr>
          <a:xfrm>
            <a:off x="5212080" y="3511296"/>
            <a:ext cx="63900" cy="4389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db432b2860_1_584"/>
          <p:cNvSpPr/>
          <p:nvPr/>
        </p:nvSpPr>
        <p:spPr>
          <a:xfrm>
            <a:off x="5349240" y="3547872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 = 75°F (summer)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db432b2860_1_584"/>
          <p:cNvSpPr/>
          <p:nvPr/>
        </p:nvSpPr>
        <p:spPr>
          <a:xfrm>
            <a:off x="7269480" y="3547872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DC = 0.0 → Clipped to zero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db432b2860_1_584"/>
          <p:cNvSpPr/>
          <p:nvPr/>
        </p:nvSpPr>
        <p:spPr>
          <a:xfrm>
            <a:off x="274320" y="4251960"/>
            <a:ext cx="8595300" cy="7314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db432b2860_1_584"/>
          <p:cNvSpPr/>
          <p:nvPr/>
        </p:nvSpPr>
        <p:spPr>
          <a:xfrm>
            <a:off x="457200" y="431596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3A5C"/>
                </a:solidFill>
                <a:latin typeface="Trebuchet MS"/>
                <a:ea typeface="Trebuchet MS"/>
                <a:cs typeface="Trebuchet MS"/>
                <a:sym typeface="Trebuchet MS"/>
              </a:rPr>
              <a:t>Hourly BTU/hr = Rated Input (BTU/hr) × Duty Cycle × Scale Factor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db432b2860_1_584"/>
          <p:cNvSpPr/>
          <p:nvPr/>
        </p:nvSpPr>
        <p:spPr>
          <a:xfrm>
            <a:off x="457200" y="459028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Scale factor calibrates unscaled model output to match top-down delivery-window targets.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g3db432b2860_1_6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87463"/>
            <a:ext cx="9143999" cy="256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b432b2860_1_624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db432b2860_1_624"/>
          <p:cNvSpPr/>
          <p:nvPr/>
        </p:nvSpPr>
        <p:spPr>
          <a:xfrm>
            <a:off x="365760" y="109728"/>
            <a:ext cx="8412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Scaling to Top-Down Targets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db432b2860_1_624"/>
          <p:cNvSpPr/>
          <p:nvPr/>
        </p:nvSpPr>
        <p:spPr>
          <a:xfrm>
            <a:off x="365760" y="96012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First, use regression/heating baseline to split </a:t>
            </a:r>
            <a:r>
              <a:rPr b="1"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propane into </a:t>
            </a:r>
            <a:r>
              <a:rPr b="1" i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heating</a:t>
            </a: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1" lang="en-US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non-heating</a:t>
            </a:r>
            <a:endParaRPr/>
          </a:p>
        </p:txBody>
      </p:sp>
      <p:sp>
        <p:nvSpPr>
          <p:cNvPr id="326" name="Google Shape;326;g3db432b2860_1_624"/>
          <p:cNvSpPr/>
          <p:nvPr/>
        </p:nvSpPr>
        <p:spPr>
          <a:xfrm>
            <a:off x="384048" y="1956816"/>
            <a:ext cx="389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Heating Scale Factor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7" name="Google Shape;327;g3db432b2860_1_624"/>
          <p:cNvGraphicFramePr/>
          <p:nvPr/>
        </p:nvGraphicFramePr>
        <p:xfrm>
          <a:off x="5074920" y="2893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{01D52326-E197-44F0-AE47-5C85C35B5551}</a:tableStyleId>
              </a:tblPr>
              <a:tblGrid>
                <a:gridCol w="640075"/>
                <a:gridCol w="1417325"/>
                <a:gridCol w="1600200"/>
              </a:tblGrid>
              <a:tr h="35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Heating Scale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572A">
                        <a:alpha val="702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Non-Heating Scale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>
                        <a:alpha val="70200"/>
                      </a:srgbClr>
                    </a:solidFill>
                  </a:tcPr>
                </a:tc>
              </a:tr>
              <a:tr h="35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1.2683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1.0793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5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1.1769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1.0434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5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1.2254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1.0636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28" name="Google Shape;328;g3db432b2860_1_624"/>
          <p:cNvSpPr/>
          <p:nvPr/>
        </p:nvSpPr>
        <p:spPr>
          <a:xfrm>
            <a:off x="274320" y="4864608"/>
            <a:ext cx="8595300" cy="2376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db432b2860_1_624"/>
          <p:cNvSpPr/>
          <p:nvPr/>
        </p:nvSpPr>
        <p:spPr>
          <a:xfrm>
            <a:off x="411480" y="4892040"/>
            <a:ext cx="832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Scale factors near 1.0 indicate a well-fitted bottom-up model.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g3db432b2860_1_6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43461"/>
            <a:ext cx="3931916" cy="92495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db432b2860_1_624"/>
          <p:cNvSpPr/>
          <p:nvPr/>
        </p:nvSpPr>
        <p:spPr>
          <a:xfrm>
            <a:off x="518160" y="213583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Regression baseline B</a:t>
            </a:r>
            <a:r>
              <a:rPr baseline="-25000"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reg</a:t>
            </a: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accounts for all non-weather sensitive use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is an assumed heating baseline from the boiler that is non-weather sensitive</a:t>
            </a:r>
            <a:endParaRPr/>
          </a:p>
        </p:txBody>
      </p:sp>
      <p:pic>
        <p:nvPicPr>
          <p:cNvPr id="332" name="Google Shape;332;g3db432b2860_1_624"/>
          <p:cNvPicPr preferRelativeResize="0"/>
          <p:nvPr/>
        </p:nvPicPr>
        <p:blipFill rotWithShape="1">
          <a:blip r:embed="rId4">
            <a:alphaModFix/>
          </a:blip>
          <a:srcRect b="0" l="0" r="42522" t="0"/>
          <a:stretch/>
        </p:blipFill>
        <p:spPr>
          <a:xfrm>
            <a:off x="634892" y="3184220"/>
            <a:ext cx="3294767" cy="1095868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db432b2860_1_624"/>
          <p:cNvSpPr/>
          <p:nvPr/>
        </p:nvSpPr>
        <p:spPr>
          <a:xfrm>
            <a:off x="274320" y="2721046"/>
            <a:ext cx="452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Scale factors: (Top-down regression divided by bottom-up accounting)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b432b2860_1_639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db432b2860_1_639"/>
          <p:cNvSpPr/>
          <p:nvPr/>
        </p:nvSpPr>
        <p:spPr>
          <a:xfrm>
            <a:off x="365760" y="109728"/>
            <a:ext cx="8412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Rated-Capacity Cap &amp; Redistribution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db432b2860_1_639"/>
          <p:cNvSpPr/>
          <p:nvPr/>
        </p:nvSpPr>
        <p:spPr>
          <a:xfrm>
            <a:off x="365760" y="100584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Preventing Physically Impossible Load Exceedances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db432b2860_1_639"/>
          <p:cNvSpPr/>
          <p:nvPr/>
        </p:nvSpPr>
        <p:spPr>
          <a:xfrm>
            <a:off x="365760" y="141732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After scaling, individual hourly loads may exceed a unit's rated input capacity. Excess energy is capped and redistributed within the same unit across hours where headroom exists.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db432b2860_1_639"/>
          <p:cNvSpPr/>
          <p:nvPr/>
        </p:nvSpPr>
        <p:spPr>
          <a:xfrm>
            <a:off x="274320" y="1965960"/>
            <a:ext cx="4114800" cy="15087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db432b2860_1_639"/>
          <p:cNvSpPr/>
          <p:nvPr/>
        </p:nvSpPr>
        <p:spPr>
          <a:xfrm>
            <a:off x="274320" y="1965960"/>
            <a:ext cx="4114800" cy="347400"/>
          </a:xfrm>
          <a:prstGeom prst="rect">
            <a:avLst/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db432b2860_1_639"/>
          <p:cNvSpPr/>
          <p:nvPr/>
        </p:nvSpPr>
        <p:spPr>
          <a:xfrm>
            <a:off x="384048" y="2002536"/>
            <a:ext cx="389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1 — Cap at Rated Input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db432b2860_1_639"/>
          <p:cNvSpPr/>
          <p:nvPr/>
        </p:nvSpPr>
        <p:spPr>
          <a:xfrm>
            <a:off x="384048" y="2368296"/>
            <a:ext cx="38952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1) Clip any hour that exceeds rated_input_btu_hr back down to the     nameplate max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2) Tally up the total excess Btu that got removed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db432b2860_1_639"/>
          <p:cNvSpPr/>
          <p:nvPr/>
        </p:nvSpPr>
        <p:spPr>
          <a:xfrm>
            <a:off x="4663440" y="1965960"/>
            <a:ext cx="4114800" cy="15087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db432b2860_1_639"/>
          <p:cNvSpPr/>
          <p:nvPr/>
        </p:nvSpPr>
        <p:spPr>
          <a:xfrm>
            <a:off x="4663440" y="1965960"/>
            <a:ext cx="41148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db432b2860_1_639"/>
          <p:cNvSpPr/>
          <p:nvPr/>
        </p:nvSpPr>
        <p:spPr>
          <a:xfrm>
            <a:off x="4773168" y="2002536"/>
            <a:ext cx="389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2 — Redistribute Excess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db432b2860_1_639"/>
          <p:cNvSpPr/>
          <p:nvPr/>
        </p:nvSpPr>
        <p:spPr>
          <a:xfrm>
            <a:off x="4773168" y="2368296"/>
            <a:ext cx="38952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excess Btu removed by the cap are spread back across all hours of that unit, proportional to how much headroom each hour has below the nameplate max.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 practice this can bleed a small amount of load into low-demand hours (like summer), since those hours have the most headroom.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db432b2860_1_639"/>
          <p:cNvSpPr/>
          <p:nvPr/>
        </p:nvSpPr>
        <p:spPr>
          <a:xfrm>
            <a:off x="274320" y="3611880"/>
            <a:ext cx="8595300" cy="15087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db432b2860_1_639"/>
          <p:cNvSpPr/>
          <p:nvPr/>
        </p:nvSpPr>
        <p:spPr>
          <a:xfrm>
            <a:off x="457200" y="365760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B3A5C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db432b2860_1_639"/>
          <p:cNvSpPr/>
          <p:nvPr/>
        </p:nvSpPr>
        <p:spPr>
          <a:xfrm>
            <a:off x="365760" y="3986784"/>
            <a:ext cx="3840600" cy="777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db432b2860_1_639"/>
          <p:cNvSpPr/>
          <p:nvPr/>
        </p:nvSpPr>
        <p:spPr>
          <a:xfrm>
            <a:off x="411480" y="3986784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Before (unclipped)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db432b2860_1_639"/>
          <p:cNvSpPr/>
          <p:nvPr/>
        </p:nvSpPr>
        <p:spPr>
          <a:xfrm>
            <a:off x="411480" y="4224528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Hour 1: 420,000 BTU/hr ← exceeds 378,000 rated cap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Hour 2: 310,000 BTU/hr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Hour 3: 295,000 BTU/hr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db432b2860_1_639"/>
          <p:cNvSpPr/>
          <p:nvPr/>
        </p:nvSpPr>
        <p:spPr>
          <a:xfrm>
            <a:off x="4572000" y="3986784"/>
            <a:ext cx="4206300" cy="777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db432b2860_1_639"/>
          <p:cNvSpPr/>
          <p:nvPr/>
        </p:nvSpPr>
        <p:spPr>
          <a:xfrm>
            <a:off x="4617720" y="3986784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After (clipped + redistributed)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db432b2860_1_639"/>
          <p:cNvSpPr/>
          <p:nvPr/>
        </p:nvSpPr>
        <p:spPr>
          <a:xfrm>
            <a:off x="4617720" y="4224528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Hour 1: 378,000 BTU/hr (clipped; 42,000 excess)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Hour 2: 310,000 + 24,500 = 334,500 BTU/hr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Hour 3: 295,000 + 17,500 = 312,500 BTU/hr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db432b2860_1_639"/>
          <p:cNvSpPr/>
          <p:nvPr/>
        </p:nvSpPr>
        <p:spPr>
          <a:xfrm>
            <a:off x="4206240" y="4224528"/>
            <a:ext cx="365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g3db432b2860_1_6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6763"/>
            <a:ext cx="9143999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db432b2860_1_664"/>
          <p:cNvSpPr txBox="1"/>
          <p:nvPr/>
        </p:nvSpPr>
        <p:spPr>
          <a:xfrm>
            <a:off x="1423480" y="4079290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Rated: 400,000 BTU/hr input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b432b2860_1_669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db432b2860_1_669"/>
          <p:cNvSpPr/>
          <p:nvPr/>
        </p:nvSpPr>
        <p:spPr>
          <a:xfrm>
            <a:off x="365760" y="91440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rebuchet MS"/>
              <a:buNone/>
            </a:pPr>
            <a:r>
              <a:rPr b="1" lang="en-US" sz="2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Boiler — Primary Space Heating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db432b2860_1_669"/>
          <p:cNvSpPr/>
          <p:nvPr/>
        </p:nvSpPr>
        <p:spPr>
          <a:xfrm>
            <a:off x="320040" y="658368"/>
            <a:ext cx="1371600" cy="219600"/>
          </a:xfrm>
          <a:prstGeom prst="roundRect">
            <a:avLst>
              <a:gd fmla="val 25000" name="adj"/>
            </a:avLst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db432b2860_1_669"/>
          <p:cNvSpPr/>
          <p:nvPr/>
        </p:nvSpPr>
        <p:spPr>
          <a:xfrm>
            <a:off x="320040" y="658368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lang="en-US" sz="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HEATING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db432b2860_1_669"/>
          <p:cNvSpPr/>
          <p:nvPr/>
        </p:nvSpPr>
        <p:spPr>
          <a:xfrm>
            <a:off x="1828800" y="676656"/>
            <a:ext cx="694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DE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AACDE8"/>
                </a:solidFill>
                <a:latin typeface="Calibri"/>
                <a:ea typeface="Calibri"/>
                <a:cs typeface="Calibri"/>
                <a:sym typeface="Calibri"/>
              </a:rPr>
              <a:t>unit_1 · Heating Equipment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db432b2860_1_669"/>
          <p:cNvSpPr/>
          <p:nvPr/>
        </p:nvSpPr>
        <p:spPr>
          <a:xfrm>
            <a:off x="274320" y="1051560"/>
            <a:ext cx="2743200" cy="22128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db432b2860_1_669"/>
          <p:cNvSpPr/>
          <p:nvPr/>
        </p:nvSpPr>
        <p:spPr>
          <a:xfrm>
            <a:off x="274320" y="1051560"/>
            <a:ext cx="2743200" cy="3474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db432b2860_1_669"/>
          <p:cNvSpPr/>
          <p:nvPr/>
        </p:nvSpPr>
        <p:spPr>
          <a:xfrm>
            <a:off x="38404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Scheduling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db432b2860_1_669"/>
          <p:cNvSpPr/>
          <p:nvPr/>
        </p:nvSpPr>
        <p:spPr>
          <a:xfrm>
            <a:off x="38404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Days: All 7 days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24/7 heating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db432b2860_1_669"/>
          <p:cNvSpPr/>
          <p:nvPr/>
        </p:nvSpPr>
        <p:spPr>
          <a:xfrm>
            <a:off x="3154680" y="1051560"/>
            <a:ext cx="2743200" cy="22128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db432b2860_1_669"/>
          <p:cNvSpPr/>
          <p:nvPr/>
        </p:nvSpPr>
        <p:spPr>
          <a:xfrm>
            <a:off x="3154680" y="1051560"/>
            <a:ext cx="2743200" cy="347400"/>
          </a:xfrm>
          <a:prstGeom prst="rect">
            <a:avLst/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db432b2860_1_669"/>
          <p:cNvSpPr/>
          <p:nvPr/>
        </p:nvSpPr>
        <p:spPr>
          <a:xfrm>
            <a:off x="326440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Equipment Specs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db432b2860_1_669"/>
          <p:cNvSpPr/>
          <p:nvPr/>
        </p:nvSpPr>
        <p:spPr>
          <a:xfrm>
            <a:off x="326440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Rated: 378,000 BTU/hr input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314,000 BTU/hr output (83.1% efficiency)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db432b2860_1_669"/>
          <p:cNvSpPr/>
          <p:nvPr/>
        </p:nvSpPr>
        <p:spPr>
          <a:xfrm>
            <a:off x="6035040" y="1051560"/>
            <a:ext cx="2834700" cy="22128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db432b2860_1_669"/>
          <p:cNvSpPr/>
          <p:nvPr/>
        </p:nvSpPr>
        <p:spPr>
          <a:xfrm>
            <a:off x="6035040" y="1051560"/>
            <a:ext cx="28347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db432b2860_1_669"/>
          <p:cNvSpPr/>
          <p:nvPr/>
        </p:nvSpPr>
        <p:spPr>
          <a:xfrm>
            <a:off x="6144768" y="1088136"/>
            <a:ext cx="2615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Parameters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db432b2860_1_669"/>
          <p:cNvSpPr/>
          <p:nvPr/>
        </p:nvSpPr>
        <p:spPr>
          <a:xfrm>
            <a:off x="6144768" y="1453896"/>
            <a:ext cx="26151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Thermostat-fighting override: boiler subject to hysteresis shutoff.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Baseline fighting load (+30% duty-cycle floor) applied to this unit only.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db432b2860_1_669"/>
          <p:cNvSpPr/>
          <p:nvPr/>
        </p:nvSpPr>
        <p:spPr>
          <a:xfrm>
            <a:off x="274320" y="276148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db432b2860_1_669"/>
          <p:cNvSpPr/>
          <p:nvPr/>
        </p:nvSpPr>
        <p:spPr>
          <a:xfrm>
            <a:off x="4663440" y="276148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db432b2860_1_669"/>
          <p:cNvSpPr/>
          <p:nvPr/>
        </p:nvSpPr>
        <p:spPr>
          <a:xfrm>
            <a:off x="5065776" y="2807208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db432b2860_1_669"/>
          <p:cNvSpPr/>
          <p:nvPr/>
        </p:nvSpPr>
        <p:spPr>
          <a:xfrm>
            <a:off x="274320" y="3337560"/>
            <a:ext cx="8595300" cy="16002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db432b2860_1_669"/>
          <p:cNvSpPr/>
          <p:nvPr/>
        </p:nvSpPr>
        <p:spPr>
          <a:xfrm>
            <a:off x="274320" y="3337560"/>
            <a:ext cx="73200" cy="1600200"/>
          </a:xfrm>
          <a:prstGeom prst="rect">
            <a:avLst/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db432b2860_1_669"/>
          <p:cNvSpPr/>
          <p:nvPr/>
        </p:nvSpPr>
        <p:spPr>
          <a:xfrm>
            <a:off x="475488" y="33832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572A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D4572A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Engineering 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db432b2860_1_669"/>
          <p:cNvSpPr/>
          <p:nvPr/>
        </p:nvSpPr>
        <p:spPr>
          <a:xfrm>
            <a:off x="475488" y="3694176"/>
            <a:ext cx="81840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boiler is the dominant propane consumer. The 30% DC floor captures controls hysteresis (AC vs. boiler fighting) that persists even in mild weather.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b432b2860_1_697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db432b2860_1_697"/>
          <p:cNvSpPr/>
          <p:nvPr/>
        </p:nvSpPr>
        <p:spPr>
          <a:xfrm>
            <a:off x="365760" y="109728"/>
            <a:ext cx="8412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Thermostat Fighting &amp; Boiler Hysteresis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db432b2860_1_697"/>
          <p:cNvSpPr/>
          <p:nvPr/>
        </p:nvSpPr>
        <p:spPr>
          <a:xfrm>
            <a:off x="365760" y="100584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Operational Reality — Boiler Cycling by Facilities Staff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db432b2860_1_697"/>
          <p:cNvSpPr/>
          <p:nvPr/>
        </p:nvSpPr>
        <p:spPr>
          <a:xfrm>
            <a:off x="274320" y="1417320"/>
            <a:ext cx="4937700" cy="1234500"/>
          </a:xfrm>
          <a:prstGeom prst="rect">
            <a:avLst/>
          </a:prstGeom>
          <a:solidFill>
            <a:srgbClr val="FFF8E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db432b2860_1_697"/>
          <p:cNvSpPr/>
          <p:nvPr/>
        </p:nvSpPr>
        <p:spPr>
          <a:xfrm>
            <a:off x="457200" y="146304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572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D4572A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db432b2860_1_697"/>
          <p:cNvSpPr/>
          <p:nvPr/>
        </p:nvSpPr>
        <p:spPr>
          <a:xfrm>
            <a:off x="411480" y="1755648"/>
            <a:ext cx="46635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During mild weather, the boiler and AC system fight each other — the boiler heats while AC cools. Facilities staff intervene manually, cycling the boiler off when it is locally too hot, and back on when it gets cold again.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db432b2860_1_697"/>
          <p:cNvSpPr/>
          <p:nvPr/>
        </p:nvSpPr>
        <p:spPr>
          <a:xfrm>
            <a:off x="274320" y="2761488"/>
            <a:ext cx="4937700" cy="21489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db432b2860_1_697"/>
          <p:cNvSpPr/>
          <p:nvPr/>
        </p:nvSpPr>
        <p:spPr>
          <a:xfrm>
            <a:off x="274320" y="2761488"/>
            <a:ext cx="49377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db432b2860_1_697"/>
          <p:cNvSpPr/>
          <p:nvPr/>
        </p:nvSpPr>
        <p:spPr>
          <a:xfrm>
            <a:off x="384048" y="2798064"/>
            <a:ext cx="471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Hysteresis State Machine Parameters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db432b2860_1_697"/>
          <p:cNvSpPr/>
          <p:nvPr/>
        </p:nvSpPr>
        <p:spPr>
          <a:xfrm>
            <a:off x="384048" y="3163824"/>
            <a:ext cx="47184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Shutoff threshold: 60°F (BOILER_SHUTOFF_TEMP_F)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Restart threshold: 54°F (BOILER_RESTART_TEMP_F)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Shutoff delay: 12 hrs above threshold before staff acts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Restart delay: 12 hrs below threshold before restoration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State: boiler_on = True → False (shutoff) → True (restart)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db432b2860_1_697"/>
          <p:cNvSpPr/>
          <p:nvPr/>
        </p:nvSpPr>
        <p:spPr>
          <a:xfrm>
            <a:off x="5486400" y="1417320"/>
            <a:ext cx="3383400" cy="34929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db432b2860_1_697"/>
          <p:cNvSpPr/>
          <p:nvPr/>
        </p:nvSpPr>
        <p:spPr>
          <a:xfrm>
            <a:off x="5623560" y="1481328"/>
            <a:ext cx="310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B3A5C"/>
                </a:solidFill>
                <a:latin typeface="Trebuchet MS"/>
                <a:ea typeface="Trebuchet MS"/>
                <a:cs typeface="Trebuchet MS"/>
                <a:sym typeface="Trebuchet MS"/>
              </a:rPr>
              <a:t>State Machine Logic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db432b2860_1_697"/>
          <p:cNvSpPr/>
          <p:nvPr/>
        </p:nvSpPr>
        <p:spPr>
          <a:xfrm>
            <a:off x="5852160" y="1874520"/>
            <a:ext cx="1280100" cy="502800"/>
          </a:xfrm>
          <a:prstGeom prst="rect">
            <a:avLst/>
          </a:prstGeom>
          <a:solidFill>
            <a:srgbClr val="02C39A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db432b2860_1_697"/>
          <p:cNvSpPr/>
          <p:nvPr/>
        </p:nvSpPr>
        <p:spPr>
          <a:xfrm>
            <a:off x="5852160" y="1874520"/>
            <a:ext cx="128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BOILER 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db432b2860_1_697"/>
          <p:cNvSpPr/>
          <p:nvPr/>
        </p:nvSpPr>
        <p:spPr>
          <a:xfrm>
            <a:off x="7315200" y="1874520"/>
            <a:ext cx="1280100" cy="502800"/>
          </a:xfrm>
          <a:prstGeom prst="rect">
            <a:avLst/>
          </a:prstGeom>
          <a:solidFill>
            <a:srgbClr val="D4572A"/>
          </a:solidFill>
          <a:ln cap="flat" cmpd="sng" w="1905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db432b2860_1_697"/>
          <p:cNvSpPr/>
          <p:nvPr/>
        </p:nvSpPr>
        <p:spPr>
          <a:xfrm>
            <a:off x="7315200" y="1874520"/>
            <a:ext cx="128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BOILER OFF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g3db432b2860_1_697"/>
          <p:cNvCxnSpPr/>
          <p:nvPr/>
        </p:nvCxnSpPr>
        <p:spPr>
          <a:xfrm>
            <a:off x="7132320" y="2011680"/>
            <a:ext cx="183000" cy="0"/>
          </a:xfrm>
          <a:prstGeom prst="straightConnector1">
            <a:avLst/>
          </a:prstGeom>
          <a:noFill/>
          <a:ln cap="flat" cmpd="sng" w="254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g3db432b2860_1_697"/>
          <p:cNvSpPr/>
          <p:nvPr/>
        </p:nvSpPr>
        <p:spPr>
          <a:xfrm>
            <a:off x="5669280" y="2468880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57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4572A"/>
                </a:solidFill>
                <a:latin typeface="Calibri"/>
                <a:ea typeface="Calibri"/>
                <a:cs typeface="Calibri"/>
                <a:sym typeface="Calibri"/>
              </a:rPr>
              <a:t>T &gt; 60°F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57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4572A"/>
                </a:solidFill>
                <a:latin typeface="Calibri"/>
                <a:ea typeface="Calibri"/>
                <a:cs typeface="Calibri"/>
                <a:sym typeface="Calibri"/>
              </a:rPr>
              <a:t>for 12 hrs →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db432b2860_1_697"/>
          <p:cNvSpPr/>
          <p:nvPr/>
        </p:nvSpPr>
        <p:spPr>
          <a:xfrm>
            <a:off x="6995160" y="2478024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← T &lt; 54°F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for 12 hrs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db432b2860_1_697"/>
          <p:cNvSpPr/>
          <p:nvPr/>
        </p:nvSpPr>
        <p:spPr>
          <a:xfrm>
            <a:off x="5532120" y="3657600"/>
            <a:ext cx="329190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db432b2860_1_697"/>
          <p:cNvSpPr/>
          <p:nvPr/>
        </p:nvSpPr>
        <p:spPr>
          <a:xfrm>
            <a:off x="5623560" y="3730752"/>
            <a:ext cx="3108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BOILER OFF: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Weather-driven BTU/hr = 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Baseline-fighting load = 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Both go to zero — no propane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consumed during shutoff window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g3db432b2860_1_7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91022"/>
            <a:ext cx="9144001" cy="3161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b432b2860_1_726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db432b2860_1_726"/>
          <p:cNvSpPr/>
          <p:nvPr/>
        </p:nvSpPr>
        <p:spPr>
          <a:xfrm>
            <a:off x="365760" y="91440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rebuchet MS"/>
              <a:buNone/>
            </a:pPr>
            <a:r>
              <a:rPr b="1" lang="en-US" sz="2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CFS Furnaces 1, 2 &amp; 3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db432b2860_1_726"/>
          <p:cNvSpPr/>
          <p:nvPr/>
        </p:nvSpPr>
        <p:spPr>
          <a:xfrm>
            <a:off x="320040" y="658368"/>
            <a:ext cx="1371600" cy="219600"/>
          </a:xfrm>
          <a:prstGeom prst="roundRect">
            <a:avLst>
              <a:gd fmla="val 25000" name="adj"/>
            </a:avLst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db432b2860_1_726"/>
          <p:cNvSpPr/>
          <p:nvPr/>
        </p:nvSpPr>
        <p:spPr>
          <a:xfrm>
            <a:off x="320040" y="658368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lang="en-US" sz="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HEATING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db432b2860_1_726"/>
          <p:cNvSpPr/>
          <p:nvPr/>
        </p:nvSpPr>
        <p:spPr>
          <a:xfrm>
            <a:off x="1828800" y="676656"/>
            <a:ext cx="694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DE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AACDE8"/>
                </a:solidFill>
                <a:latin typeface="Calibri"/>
                <a:ea typeface="Calibri"/>
                <a:cs typeface="Calibri"/>
                <a:sym typeface="Calibri"/>
              </a:rPr>
              <a:t>unit_3 · Heating Equipment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db432b2860_1_726"/>
          <p:cNvSpPr/>
          <p:nvPr/>
        </p:nvSpPr>
        <p:spPr>
          <a:xfrm>
            <a:off x="274320" y="1051560"/>
            <a:ext cx="2743200" cy="21855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db432b2860_1_726"/>
          <p:cNvSpPr/>
          <p:nvPr/>
        </p:nvSpPr>
        <p:spPr>
          <a:xfrm>
            <a:off x="274320" y="1051560"/>
            <a:ext cx="2743200" cy="3474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db432b2860_1_726"/>
          <p:cNvSpPr/>
          <p:nvPr/>
        </p:nvSpPr>
        <p:spPr>
          <a:xfrm>
            <a:off x="38404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Scheduling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db432b2860_1_726"/>
          <p:cNvSpPr/>
          <p:nvPr/>
        </p:nvSpPr>
        <p:spPr>
          <a:xfrm>
            <a:off x="38404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Days: All 7 days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24/7 heating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db432b2860_1_726"/>
          <p:cNvSpPr/>
          <p:nvPr/>
        </p:nvSpPr>
        <p:spPr>
          <a:xfrm>
            <a:off x="3154680" y="1051560"/>
            <a:ext cx="2743200" cy="21855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db432b2860_1_726"/>
          <p:cNvSpPr/>
          <p:nvPr/>
        </p:nvSpPr>
        <p:spPr>
          <a:xfrm>
            <a:off x="3154680" y="1051560"/>
            <a:ext cx="2743200" cy="347400"/>
          </a:xfrm>
          <a:prstGeom prst="rect">
            <a:avLst/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db432b2860_1_726"/>
          <p:cNvSpPr/>
          <p:nvPr/>
        </p:nvSpPr>
        <p:spPr>
          <a:xfrm>
            <a:off x="326440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Equipment Specs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db432b2860_1_726"/>
          <p:cNvSpPr/>
          <p:nvPr/>
        </p:nvSpPr>
        <p:spPr>
          <a:xfrm>
            <a:off x="326440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Rated: 222,000 BTU/hr input (3 × 74,000 BTU/hr)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177,600 BTU/hr output (80% efficiency)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db432b2860_1_726"/>
          <p:cNvSpPr/>
          <p:nvPr/>
        </p:nvSpPr>
        <p:spPr>
          <a:xfrm>
            <a:off x="6035040" y="1051560"/>
            <a:ext cx="2834700" cy="21855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db432b2860_1_726"/>
          <p:cNvSpPr/>
          <p:nvPr/>
        </p:nvSpPr>
        <p:spPr>
          <a:xfrm>
            <a:off x="6035040" y="1051560"/>
            <a:ext cx="28347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db432b2860_1_726"/>
          <p:cNvSpPr/>
          <p:nvPr/>
        </p:nvSpPr>
        <p:spPr>
          <a:xfrm>
            <a:off x="6144768" y="1088136"/>
            <a:ext cx="2615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Parameters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db432b2860_1_726"/>
          <p:cNvSpPr/>
          <p:nvPr/>
        </p:nvSpPr>
        <p:spPr>
          <a:xfrm>
            <a:off x="6144768" y="1453896"/>
            <a:ext cx="26151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Three identical 74,000 BTU/hr furnaces modeled as a single aggregate unit.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thermostat-fighting override or baseline floor applied to this unit.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db432b2860_1_726"/>
          <p:cNvSpPr/>
          <p:nvPr/>
        </p:nvSpPr>
        <p:spPr>
          <a:xfrm>
            <a:off x="4663440" y="276148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db432b2860_1_726"/>
          <p:cNvSpPr/>
          <p:nvPr/>
        </p:nvSpPr>
        <p:spPr>
          <a:xfrm>
            <a:off x="5065776" y="2807208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db432b2860_1_726"/>
          <p:cNvSpPr/>
          <p:nvPr/>
        </p:nvSpPr>
        <p:spPr>
          <a:xfrm>
            <a:off x="274320" y="3337560"/>
            <a:ext cx="8595300" cy="16002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db432b2860_1_726"/>
          <p:cNvSpPr/>
          <p:nvPr/>
        </p:nvSpPr>
        <p:spPr>
          <a:xfrm>
            <a:off x="274320" y="3337560"/>
            <a:ext cx="73200" cy="1600200"/>
          </a:xfrm>
          <a:prstGeom prst="rect">
            <a:avLst/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db432b2860_1_726"/>
          <p:cNvSpPr/>
          <p:nvPr/>
        </p:nvSpPr>
        <p:spPr>
          <a:xfrm>
            <a:off x="475488" y="33832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572A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D4572A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Engineering 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db432b2860_1_726"/>
          <p:cNvSpPr/>
          <p:nvPr/>
        </p:nvSpPr>
        <p:spPr>
          <a:xfrm>
            <a:off x="475488" y="3694176"/>
            <a:ext cx="81840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CFS furnaces operates similarly to the boiler, but with no baseline floor as assumed to be no thermostat fighting.The three-unit aggregate simplifies the model without meaningful loss of accuracy.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g3db432b2860_1_7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62025"/>
            <a:ext cx="9143999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b432b2860_1_757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db432b2860_1_757"/>
          <p:cNvSpPr/>
          <p:nvPr/>
        </p:nvSpPr>
        <p:spPr>
          <a:xfrm>
            <a:off x="365760" y="91440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rebuchet MS"/>
              <a:buNone/>
            </a:pPr>
            <a:r>
              <a:rPr b="1" lang="en-US" sz="2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Gym Furnace — Cold-Soak Recovery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db432b2860_1_757"/>
          <p:cNvSpPr/>
          <p:nvPr/>
        </p:nvSpPr>
        <p:spPr>
          <a:xfrm>
            <a:off x="320040" y="658368"/>
            <a:ext cx="1371600" cy="219600"/>
          </a:xfrm>
          <a:prstGeom prst="roundRect">
            <a:avLst>
              <a:gd fmla="val 25000" name="adj"/>
            </a:avLst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db432b2860_1_757"/>
          <p:cNvSpPr/>
          <p:nvPr/>
        </p:nvSpPr>
        <p:spPr>
          <a:xfrm>
            <a:off x="320040" y="658368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lang="en-US" sz="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HEATING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db432b2860_1_757"/>
          <p:cNvSpPr/>
          <p:nvPr/>
        </p:nvSpPr>
        <p:spPr>
          <a:xfrm>
            <a:off x="1828800" y="676656"/>
            <a:ext cx="694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DE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AACDE8"/>
                </a:solidFill>
                <a:latin typeface="Calibri"/>
                <a:ea typeface="Calibri"/>
                <a:cs typeface="Calibri"/>
                <a:sym typeface="Calibri"/>
              </a:rPr>
              <a:t>unit_2 · Heating Equipment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db432b2860_1_757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db432b2860_1_757"/>
          <p:cNvSpPr/>
          <p:nvPr/>
        </p:nvSpPr>
        <p:spPr>
          <a:xfrm>
            <a:off x="274320" y="1051560"/>
            <a:ext cx="2743200" cy="3474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db432b2860_1_757"/>
          <p:cNvSpPr/>
          <p:nvPr/>
        </p:nvSpPr>
        <p:spPr>
          <a:xfrm>
            <a:off x="38404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Scheduling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db432b2860_1_757"/>
          <p:cNvSpPr/>
          <p:nvPr/>
        </p:nvSpPr>
        <p:spPr>
          <a:xfrm>
            <a:off x="38404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Days: All 7 days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3:00 PM – 9:00 PM (occupied only)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setback heat (setback_temp_f = 0°F → DC = 0 when unoccupied)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db432b2860_1_757"/>
          <p:cNvSpPr/>
          <p:nvPr/>
        </p:nvSpPr>
        <p:spPr>
          <a:xfrm>
            <a:off x="3154680" y="105156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db432b2860_1_757"/>
          <p:cNvSpPr/>
          <p:nvPr/>
        </p:nvSpPr>
        <p:spPr>
          <a:xfrm>
            <a:off x="3154680" y="1051560"/>
            <a:ext cx="2743200" cy="347400"/>
          </a:xfrm>
          <a:prstGeom prst="rect">
            <a:avLst/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db432b2860_1_757"/>
          <p:cNvSpPr/>
          <p:nvPr/>
        </p:nvSpPr>
        <p:spPr>
          <a:xfrm>
            <a:off x="326440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Equipment Specs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db432b2860_1_757"/>
          <p:cNvSpPr/>
          <p:nvPr/>
        </p:nvSpPr>
        <p:spPr>
          <a:xfrm>
            <a:off x="326440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Rated: 400,000 BTU/hr input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324,000 BTU/hr output (81% efficiency)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db432b2860_1_757"/>
          <p:cNvSpPr/>
          <p:nvPr/>
        </p:nvSpPr>
        <p:spPr>
          <a:xfrm>
            <a:off x="6035040" y="1051560"/>
            <a:ext cx="28347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db432b2860_1_757"/>
          <p:cNvSpPr/>
          <p:nvPr/>
        </p:nvSpPr>
        <p:spPr>
          <a:xfrm>
            <a:off x="6035040" y="1051560"/>
            <a:ext cx="28347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db432b2860_1_757"/>
          <p:cNvSpPr/>
          <p:nvPr/>
        </p:nvSpPr>
        <p:spPr>
          <a:xfrm>
            <a:off x="6144768" y="1088136"/>
            <a:ext cx="2615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Parameters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db432b2860_1_757"/>
          <p:cNvSpPr/>
          <p:nvPr/>
        </p:nvSpPr>
        <p:spPr>
          <a:xfrm>
            <a:off x="6144768" y="1453896"/>
            <a:ext cx="26151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Cold-soak recovery: first 3 hours of each occupied block use 70°F balance point instead of 60°F.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thermostat-fighting override or baseline floor applied to this unit.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db432b2860_1_757"/>
          <p:cNvSpPr/>
          <p:nvPr/>
        </p:nvSpPr>
        <p:spPr>
          <a:xfrm>
            <a:off x="274320" y="2761488"/>
            <a:ext cx="4206300" cy="475500"/>
          </a:xfrm>
          <a:prstGeom prst="rect">
            <a:avLst/>
          </a:prstGeom>
          <a:solidFill>
            <a:srgbClr val="FFF8E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db432b2860_1_757"/>
          <p:cNvSpPr/>
          <p:nvPr/>
        </p:nvSpPr>
        <p:spPr>
          <a:xfrm>
            <a:off x="274320" y="2761488"/>
            <a:ext cx="347400" cy="475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db432b2860_1_757"/>
          <p:cNvSpPr/>
          <p:nvPr/>
        </p:nvSpPr>
        <p:spPr>
          <a:xfrm>
            <a:off x="274320" y="276148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db432b2860_1_757"/>
          <p:cNvSpPr/>
          <p:nvPr/>
        </p:nvSpPr>
        <p:spPr>
          <a:xfrm>
            <a:off x="676656" y="2807208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Gym balance point is 70°F to represent cold-soak recovery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db432b2860_1_757"/>
          <p:cNvSpPr/>
          <p:nvPr/>
        </p:nvSpPr>
        <p:spPr>
          <a:xfrm>
            <a:off x="4663440" y="2761488"/>
            <a:ext cx="4206300" cy="475500"/>
          </a:xfrm>
          <a:prstGeom prst="rect">
            <a:avLst/>
          </a:prstGeom>
          <a:solidFill>
            <a:srgbClr val="FFF8E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db432b2860_1_757"/>
          <p:cNvSpPr/>
          <p:nvPr/>
        </p:nvSpPr>
        <p:spPr>
          <a:xfrm>
            <a:off x="4663440" y="2761488"/>
            <a:ext cx="347400" cy="475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db432b2860_1_757"/>
          <p:cNvSpPr/>
          <p:nvPr/>
        </p:nvSpPr>
        <p:spPr>
          <a:xfrm>
            <a:off x="4663440" y="276148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db432b2860_1_757"/>
          <p:cNvSpPr/>
          <p:nvPr/>
        </p:nvSpPr>
        <p:spPr>
          <a:xfrm>
            <a:off x="5065776" y="2807208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Cold-soak recovery period lasts 3 hours from first occupied hour each session.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db432b2860_1_757"/>
          <p:cNvSpPr/>
          <p:nvPr/>
        </p:nvSpPr>
        <p:spPr>
          <a:xfrm>
            <a:off x="274320" y="3337560"/>
            <a:ext cx="8595300" cy="16002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db432b2860_1_757"/>
          <p:cNvSpPr/>
          <p:nvPr/>
        </p:nvSpPr>
        <p:spPr>
          <a:xfrm>
            <a:off x="274320" y="3337560"/>
            <a:ext cx="73200" cy="1600200"/>
          </a:xfrm>
          <a:prstGeom prst="rect">
            <a:avLst/>
          </a:prstGeom>
          <a:solidFill>
            <a:srgbClr val="D4572A"/>
          </a:solidFill>
          <a:ln cap="flat" cmpd="sng" w="12700">
            <a:solidFill>
              <a:srgbClr val="D45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db432b2860_1_757"/>
          <p:cNvSpPr/>
          <p:nvPr/>
        </p:nvSpPr>
        <p:spPr>
          <a:xfrm>
            <a:off x="475488" y="33832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572A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D4572A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Engineering 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db432b2860_1_757"/>
          <p:cNvSpPr/>
          <p:nvPr/>
        </p:nvSpPr>
        <p:spPr>
          <a:xfrm>
            <a:off x="475488" y="3694176"/>
            <a:ext cx="81840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gym sits unoccupied all morning; the building cools toward outdoor temperature. When staff arrive at 3 PM the furnace must overcome both the steady-state heat loss AND re-heat the thermal mass — modeled as a higher effective balance point during the first 3 hours of each occupied block.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g3db432b2860_1_7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71750"/>
            <a:ext cx="7412475" cy="2609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3db432b2860_1_7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67" y="0"/>
            <a:ext cx="7412475" cy="2609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b432b2860_1_795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db432b2860_1_795"/>
          <p:cNvSpPr/>
          <p:nvPr/>
        </p:nvSpPr>
        <p:spPr>
          <a:xfrm>
            <a:off x="365760" y="91440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rebuchet MS"/>
              <a:buNone/>
            </a:pPr>
            <a:r>
              <a:rPr b="1" lang="en-US" sz="2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Elder Center Stove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db432b2860_1_795"/>
          <p:cNvSpPr/>
          <p:nvPr/>
        </p:nvSpPr>
        <p:spPr>
          <a:xfrm>
            <a:off x="320040" y="658368"/>
            <a:ext cx="1371600" cy="219600"/>
          </a:xfrm>
          <a:prstGeom prst="roundRect">
            <a:avLst>
              <a:gd fmla="val 25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db432b2860_1_795"/>
          <p:cNvSpPr/>
          <p:nvPr/>
        </p:nvSpPr>
        <p:spPr>
          <a:xfrm>
            <a:off x="320040" y="658368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lang="en-US" sz="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NON-HEATING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db432b2860_1_795"/>
          <p:cNvSpPr/>
          <p:nvPr/>
        </p:nvSpPr>
        <p:spPr>
          <a:xfrm>
            <a:off x="1828800" y="676656"/>
            <a:ext cx="694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DE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AACDE8"/>
                </a:solidFill>
                <a:latin typeface="Calibri"/>
                <a:ea typeface="Calibri"/>
                <a:cs typeface="Calibri"/>
                <a:sym typeface="Calibri"/>
              </a:rPr>
              <a:t>Non-Heating Equipment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db432b2860_1_795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db432b2860_1_795"/>
          <p:cNvSpPr/>
          <p:nvPr/>
        </p:nvSpPr>
        <p:spPr>
          <a:xfrm>
            <a:off x="274320" y="1051560"/>
            <a:ext cx="2743200" cy="3474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db432b2860_1_795"/>
          <p:cNvSpPr/>
          <p:nvPr/>
        </p:nvSpPr>
        <p:spPr>
          <a:xfrm>
            <a:off x="38404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Scheduling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db432b2860_1_795"/>
          <p:cNvSpPr/>
          <p:nvPr/>
        </p:nvSpPr>
        <p:spPr>
          <a:xfrm>
            <a:off x="38404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Days: All 7 days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7:00 AM – 9:00 AM (breakfast prep)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11:00 AM – 1:00 PM (lunch service)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db432b2860_1_795"/>
          <p:cNvSpPr/>
          <p:nvPr/>
        </p:nvSpPr>
        <p:spPr>
          <a:xfrm>
            <a:off x="3154680" y="105156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db432b2860_1_795"/>
          <p:cNvSpPr/>
          <p:nvPr/>
        </p:nvSpPr>
        <p:spPr>
          <a:xfrm>
            <a:off x="3154680" y="1051560"/>
            <a:ext cx="2743200" cy="347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db432b2860_1_795"/>
          <p:cNvSpPr/>
          <p:nvPr/>
        </p:nvSpPr>
        <p:spPr>
          <a:xfrm>
            <a:off x="326440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Equipment Specs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db432b2860_1_795"/>
          <p:cNvSpPr/>
          <p:nvPr/>
        </p:nvSpPr>
        <p:spPr>
          <a:xfrm>
            <a:off x="326440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Imperial IR-6-RG24 Commercial Stove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Rated: 302,000 BTU/hr input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db432b2860_1_795"/>
          <p:cNvSpPr/>
          <p:nvPr/>
        </p:nvSpPr>
        <p:spPr>
          <a:xfrm>
            <a:off x="6035040" y="1051560"/>
            <a:ext cx="28347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db432b2860_1_795"/>
          <p:cNvSpPr/>
          <p:nvPr/>
        </p:nvSpPr>
        <p:spPr>
          <a:xfrm>
            <a:off x="6035040" y="1051560"/>
            <a:ext cx="28347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db432b2860_1_795"/>
          <p:cNvSpPr/>
          <p:nvPr/>
        </p:nvSpPr>
        <p:spPr>
          <a:xfrm>
            <a:off x="6144768" y="1088136"/>
            <a:ext cx="2615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Parameters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db432b2860_1_795"/>
          <p:cNvSpPr/>
          <p:nvPr/>
        </p:nvSpPr>
        <p:spPr>
          <a:xfrm>
            <a:off x="6144768" y="1453896"/>
            <a:ext cx="26151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Utilization = 80% — high-throughput community kitchen.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Largest non-heating propane consumer by rated capacity.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db432b2860_1_795"/>
          <p:cNvSpPr/>
          <p:nvPr/>
        </p:nvSpPr>
        <p:spPr>
          <a:xfrm>
            <a:off x="274320" y="2761488"/>
            <a:ext cx="4206300" cy="475500"/>
          </a:xfrm>
          <a:prstGeom prst="rect">
            <a:avLst/>
          </a:prstGeom>
          <a:solidFill>
            <a:srgbClr val="FFF8E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db432b2860_1_795"/>
          <p:cNvSpPr/>
          <p:nvPr/>
        </p:nvSpPr>
        <p:spPr>
          <a:xfrm>
            <a:off x="274320" y="2761488"/>
            <a:ext cx="347400" cy="475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db432b2860_1_795"/>
          <p:cNvSpPr/>
          <p:nvPr/>
        </p:nvSpPr>
        <p:spPr>
          <a:xfrm>
            <a:off x="274320" y="276148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db432b2860_1_795"/>
          <p:cNvSpPr/>
          <p:nvPr/>
        </p:nvSpPr>
        <p:spPr>
          <a:xfrm>
            <a:off x="676656" y="2807208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Elder Center operates 7 days/week with full food service for breakfast and lunch.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db432b2860_1_795"/>
          <p:cNvSpPr/>
          <p:nvPr/>
        </p:nvSpPr>
        <p:spPr>
          <a:xfrm>
            <a:off x="4663440" y="2761488"/>
            <a:ext cx="4206300" cy="475500"/>
          </a:xfrm>
          <a:prstGeom prst="rect">
            <a:avLst/>
          </a:prstGeom>
          <a:solidFill>
            <a:srgbClr val="FFF8E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db432b2860_1_795"/>
          <p:cNvSpPr/>
          <p:nvPr/>
        </p:nvSpPr>
        <p:spPr>
          <a:xfrm>
            <a:off x="4663440" y="2761488"/>
            <a:ext cx="347400" cy="475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db432b2860_1_795"/>
          <p:cNvSpPr/>
          <p:nvPr/>
        </p:nvSpPr>
        <p:spPr>
          <a:xfrm>
            <a:off x="4663440" y="276148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db432b2860_1_795"/>
          <p:cNvSpPr/>
          <p:nvPr/>
        </p:nvSpPr>
        <p:spPr>
          <a:xfrm>
            <a:off x="5065776" y="2807208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80% utilization is consistent with observed community meal service volumes.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db432b2860_1_795"/>
          <p:cNvSpPr/>
          <p:nvPr/>
        </p:nvSpPr>
        <p:spPr>
          <a:xfrm>
            <a:off x="274320" y="3337560"/>
            <a:ext cx="8595300" cy="16002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db432b2860_1_795"/>
          <p:cNvSpPr/>
          <p:nvPr/>
        </p:nvSpPr>
        <p:spPr>
          <a:xfrm>
            <a:off x="274320" y="3337560"/>
            <a:ext cx="73200" cy="1600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db432b2860_1_795"/>
          <p:cNvSpPr/>
          <p:nvPr/>
        </p:nvSpPr>
        <p:spPr>
          <a:xfrm>
            <a:off x="475488" y="33832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Engineering 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db432b2860_1_795"/>
          <p:cNvSpPr/>
          <p:nvPr/>
        </p:nvSpPr>
        <p:spPr>
          <a:xfrm>
            <a:off x="475488" y="3694176"/>
            <a:ext cx="81840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Elder Center serves hot meals 7 days a week, making it the only non-heating propane load that runs on weekends. Its 302,000 BTU/hr commercial range is the largest single non-heating appliance — the breakfast + lunch dual window structure captures the actual meal-service rhythm.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g3db432b2860_1_8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8850"/>
            <a:ext cx="9143999" cy="32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b432b2860_1_832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db432b2860_1_832"/>
          <p:cNvSpPr/>
          <p:nvPr/>
        </p:nvSpPr>
        <p:spPr>
          <a:xfrm>
            <a:off x="365760" y="91440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rebuchet MS"/>
              <a:buNone/>
            </a:pPr>
            <a:r>
              <a:rPr b="1" lang="en-US" sz="2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ECC Domestic Hot Water Heater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db432b2860_1_832"/>
          <p:cNvSpPr/>
          <p:nvPr/>
        </p:nvSpPr>
        <p:spPr>
          <a:xfrm>
            <a:off x="320040" y="658368"/>
            <a:ext cx="1371600" cy="219600"/>
          </a:xfrm>
          <a:prstGeom prst="roundRect">
            <a:avLst>
              <a:gd fmla="val 25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db432b2860_1_832"/>
          <p:cNvSpPr/>
          <p:nvPr/>
        </p:nvSpPr>
        <p:spPr>
          <a:xfrm>
            <a:off x="320040" y="658368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lang="en-US" sz="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NON-HEATING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db432b2860_1_832"/>
          <p:cNvSpPr/>
          <p:nvPr/>
        </p:nvSpPr>
        <p:spPr>
          <a:xfrm>
            <a:off x="1828800" y="676656"/>
            <a:ext cx="694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DE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AACDE8"/>
                </a:solidFill>
                <a:latin typeface="Calibri"/>
                <a:ea typeface="Calibri"/>
                <a:cs typeface="Calibri"/>
                <a:sym typeface="Calibri"/>
              </a:rPr>
              <a:t>Non-Heating Equipment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db432b2860_1_832"/>
          <p:cNvSpPr/>
          <p:nvPr/>
        </p:nvSpPr>
        <p:spPr>
          <a:xfrm>
            <a:off x="274320" y="1051560"/>
            <a:ext cx="2743200" cy="21855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db432b2860_1_832"/>
          <p:cNvSpPr/>
          <p:nvPr/>
        </p:nvSpPr>
        <p:spPr>
          <a:xfrm>
            <a:off x="274320" y="1051560"/>
            <a:ext cx="2743200" cy="3474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db432b2860_1_832"/>
          <p:cNvSpPr/>
          <p:nvPr/>
        </p:nvSpPr>
        <p:spPr>
          <a:xfrm>
            <a:off x="38404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Scheduling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db432b2860_1_832"/>
          <p:cNvSpPr/>
          <p:nvPr/>
        </p:nvSpPr>
        <p:spPr>
          <a:xfrm>
            <a:off x="384048" y="1453896"/>
            <a:ext cx="2523600" cy="16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Days: Weekdays (Mon–Fri)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 one-hour windows: 8–9 AM, 10–11 AM, 12–1 PM, 2–3 PM, 4–5 PM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Showering, cooking, dishwashing, etc.</a:t>
            </a:r>
            <a:endParaRPr/>
          </a:p>
        </p:txBody>
      </p:sp>
      <p:sp>
        <p:nvSpPr>
          <p:cNvPr id="552" name="Google Shape;552;g3db432b2860_1_832"/>
          <p:cNvSpPr/>
          <p:nvPr/>
        </p:nvSpPr>
        <p:spPr>
          <a:xfrm>
            <a:off x="3154680" y="1051560"/>
            <a:ext cx="2743200" cy="21855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db432b2860_1_832"/>
          <p:cNvSpPr/>
          <p:nvPr/>
        </p:nvSpPr>
        <p:spPr>
          <a:xfrm>
            <a:off x="3154680" y="1051560"/>
            <a:ext cx="2743200" cy="347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db432b2860_1_832"/>
          <p:cNvSpPr/>
          <p:nvPr/>
        </p:nvSpPr>
        <p:spPr>
          <a:xfrm>
            <a:off x="326440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Equipment Specs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db432b2860_1_832"/>
          <p:cNvSpPr/>
          <p:nvPr/>
        </p:nvSpPr>
        <p:spPr>
          <a:xfrm>
            <a:off x="326440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Assumed: 75,000 BTU/hr input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db432b2860_1_832"/>
          <p:cNvSpPr/>
          <p:nvPr/>
        </p:nvSpPr>
        <p:spPr>
          <a:xfrm>
            <a:off x="6035040" y="1051560"/>
            <a:ext cx="2834700" cy="21855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db432b2860_1_832"/>
          <p:cNvSpPr/>
          <p:nvPr/>
        </p:nvSpPr>
        <p:spPr>
          <a:xfrm>
            <a:off x="6035040" y="1051560"/>
            <a:ext cx="28347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db432b2860_1_832"/>
          <p:cNvSpPr/>
          <p:nvPr/>
        </p:nvSpPr>
        <p:spPr>
          <a:xfrm>
            <a:off x="6144768" y="1088136"/>
            <a:ext cx="2615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Parameters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db432b2860_1_832"/>
          <p:cNvSpPr/>
          <p:nvPr/>
        </p:nvSpPr>
        <p:spPr>
          <a:xfrm>
            <a:off x="6144768" y="1453896"/>
            <a:ext cx="2615100" cy="16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Utilization = 100% — assumed full-fire during each window.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Load is temperature-independent; classified as non-heating.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Then scaled using non-heating scaling factor for each year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db432b2860_1_832"/>
          <p:cNvSpPr/>
          <p:nvPr/>
        </p:nvSpPr>
        <p:spPr>
          <a:xfrm>
            <a:off x="274320" y="276148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db432b2860_1_832"/>
          <p:cNvSpPr/>
          <p:nvPr/>
        </p:nvSpPr>
        <p:spPr>
          <a:xfrm>
            <a:off x="676656" y="2807208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db432b2860_1_832"/>
          <p:cNvSpPr/>
          <p:nvPr/>
        </p:nvSpPr>
        <p:spPr>
          <a:xfrm>
            <a:off x="4663440" y="276148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db432b2860_1_832"/>
          <p:cNvSpPr/>
          <p:nvPr/>
        </p:nvSpPr>
        <p:spPr>
          <a:xfrm>
            <a:off x="274320" y="3337560"/>
            <a:ext cx="8595300" cy="16002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db432b2860_1_832"/>
          <p:cNvSpPr/>
          <p:nvPr/>
        </p:nvSpPr>
        <p:spPr>
          <a:xfrm>
            <a:off x="274320" y="3337560"/>
            <a:ext cx="73200" cy="1600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db432b2860_1_832"/>
          <p:cNvSpPr/>
          <p:nvPr/>
        </p:nvSpPr>
        <p:spPr>
          <a:xfrm>
            <a:off x="475488" y="33832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Engineering 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db432b2860_1_832"/>
          <p:cNvSpPr/>
          <p:nvPr/>
        </p:nvSpPr>
        <p:spPr>
          <a:xfrm>
            <a:off x="475488" y="3694176"/>
            <a:ext cx="81840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Hot water demand is independent of outdoor temperature. The five one-hour windows were chosen to represent off and on peaks due to showering, cooking, and washing dishes, rather than a continuous burn.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g3db432b2860_1_8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8850"/>
            <a:ext cx="9144000" cy="322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b432b2860_1_864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db432b2860_1_864"/>
          <p:cNvSpPr/>
          <p:nvPr/>
        </p:nvSpPr>
        <p:spPr>
          <a:xfrm>
            <a:off x="365760" y="91440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rebuchet MS"/>
              <a:buNone/>
            </a:pPr>
            <a:r>
              <a:rPr b="1" lang="en-US" sz="2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ECC Kitchen Stove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db432b2860_1_864"/>
          <p:cNvSpPr/>
          <p:nvPr/>
        </p:nvSpPr>
        <p:spPr>
          <a:xfrm>
            <a:off x="320040" y="658368"/>
            <a:ext cx="1371600" cy="219600"/>
          </a:xfrm>
          <a:prstGeom prst="roundRect">
            <a:avLst>
              <a:gd fmla="val 25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db432b2860_1_864"/>
          <p:cNvSpPr/>
          <p:nvPr/>
        </p:nvSpPr>
        <p:spPr>
          <a:xfrm>
            <a:off x="320040" y="658368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lang="en-US" sz="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NON-HEATING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db432b2860_1_864"/>
          <p:cNvSpPr/>
          <p:nvPr/>
        </p:nvSpPr>
        <p:spPr>
          <a:xfrm>
            <a:off x="1828800" y="676656"/>
            <a:ext cx="694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DE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AACDE8"/>
                </a:solidFill>
                <a:latin typeface="Calibri"/>
                <a:ea typeface="Calibri"/>
                <a:cs typeface="Calibri"/>
                <a:sym typeface="Calibri"/>
              </a:rPr>
              <a:t>Non-Heating Equipment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db432b2860_1_864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db432b2860_1_864"/>
          <p:cNvSpPr/>
          <p:nvPr/>
        </p:nvSpPr>
        <p:spPr>
          <a:xfrm>
            <a:off x="274320" y="1051560"/>
            <a:ext cx="2743200" cy="3474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db432b2860_1_864"/>
          <p:cNvSpPr/>
          <p:nvPr/>
        </p:nvSpPr>
        <p:spPr>
          <a:xfrm>
            <a:off x="38404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Scheduling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db432b2860_1_864"/>
          <p:cNvSpPr/>
          <p:nvPr/>
        </p:nvSpPr>
        <p:spPr>
          <a:xfrm>
            <a:off x="38404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Days: Weekdays (Mon–Fri)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11:00 AM – 1:00 PM (lunch service, 2-hour window)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db432b2860_1_864"/>
          <p:cNvSpPr/>
          <p:nvPr/>
        </p:nvSpPr>
        <p:spPr>
          <a:xfrm>
            <a:off x="3154680" y="105156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db432b2860_1_864"/>
          <p:cNvSpPr/>
          <p:nvPr/>
        </p:nvSpPr>
        <p:spPr>
          <a:xfrm>
            <a:off x="3154680" y="1051560"/>
            <a:ext cx="2743200" cy="347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db432b2860_1_864"/>
          <p:cNvSpPr/>
          <p:nvPr/>
        </p:nvSpPr>
        <p:spPr>
          <a:xfrm>
            <a:off x="326440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Equipment Specs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db432b2860_1_864"/>
          <p:cNvSpPr/>
          <p:nvPr/>
        </p:nvSpPr>
        <p:spPr>
          <a:xfrm>
            <a:off x="326440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Assumed: 60,000 BTU/hr input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db432b2860_1_864"/>
          <p:cNvSpPr/>
          <p:nvPr/>
        </p:nvSpPr>
        <p:spPr>
          <a:xfrm>
            <a:off x="6035040" y="1051560"/>
            <a:ext cx="28347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db432b2860_1_864"/>
          <p:cNvSpPr/>
          <p:nvPr/>
        </p:nvSpPr>
        <p:spPr>
          <a:xfrm>
            <a:off x="6035040" y="1051560"/>
            <a:ext cx="28347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db432b2860_1_864"/>
          <p:cNvSpPr/>
          <p:nvPr/>
        </p:nvSpPr>
        <p:spPr>
          <a:xfrm>
            <a:off x="6144768" y="1088136"/>
            <a:ext cx="2615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Parameters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db432b2860_1_864"/>
          <p:cNvSpPr/>
          <p:nvPr/>
        </p:nvSpPr>
        <p:spPr>
          <a:xfrm>
            <a:off x="6144768" y="1453896"/>
            <a:ext cx="26151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Utilization = 80% — not all burners on simultaneously during every lunch.</a:t>
            </a:r>
            <a:endParaRPr/>
          </a:p>
        </p:txBody>
      </p:sp>
      <p:sp>
        <p:nvSpPr>
          <p:cNvPr id="594" name="Google Shape;594;g3db432b2860_1_864"/>
          <p:cNvSpPr/>
          <p:nvPr/>
        </p:nvSpPr>
        <p:spPr>
          <a:xfrm>
            <a:off x="274320" y="2761488"/>
            <a:ext cx="8595300" cy="475500"/>
          </a:xfrm>
          <a:prstGeom prst="rect">
            <a:avLst/>
          </a:prstGeom>
          <a:solidFill>
            <a:srgbClr val="FFF8E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db432b2860_1_864"/>
          <p:cNvSpPr/>
          <p:nvPr/>
        </p:nvSpPr>
        <p:spPr>
          <a:xfrm>
            <a:off x="274320" y="2761488"/>
            <a:ext cx="347400" cy="475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db432b2860_1_864"/>
          <p:cNvSpPr/>
          <p:nvPr/>
        </p:nvSpPr>
        <p:spPr>
          <a:xfrm>
            <a:off x="274320" y="276148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db432b2860_1_864"/>
          <p:cNvSpPr/>
          <p:nvPr/>
        </p:nvSpPr>
        <p:spPr>
          <a:xfrm>
            <a:off x="676656" y="2807208"/>
            <a:ext cx="8138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80% burner utilization during lunch service is a reasonable average for an institutional kitchen.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db432b2860_1_864"/>
          <p:cNvSpPr/>
          <p:nvPr/>
        </p:nvSpPr>
        <p:spPr>
          <a:xfrm>
            <a:off x="274320" y="3337560"/>
            <a:ext cx="8595300" cy="16002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db432b2860_1_864"/>
          <p:cNvSpPr/>
          <p:nvPr/>
        </p:nvSpPr>
        <p:spPr>
          <a:xfrm>
            <a:off x="274320" y="3337560"/>
            <a:ext cx="73200" cy="1600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db432b2860_1_864"/>
          <p:cNvSpPr/>
          <p:nvPr/>
        </p:nvSpPr>
        <p:spPr>
          <a:xfrm>
            <a:off x="475488" y="33832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Engineering 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db432b2860_1_864"/>
          <p:cNvSpPr/>
          <p:nvPr/>
        </p:nvSpPr>
        <p:spPr>
          <a:xfrm>
            <a:off x="475488" y="3694176"/>
            <a:ext cx="81840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ECC stove operates primarily during the lunch service window. An 80% utilization factor accounts for the reality that not all burners are running simultaneously at every meal — typical of batch cooking for variable crowd sizes.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g3db432b2860_1_8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8850"/>
            <a:ext cx="9144000" cy="322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db432b2860_1_897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db432b2860_1_897"/>
          <p:cNvSpPr/>
          <p:nvPr/>
        </p:nvSpPr>
        <p:spPr>
          <a:xfrm>
            <a:off x="365760" y="91440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rebuchet MS"/>
              <a:buNone/>
            </a:pPr>
            <a:r>
              <a:rPr b="1" lang="en-US" sz="2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Admin Building Kitchen Stove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db432b2860_1_897"/>
          <p:cNvSpPr/>
          <p:nvPr/>
        </p:nvSpPr>
        <p:spPr>
          <a:xfrm>
            <a:off x="320040" y="658368"/>
            <a:ext cx="1371600" cy="219600"/>
          </a:xfrm>
          <a:prstGeom prst="roundRect">
            <a:avLst>
              <a:gd fmla="val 25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db432b2860_1_897"/>
          <p:cNvSpPr/>
          <p:nvPr/>
        </p:nvSpPr>
        <p:spPr>
          <a:xfrm>
            <a:off x="320040" y="658368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lang="en-US" sz="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NON-HEATING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g3db432b2860_1_897"/>
          <p:cNvSpPr/>
          <p:nvPr/>
        </p:nvSpPr>
        <p:spPr>
          <a:xfrm>
            <a:off x="1828800" y="676656"/>
            <a:ext cx="694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DE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AACDE8"/>
                </a:solidFill>
                <a:latin typeface="Calibri"/>
                <a:ea typeface="Calibri"/>
                <a:cs typeface="Calibri"/>
                <a:sym typeface="Calibri"/>
              </a:rPr>
              <a:t>Non-Heating Equipment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db432b2860_1_897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db432b2860_1_897"/>
          <p:cNvSpPr/>
          <p:nvPr/>
        </p:nvSpPr>
        <p:spPr>
          <a:xfrm>
            <a:off x="274320" y="1051560"/>
            <a:ext cx="2743200" cy="3474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db432b2860_1_897"/>
          <p:cNvSpPr/>
          <p:nvPr/>
        </p:nvSpPr>
        <p:spPr>
          <a:xfrm>
            <a:off x="38404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Scheduling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db432b2860_1_897"/>
          <p:cNvSpPr/>
          <p:nvPr/>
        </p:nvSpPr>
        <p:spPr>
          <a:xfrm>
            <a:off x="38404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Days: Weekdays (Mon–Fri)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11:00 AM – 12:00 PM (one-hour window)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db432b2860_1_897"/>
          <p:cNvSpPr/>
          <p:nvPr/>
        </p:nvSpPr>
        <p:spPr>
          <a:xfrm>
            <a:off x="3154680" y="1051560"/>
            <a:ext cx="27432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db432b2860_1_897"/>
          <p:cNvSpPr/>
          <p:nvPr/>
        </p:nvSpPr>
        <p:spPr>
          <a:xfrm>
            <a:off x="3154680" y="1051560"/>
            <a:ext cx="2743200" cy="347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g3db432b2860_1_897"/>
          <p:cNvSpPr/>
          <p:nvPr/>
        </p:nvSpPr>
        <p:spPr>
          <a:xfrm>
            <a:off x="3264408" y="1088136"/>
            <a:ext cx="25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Equipment Specs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g3db432b2860_1_897"/>
          <p:cNvSpPr/>
          <p:nvPr/>
        </p:nvSpPr>
        <p:spPr>
          <a:xfrm>
            <a:off x="3264408" y="1453896"/>
            <a:ext cx="25236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Assumed: 60,000 BTU/hr input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db432b2860_1_897"/>
          <p:cNvSpPr/>
          <p:nvPr/>
        </p:nvSpPr>
        <p:spPr>
          <a:xfrm>
            <a:off x="6035040" y="1051560"/>
            <a:ext cx="2834700" cy="1600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db432b2860_1_897"/>
          <p:cNvSpPr/>
          <p:nvPr/>
        </p:nvSpPr>
        <p:spPr>
          <a:xfrm>
            <a:off x="6035040" y="1051560"/>
            <a:ext cx="2834700" cy="347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db432b2860_1_897"/>
          <p:cNvSpPr/>
          <p:nvPr/>
        </p:nvSpPr>
        <p:spPr>
          <a:xfrm>
            <a:off x="6144768" y="1088136"/>
            <a:ext cx="2615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Parameters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db432b2860_1_897"/>
          <p:cNvSpPr/>
          <p:nvPr/>
        </p:nvSpPr>
        <p:spPr>
          <a:xfrm>
            <a:off x="6144768" y="1453896"/>
            <a:ext cx="26151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Utilization = 20% — lightly used; staff heating occasional meals.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Very small contribution to total propane budget.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db432b2860_1_897"/>
          <p:cNvSpPr/>
          <p:nvPr/>
        </p:nvSpPr>
        <p:spPr>
          <a:xfrm>
            <a:off x="274320" y="2761488"/>
            <a:ext cx="8595300" cy="475500"/>
          </a:xfrm>
          <a:prstGeom prst="rect">
            <a:avLst/>
          </a:prstGeom>
          <a:solidFill>
            <a:srgbClr val="FFF8E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g3db432b2860_1_897"/>
          <p:cNvSpPr/>
          <p:nvPr/>
        </p:nvSpPr>
        <p:spPr>
          <a:xfrm>
            <a:off x="274320" y="2761488"/>
            <a:ext cx="347400" cy="475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g3db432b2860_1_897"/>
          <p:cNvSpPr/>
          <p:nvPr/>
        </p:nvSpPr>
        <p:spPr>
          <a:xfrm>
            <a:off x="274320" y="276148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db432b2860_1_897"/>
          <p:cNvSpPr/>
          <p:nvPr/>
        </p:nvSpPr>
        <p:spPr>
          <a:xfrm>
            <a:off x="676656" y="2807208"/>
            <a:ext cx="8138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20% utilization reflects a staff break-room stove used sporadically, not a full kitchen operation.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db432b2860_1_897"/>
          <p:cNvSpPr/>
          <p:nvPr/>
        </p:nvSpPr>
        <p:spPr>
          <a:xfrm>
            <a:off x="274320" y="3337560"/>
            <a:ext cx="8595300" cy="16002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db432b2860_1_897"/>
          <p:cNvSpPr/>
          <p:nvPr/>
        </p:nvSpPr>
        <p:spPr>
          <a:xfrm>
            <a:off x="274320" y="3337560"/>
            <a:ext cx="73200" cy="1600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g3db432b2860_1_897"/>
          <p:cNvSpPr/>
          <p:nvPr/>
        </p:nvSpPr>
        <p:spPr>
          <a:xfrm>
            <a:off x="475488" y="33832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Engineering 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db432b2860_1_897"/>
          <p:cNvSpPr/>
          <p:nvPr/>
        </p:nvSpPr>
        <p:spPr>
          <a:xfrm>
            <a:off x="475488" y="3694176"/>
            <a:ext cx="81840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admin kitchen is a break-room-style kitchen, not a full food service operation. The 20% utilization factor captures occasional use — staff reheating lunches, occasional small cooking tasks — during a 1-hour daily window.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g3db432b2860_1_9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8850"/>
            <a:ext cx="9144000" cy="322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db432b2860_0_103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648" name="Google Shape;648;g3db432b2860_0_103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Electric Heating Scenarios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>
                <a:latin typeface="Encode Sans"/>
                <a:ea typeface="Encode Sans"/>
                <a:cs typeface="Encode Sans"/>
                <a:sym typeface="Encode Sans"/>
              </a:rPr>
              <a:t>ASHP: Options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649" name="Google Shape;649;g3db432b2860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37" y="2206725"/>
            <a:ext cx="8889124" cy="271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2014-10-14T00:51:43Z</dcterms:created>
  <dc:creator>Alanya Cannon</dc:creator>
</cp:coreProperties>
</file>