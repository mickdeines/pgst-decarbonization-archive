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5143500" cx="9144000"/>
  <p:notesSz cx="6858000" cy="9144000"/>
  <p:embeddedFontLst>
    <p:embeddedFont>
      <p:font typeface="Encode Sans Black"/>
      <p:bold r:id="rId28"/>
    </p:embeddedFont>
    <p:embeddedFont>
      <p:font typeface="Open Sans Light"/>
      <p:regular r:id="rId29"/>
      <p:bold r:id="rId30"/>
      <p:italic r:id="rId31"/>
      <p:boldItalic r:id="rId32"/>
    </p:embeddedFont>
    <p:embeddedFont>
      <p:font typeface="Open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6">
          <p15:clr>
            <a:srgbClr val="A4A3A4"/>
          </p15:clr>
        </p15:guide>
      </p15:sldGuideLst>
    </p:ext>
    <p:ext uri="GoogleSlidesCustomDataVersion2">
      <go:slidesCustomData xmlns:go="http://customooxmlschemas.google.com/" r:id="rId37" roundtripDataSignature="AMtx7mgiktr4aFWWxTIjlKfVGk/xGFzH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57A6124-AAE4-41BB-9F0F-6DCBEE21ED7C}">
  <a:tblStyle styleId="{257A6124-AAE4-41BB-9F0F-6DCBEE21ED7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EncodeSansBlack-bold.fntdata"/><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OpenSansLight-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OpenSansLight-italic.fntdata"/><Relationship Id="rId30" Type="http://schemas.openxmlformats.org/officeDocument/2006/relationships/font" Target="fonts/OpenSansLight-bold.fntdata"/><Relationship Id="rId11" Type="http://schemas.openxmlformats.org/officeDocument/2006/relationships/slide" Target="slides/slide4.xml"/><Relationship Id="rId33" Type="http://schemas.openxmlformats.org/officeDocument/2006/relationships/font" Target="fonts/OpenSans-regular.fntdata"/><Relationship Id="rId10" Type="http://schemas.openxmlformats.org/officeDocument/2006/relationships/slide" Target="slides/slide3.xml"/><Relationship Id="rId32" Type="http://schemas.openxmlformats.org/officeDocument/2006/relationships/font" Target="fonts/OpenSansLight-boldItalic.fntdata"/><Relationship Id="rId13" Type="http://schemas.openxmlformats.org/officeDocument/2006/relationships/slide" Target="slides/slide6.xml"/><Relationship Id="rId35" Type="http://schemas.openxmlformats.org/officeDocument/2006/relationships/font" Target="fonts/OpenSans-italic.fntdata"/><Relationship Id="rId12" Type="http://schemas.openxmlformats.org/officeDocument/2006/relationships/slide" Target="slides/slide5.xml"/><Relationship Id="rId34" Type="http://schemas.openxmlformats.org/officeDocument/2006/relationships/font" Target="fonts/OpenSans-bold.fntdata"/><Relationship Id="rId15" Type="http://schemas.openxmlformats.org/officeDocument/2006/relationships/slide" Target="slides/slide8.xml"/><Relationship Id="rId37" Type="http://customschemas.google.com/relationships/presentationmetadata" Target="metadata"/><Relationship Id="rId14" Type="http://schemas.openxmlformats.org/officeDocument/2006/relationships/slide" Target="slides/slide7.xml"/><Relationship Id="rId36" Type="http://schemas.openxmlformats.org/officeDocument/2006/relationships/font" Target="fonts/OpenSans-bold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 name="Google Shape;7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83" name="Google Shape;8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d6d3654c47_11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g3d6d3654c47_11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 name="Google Shape;90;g3d6d3654c47_11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e0ee1402e7_3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7" name="Google Shape;97;g3e0ee1402e7_3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g3e0ee1402e7_3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e0ee1402e7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e0ee1402e7_3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g3e0ee1402e7_3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0ee1402e7_3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e0ee1402e7_3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g3e0ee1402e7_3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945747e3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g3e945747e31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a:p>
        </p:txBody>
      </p:sp>
      <p:sp>
        <p:nvSpPr>
          <p:cNvPr id="121" name="Google Shape;121;g3e945747e31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fa6f5700a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g3dfa6f5700a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a:p>
        </p:txBody>
      </p:sp>
      <p:sp>
        <p:nvSpPr>
          <p:cNvPr id="128" name="Google Shape;128;g3dfa6f5700a_0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31195240c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g3e31195240c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a:p>
        </p:txBody>
      </p:sp>
      <p:sp>
        <p:nvSpPr>
          <p:cNvPr id="146" name="Google Shape;146;g3e31195240c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e7115a52ad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g3e7115a52ad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a:p>
        </p:txBody>
      </p:sp>
      <p:sp>
        <p:nvSpPr>
          <p:cNvPr id="164" name="Google Shape;164;g3e7115a52ad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1fd44db73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3e1fd44db73_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a:p>
        </p:txBody>
      </p:sp>
      <p:sp>
        <p:nvSpPr>
          <p:cNvPr id="182" name="Google Shape;182;g3e1fd44db73_3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dfa6f5700a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g3dfa6f5700a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 name="Google Shape;203;g3dfa6f5700a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93768cd80_1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e93768cd80_1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g3e93768cd80_1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e93768cd80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e93768cd80_1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3e93768cd80_1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e93768cd80_1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e93768cd80_1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g3e93768cd80_1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db432b2860_1_9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g3db432b2860_1_9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g3db432b2860_1_9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e93768cd80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e93768cd80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g3e93768cd80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e93768cd80_1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3e93768cd80_1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Remove slide. Go straight to “here is what we are doing”</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Only we </a:t>
            </a:r>
            <a:r>
              <a:rPr lang="en-US"/>
              <a:t>believe we are reducing the scope - Rachel didn’t think this as far as we can tell (just get Rachel ready for what we are seeing in final report, don’t present this like we are renegotiating the contract). Rachel will be blown away by what we are going to do - she won’t perceive that we are doing less. We will be doing more than she expects if we deliver what we are promising.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p:txBody>
      </p:sp>
      <p:sp>
        <p:nvSpPr>
          <p:cNvPr id="253" name="Google Shape;253;g3e93768cd80_1_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e1fd44db7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g3e1fd44db7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Remove slide. Go straight to “here is what we are doing”</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Only we believe we are reducing the scope - Rachel didn’t think this as far as we can tell (just get Rachel ready for what we are seeing in final report, don’t present this like we are renegotiating the contract). Rachel will be blown away by what we are going to do - she won’t perceive that we are doing less. We will be doing more than she expects if we deliver what we are promising.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p:txBody>
      </p:sp>
      <p:sp>
        <p:nvSpPr>
          <p:cNvPr id="260" name="Google Shape;260;g3e1fd44db7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bg>
      <p:bgPr>
        <a:solidFill>
          <a:schemeClr val="dk1"/>
        </a:solidFill>
      </p:bgPr>
    </p:bg>
    <p:spTree>
      <p:nvGrpSpPr>
        <p:cNvPr id="10" name="Shape 10"/>
        <p:cNvGrpSpPr/>
        <p:nvPr/>
      </p:nvGrpSpPr>
      <p:grpSpPr>
        <a:xfrm>
          <a:off x="0" y="0"/>
          <a:ext cx="0" cy="0"/>
          <a:chOff x="0" y="0"/>
          <a:chExt cx="0" cy="0"/>
        </a:xfrm>
      </p:grpSpPr>
      <p:sp>
        <p:nvSpPr>
          <p:cNvPr id="11" name="Google Shape;11;p20"/>
          <p:cNvSpPr txBox="1"/>
          <p:nvPr>
            <p:ph type="title"/>
          </p:nvPr>
        </p:nvSpPr>
        <p:spPr>
          <a:xfrm>
            <a:off x="460375" y="644993"/>
            <a:ext cx="6972300" cy="2641756"/>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lt2"/>
              </a:buClr>
              <a:buSzPts val="5000"/>
              <a:buFont typeface="Encode Sans Black"/>
              <a:buNone/>
              <a:defRPr b="1" i="0" sz="5000" u="none" cap="none" strike="noStrike">
                <a:solidFill>
                  <a:schemeClr val="lt2"/>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12" name="Google Shape;12;p20"/>
          <p:cNvPicPr preferRelativeResize="0"/>
          <p:nvPr/>
        </p:nvPicPr>
        <p:blipFill rotWithShape="1">
          <a:blip r:embed="rId2">
            <a:alphaModFix/>
          </a:blip>
          <a:srcRect b="0" l="0" r="0" t="0"/>
          <a:stretch/>
        </p:blipFill>
        <p:spPr>
          <a:xfrm>
            <a:off x="568081" y="3426449"/>
            <a:ext cx="1600200" cy="139700"/>
          </a:xfrm>
          <a:prstGeom prst="rect">
            <a:avLst/>
          </a:prstGeom>
          <a:noFill/>
          <a:ln>
            <a:noFill/>
          </a:ln>
        </p:spPr>
      </p:pic>
      <p:pic>
        <p:nvPicPr>
          <p:cNvPr id="13" name="Google Shape;13;p20"/>
          <p:cNvPicPr preferRelativeResize="0"/>
          <p:nvPr/>
        </p:nvPicPr>
        <p:blipFill rotWithShape="1">
          <a:blip r:embed="rId3">
            <a:alphaModFix/>
          </a:blip>
          <a:srcRect b="0" l="0" r="0" t="0"/>
          <a:stretch/>
        </p:blipFill>
        <p:spPr>
          <a:xfrm>
            <a:off x="7483915" y="4219956"/>
            <a:ext cx="1371600" cy="92354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solidFill>
          <a:schemeClr val="dk1"/>
        </a:solidFill>
      </p:bgPr>
    </p:bg>
    <p:spTree>
      <p:nvGrpSpPr>
        <p:cNvPr id="14" name="Shape 14"/>
        <p:cNvGrpSpPr/>
        <p:nvPr/>
      </p:nvGrpSpPr>
      <p:grpSpPr>
        <a:xfrm>
          <a:off x="0" y="0"/>
          <a:ext cx="0" cy="0"/>
          <a:chOff x="0" y="0"/>
          <a:chExt cx="0" cy="0"/>
        </a:xfrm>
      </p:grpSpPr>
      <p:sp>
        <p:nvSpPr>
          <p:cNvPr id="15" name="Google Shape;15;p23"/>
          <p:cNvSpPr txBox="1"/>
          <p:nvPr>
            <p:ph type="title"/>
          </p:nvPr>
        </p:nvSpPr>
        <p:spPr>
          <a:xfrm>
            <a:off x="460375" y="644993"/>
            <a:ext cx="7023540" cy="2641756"/>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lt2"/>
              </a:buClr>
              <a:buSzPts val="5000"/>
              <a:buFont typeface="Encode Sans Black"/>
              <a:buNone/>
              <a:defRPr b="1" i="0" sz="5000" u="none" cap="none" strike="noStrike">
                <a:solidFill>
                  <a:schemeClr val="lt2"/>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16" name="Google Shape;16;p23"/>
          <p:cNvPicPr preferRelativeResize="0"/>
          <p:nvPr/>
        </p:nvPicPr>
        <p:blipFill rotWithShape="1">
          <a:blip r:embed="rId2">
            <a:alphaModFix/>
          </a:blip>
          <a:srcRect b="0" l="0" r="0" t="0"/>
          <a:stretch/>
        </p:blipFill>
        <p:spPr>
          <a:xfrm>
            <a:off x="568081" y="3426449"/>
            <a:ext cx="1600200" cy="139700"/>
          </a:xfrm>
          <a:prstGeom prst="rect">
            <a:avLst/>
          </a:prstGeom>
          <a:noFill/>
          <a:ln>
            <a:noFill/>
          </a:ln>
        </p:spPr>
      </p:pic>
      <p:pic>
        <p:nvPicPr>
          <p:cNvPr id="17" name="Google Shape;17;p23"/>
          <p:cNvPicPr preferRelativeResize="0"/>
          <p:nvPr/>
        </p:nvPicPr>
        <p:blipFill rotWithShape="1">
          <a:blip r:embed="rId3">
            <a:alphaModFix/>
          </a:blip>
          <a:srcRect b="0" l="0" r="0" t="0"/>
          <a:stretch/>
        </p:blipFill>
        <p:spPr>
          <a:xfrm>
            <a:off x="568081" y="4675530"/>
            <a:ext cx="2540000" cy="172311"/>
          </a:xfrm>
          <a:prstGeom prst="rect">
            <a:avLst/>
          </a:prstGeom>
          <a:noFill/>
          <a:ln>
            <a:noFill/>
          </a:ln>
        </p:spPr>
      </p:pic>
      <p:pic>
        <p:nvPicPr>
          <p:cNvPr id="18" name="Google Shape;18;p23"/>
          <p:cNvPicPr preferRelativeResize="0"/>
          <p:nvPr/>
        </p:nvPicPr>
        <p:blipFill rotWithShape="1">
          <a:blip r:embed="rId4">
            <a:alphaModFix/>
          </a:blip>
          <a:srcRect b="0" l="0" r="0" t="0"/>
          <a:stretch/>
        </p:blipFill>
        <p:spPr>
          <a:xfrm>
            <a:off x="7483915" y="4219956"/>
            <a:ext cx="1371600" cy="92354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Subheader + Content">
  <p:cSld name="Header + Subheader + Content">
    <p:spTree>
      <p:nvGrpSpPr>
        <p:cNvPr id="19" name="Shape 19"/>
        <p:cNvGrpSpPr/>
        <p:nvPr/>
      </p:nvGrpSpPr>
      <p:grpSpPr>
        <a:xfrm>
          <a:off x="0" y="0"/>
          <a:ext cx="0" cy="0"/>
          <a:chOff x="0" y="0"/>
          <a:chExt cx="0" cy="0"/>
        </a:xfrm>
      </p:grpSpPr>
      <p:sp>
        <p:nvSpPr>
          <p:cNvPr id="20" name="Google Shape;20;p24"/>
          <p:cNvSpPr txBox="1"/>
          <p:nvPr>
            <p:ph type="title"/>
          </p:nvPr>
        </p:nvSpPr>
        <p:spPr>
          <a:xfrm>
            <a:off x="447923" y="371510"/>
            <a:ext cx="8197114" cy="9937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lt2"/>
              </a:buClr>
              <a:buSzPts val="3000"/>
              <a:buFont typeface="Encode Sans Black"/>
              <a:buNone/>
              <a:defRPr b="1" i="0" sz="3000" u="none" cap="none" strike="noStrike">
                <a:solidFill>
                  <a:schemeClr val="lt2"/>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21" name="Google Shape;21;p24"/>
          <p:cNvPicPr preferRelativeResize="0"/>
          <p:nvPr/>
        </p:nvPicPr>
        <p:blipFill rotWithShape="1">
          <a:blip r:embed="rId2">
            <a:alphaModFix/>
          </a:blip>
          <a:srcRect b="0" l="0" r="0" t="0"/>
          <a:stretch/>
        </p:blipFill>
        <p:spPr>
          <a:xfrm>
            <a:off x="549031" y="1363508"/>
            <a:ext cx="1103781" cy="96362"/>
          </a:xfrm>
          <a:prstGeom prst="rect">
            <a:avLst/>
          </a:prstGeom>
          <a:noFill/>
          <a:ln>
            <a:noFill/>
          </a:ln>
        </p:spPr>
      </p:pic>
      <p:sp>
        <p:nvSpPr>
          <p:cNvPr id="22" name="Google Shape;22;p24"/>
          <p:cNvSpPr txBox="1"/>
          <p:nvPr>
            <p:ph idx="1" type="body"/>
          </p:nvPr>
        </p:nvSpPr>
        <p:spPr>
          <a:xfrm>
            <a:off x="460375" y="1730667"/>
            <a:ext cx="8184662" cy="41117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480"/>
              </a:spcBef>
              <a:spcAft>
                <a:spcPts val="0"/>
              </a:spcAft>
              <a:buClr>
                <a:schemeClr val="lt2"/>
              </a:buClr>
              <a:buSzPts val="2400"/>
              <a:buFont typeface="Arial"/>
              <a:buNone/>
              <a:defRPr b="0" i="0" sz="2400" u="none" cap="none" strike="noStrike">
                <a:solidFill>
                  <a:schemeClr val="lt2"/>
                </a:solidFill>
                <a:latin typeface="Arial"/>
                <a:ea typeface="Arial"/>
                <a:cs typeface="Arial"/>
                <a:sym typeface="Arial"/>
              </a:defRPr>
            </a:lvl1pPr>
            <a:lvl2pPr indent="-228600" lvl="1" marL="914400" marR="0" rtl="0" algn="l">
              <a:lnSpc>
                <a:spcPct val="100000"/>
              </a:lnSpc>
              <a:spcBef>
                <a:spcPts val="560"/>
              </a:spcBef>
              <a:spcAft>
                <a:spcPts val="0"/>
              </a:spcAft>
              <a:buClr>
                <a:srgbClr val="E8D3A2"/>
              </a:buClr>
              <a:buSzPts val="2800"/>
              <a:buFont typeface="Arial"/>
              <a:buNone/>
              <a:defRPr b="0" i="0" sz="2800" u="none" cap="none" strike="noStrike">
                <a:solidFill>
                  <a:srgbClr val="E8D3A2"/>
                </a:solidFill>
                <a:latin typeface="Encode Sans Black"/>
                <a:ea typeface="Encode Sans Black"/>
                <a:cs typeface="Encode Sans Black"/>
                <a:sym typeface="Encode Sans Black"/>
              </a:defRPr>
            </a:lvl2pPr>
            <a:lvl3pPr indent="-228600" lvl="2" marL="1371600" marR="0" rtl="0" algn="l">
              <a:lnSpc>
                <a:spcPct val="100000"/>
              </a:lnSpc>
              <a:spcBef>
                <a:spcPts val="480"/>
              </a:spcBef>
              <a:spcAft>
                <a:spcPts val="0"/>
              </a:spcAft>
              <a:buClr>
                <a:srgbClr val="E8D3A2"/>
              </a:buClr>
              <a:buSzPts val="2400"/>
              <a:buFont typeface="Arial"/>
              <a:buNone/>
              <a:defRPr b="0" i="0" sz="2400" u="none" cap="none" strike="noStrike">
                <a:solidFill>
                  <a:srgbClr val="E8D3A2"/>
                </a:solidFill>
                <a:latin typeface="Encode Sans Black"/>
                <a:ea typeface="Encode Sans Black"/>
                <a:cs typeface="Encode Sans Black"/>
                <a:sym typeface="Encode Sans Black"/>
              </a:defRPr>
            </a:lvl3pPr>
            <a:lvl4pPr indent="-228600" lvl="3" marL="1828800" marR="0" rtl="0" algn="l">
              <a:lnSpc>
                <a:spcPct val="100000"/>
              </a:lnSpc>
              <a:spcBef>
                <a:spcPts val="400"/>
              </a:spcBef>
              <a:spcAft>
                <a:spcPts val="0"/>
              </a:spcAft>
              <a:buClr>
                <a:srgbClr val="E8D3A2"/>
              </a:buClr>
              <a:buSzPts val="2000"/>
              <a:buFont typeface="Arial"/>
              <a:buNone/>
              <a:defRPr b="0" i="0" sz="2000" u="none" cap="none" strike="noStrike">
                <a:solidFill>
                  <a:srgbClr val="E8D3A2"/>
                </a:solidFill>
                <a:latin typeface="Encode Sans Black"/>
                <a:ea typeface="Encode Sans Black"/>
                <a:cs typeface="Encode Sans Black"/>
                <a:sym typeface="Encode Sans Black"/>
              </a:defRPr>
            </a:lvl4pPr>
            <a:lvl5pPr indent="-228600" lvl="4" marL="2286000" marR="0" rtl="0" algn="l">
              <a:lnSpc>
                <a:spcPct val="100000"/>
              </a:lnSpc>
              <a:spcBef>
                <a:spcPts val="400"/>
              </a:spcBef>
              <a:spcAft>
                <a:spcPts val="0"/>
              </a:spcAft>
              <a:buClr>
                <a:srgbClr val="E8D3A2"/>
              </a:buClr>
              <a:buSzPts val="2000"/>
              <a:buFont typeface="Arial"/>
              <a:buNone/>
              <a:defRPr b="0" i="0" sz="2000" u="none" cap="none" strike="noStrike">
                <a:solidFill>
                  <a:srgbClr val="E8D3A2"/>
                </a:solidFill>
                <a:latin typeface="Encode Sans Black"/>
                <a:ea typeface="Encode Sans Black"/>
                <a:cs typeface="Encode Sans Black"/>
                <a:sym typeface="Encode Sans Black"/>
              </a:defRPr>
            </a:lvl5pPr>
            <a:lvl6pPr indent="-355600" lvl="5" marL="27432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9pPr>
          </a:lstStyle>
          <a:p/>
        </p:txBody>
      </p:sp>
      <p:sp>
        <p:nvSpPr>
          <p:cNvPr id="23" name="Google Shape;23;p24"/>
          <p:cNvSpPr txBox="1"/>
          <p:nvPr>
            <p:ph idx="2" type="body"/>
          </p:nvPr>
        </p:nvSpPr>
        <p:spPr>
          <a:xfrm>
            <a:off x="447923" y="2320239"/>
            <a:ext cx="8197114" cy="2251761"/>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lt2"/>
              </a:buClr>
              <a:buSzPts val="2400"/>
              <a:buFont typeface="Merriweather Sans"/>
              <a:buChar char="&gt;"/>
              <a:defRPr b="1" i="0" sz="2400" u="none" cap="none" strike="noStrike">
                <a:solidFill>
                  <a:schemeClr val="lt2"/>
                </a:solidFill>
                <a:latin typeface="Open Sans"/>
                <a:ea typeface="Open Sans"/>
                <a:cs typeface="Open Sans"/>
                <a:sym typeface="Open Sans"/>
              </a:defRPr>
            </a:lvl1pPr>
            <a:lvl2pPr indent="-355600" lvl="1" marL="914400" marR="0" rtl="0" algn="l">
              <a:lnSpc>
                <a:spcPct val="100000"/>
              </a:lnSpc>
              <a:spcBef>
                <a:spcPts val="400"/>
              </a:spcBef>
              <a:spcAft>
                <a:spcPts val="0"/>
              </a:spcAft>
              <a:buClr>
                <a:schemeClr val="lt2"/>
              </a:buClr>
              <a:buSzPts val="2000"/>
              <a:buFont typeface="Arial"/>
              <a:buChar char="–"/>
              <a:defRPr b="1" i="0" sz="2000" u="none" cap="none" strike="noStrike">
                <a:solidFill>
                  <a:schemeClr val="lt2"/>
                </a:solidFill>
                <a:latin typeface="Open Sans"/>
                <a:ea typeface="Open Sans"/>
                <a:cs typeface="Open Sans"/>
                <a:sym typeface="Open Sans"/>
              </a:defRPr>
            </a:lvl2pPr>
            <a:lvl3pPr indent="-342900" lvl="2" marL="1371600" marR="0" rtl="0" algn="l">
              <a:lnSpc>
                <a:spcPct val="100000"/>
              </a:lnSpc>
              <a:spcBef>
                <a:spcPts val="360"/>
              </a:spcBef>
              <a:spcAft>
                <a:spcPts val="0"/>
              </a:spcAft>
              <a:buClr>
                <a:schemeClr val="lt2"/>
              </a:buClr>
              <a:buSzPts val="1800"/>
              <a:buFont typeface="Merriweather Sans"/>
              <a:buChar char="&gt;"/>
              <a:defRPr b="1" i="0" sz="1800" u="none" cap="none" strike="noStrike">
                <a:solidFill>
                  <a:schemeClr val="lt2"/>
                </a:solidFill>
                <a:latin typeface="Open Sans"/>
                <a:ea typeface="Open Sans"/>
                <a:cs typeface="Open Sans"/>
                <a:sym typeface="Open Sans"/>
              </a:defRPr>
            </a:lvl3pPr>
            <a:lvl4pPr indent="-330200" lvl="3" marL="1828800" marR="0" rtl="0" algn="l">
              <a:lnSpc>
                <a:spcPct val="100000"/>
              </a:lnSpc>
              <a:spcBef>
                <a:spcPts val="320"/>
              </a:spcBef>
              <a:spcAft>
                <a:spcPts val="0"/>
              </a:spcAft>
              <a:buClr>
                <a:schemeClr val="lt2"/>
              </a:buClr>
              <a:buSzPts val="1600"/>
              <a:buFont typeface="Arial"/>
              <a:buChar char="–"/>
              <a:defRPr b="1" i="0" sz="1600" u="none" cap="none" strike="noStrike">
                <a:solidFill>
                  <a:schemeClr val="lt2"/>
                </a:solidFill>
                <a:latin typeface="Open Sans"/>
                <a:ea typeface="Open Sans"/>
                <a:cs typeface="Open Sans"/>
                <a:sym typeface="Open Sans"/>
              </a:defRPr>
            </a:lvl4pPr>
            <a:lvl5pPr indent="-317500" lvl="4" marL="2286000" marR="0" rtl="0" algn="l">
              <a:lnSpc>
                <a:spcPct val="100000"/>
              </a:lnSpc>
              <a:spcBef>
                <a:spcPts val="280"/>
              </a:spcBef>
              <a:spcAft>
                <a:spcPts val="0"/>
              </a:spcAft>
              <a:buClr>
                <a:schemeClr val="lt2"/>
              </a:buClr>
              <a:buSzPts val="1400"/>
              <a:buFont typeface="Merriweather Sans"/>
              <a:buChar char="&gt;"/>
              <a:defRPr b="1" i="0" sz="1400" u="none" cap="none" strike="noStrike">
                <a:solidFill>
                  <a:schemeClr val="lt2"/>
                </a:solidFill>
                <a:latin typeface="Open Sans"/>
                <a:ea typeface="Open Sans"/>
                <a:cs typeface="Open Sans"/>
                <a:sym typeface="Open Sans"/>
              </a:defRPr>
            </a:lvl5pPr>
            <a:lvl6pPr indent="-355600" lvl="5" marL="27432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9pPr>
          </a:lstStyle>
          <a:p/>
        </p:txBody>
      </p:sp>
      <p:pic>
        <p:nvPicPr>
          <p:cNvPr id="24" name="Google Shape;24;p24"/>
          <p:cNvPicPr preferRelativeResize="0"/>
          <p:nvPr/>
        </p:nvPicPr>
        <p:blipFill rotWithShape="1">
          <a:blip r:embed="rId3">
            <a:alphaModFix/>
          </a:blip>
          <a:srcRect b="0" l="0" r="0" t="0"/>
          <a:stretch/>
        </p:blipFill>
        <p:spPr>
          <a:xfrm>
            <a:off x="6105037" y="4675530"/>
            <a:ext cx="2540000" cy="17231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Content">
  <p:cSld name="Header + Content">
    <p:bg>
      <p:bgPr>
        <a:solidFill>
          <a:schemeClr val="dk1"/>
        </a:solidFill>
      </p:bgPr>
    </p:bg>
    <p:spTree>
      <p:nvGrpSpPr>
        <p:cNvPr id="25" name="Shape 25"/>
        <p:cNvGrpSpPr/>
        <p:nvPr/>
      </p:nvGrpSpPr>
      <p:grpSpPr>
        <a:xfrm>
          <a:off x="0" y="0"/>
          <a:ext cx="0" cy="0"/>
          <a:chOff x="0" y="0"/>
          <a:chExt cx="0" cy="0"/>
        </a:xfrm>
      </p:grpSpPr>
      <p:sp>
        <p:nvSpPr>
          <p:cNvPr id="26" name="Google Shape;26;p25"/>
          <p:cNvSpPr txBox="1"/>
          <p:nvPr>
            <p:ph type="title"/>
          </p:nvPr>
        </p:nvSpPr>
        <p:spPr>
          <a:xfrm>
            <a:off x="447923" y="369733"/>
            <a:ext cx="8197114" cy="9937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lt2"/>
              </a:buClr>
              <a:buSzPts val="3000"/>
              <a:buFont typeface="Encode Sans Black"/>
              <a:buNone/>
              <a:defRPr b="1" i="0" sz="3000" u="none" cap="none" strike="noStrike">
                <a:solidFill>
                  <a:schemeClr val="lt2"/>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27" name="Google Shape;27;p25"/>
          <p:cNvPicPr preferRelativeResize="0"/>
          <p:nvPr/>
        </p:nvPicPr>
        <p:blipFill rotWithShape="1">
          <a:blip r:embed="rId2">
            <a:alphaModFix/>
          </a:blip>
          <a:srcRect b="0" l="0" r="0" t="0"/>
          <a:stretch/>
        </p:blipFill>
        <p:spPr>
          <a:xfrm>
            <a:off x="549031" y="1363508"/>
            <a:ext cx="1103781" cy="96362"/>
          </a:xfrm>
          <a:prstGeom prst="rect">
            <a:avLst/>
          </a:prstGeom>
          <a:noFill/>
          <a:ln>
            <a:noFill/>
          </a:ln>
        </p:spPr>
      </p:pic>
      <p:sp>
        <p:nvSpPr>
          <p:cNvPr id="28" name="Google Shape;28;p25"/>
          <p:cNvSpPr txBox="1"/>
          <p:nvPr>
            <p:ph idx="1" type="body"/>
          </p:nvPr>
        </p:nvSpPr>
        <p:spPr>
          <a:xfrm>
            <a:off x="447923" y="1730667"/>
            <a:ext cx="8197114" cy="2365901"/>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lt2"/>
              </a:buClr>
              <a:buSzPts val="2400"/>
              <a:buFont typeface="Merriweather Sans"/>
              <a:buChar char="&gt;"/>
              <a:defRPr b="1" i="0" sz="2400" u="none" cap="none" strike="noStrike">
                <a:solidFill>
                  <a:schemeClr val="lt2"/>
                </a:solidFill>
                <a:latin typeface="Open Sans"/>
                <a:ea typeface="Open Sans"/>
                <a:cs typeface="Open Sans"/>
                <a:sym typeface="Open Sans"/>
              </a:defRPr>
            </a:lvl1pPr>
            <a:lvl2pPr indent="-355600" lvl="1" marL="914400" marR="0" rtl="0" algn="l">
              <a:lnSpc>
                <a:spcPct val="100000"/>
              </a:lnSpc>
              <a:spcBef>
                <a:spcPts val="400"/>
              </a:spcBef>
              <a:spcAft>
                <a:spcPts val="0"/>
              </a:spcAft>
              <a:buClr>
                <a:schemeClr val="lt2"/>
              </a:buClr>
              <a:buSzPts val="2000"/>
              <a:buFont typeface="Arial"/>
              <a:buChar char="–"/>
              <a:defRPr b="1" i="0" sz="2000" u="none" cap="none" strike="noStrike">
                <a:solidFill>
                  <a:schemeClr val="lt2"/>
                </a:solidFill>
                <a:latin typeface="Open Sans"/>
                <a:ea typeface="Open Sans"/>
                <a:cs typeface="Open Sans"/>
                <a:sym typeface="Open Sans"/>
              </a:defRPr>
            </a:lvl2pPr>
            <a:lvl3pPr indent="-342900" lvl="2" marL="1371600" marR="0" rtl="0" algn="l">
              <a:lnSpc>
                <a:spcPct val="100000"/>
              </a:lnSpc>
              <a:spcBef>
                <a:spcPts val="360"/>
              </a:spcBef>
              <a:spcAft>
                <a:spcPts val="0"/>
              </a:spcAft>
              <a:buClr>
                <a:schemeClr val="lt2"/>
              </a:buClr>
              <a:buSzPts val="1800"/>
              <a:buFont typeface="Merriweather Sans"/>
              <a:buChar char="&gt;"/>
              <a:defRPr b="1" i="0" sz="1800" u="none" cap="none" strike="noStrike">
                <a:solidFill>
                  <a:schemeClr val="lt2"/>
                </a:solidFill>
                <a:latin typeface="Open Sans"/>
                <a:ea typeface="Open Sans"/>
                <a:cs typeface="Open Sans"/>
                <a:sym typeface="Open Sans"/>
              </a:defRPr>
            </a:lvl3pPr>
            <a:lvl4pPr indent="-330200" lvl="3" marL="1828800" marR="0" rtl="0" algn="l">
              <a:lnSpc>
                <a:spcPct val="100000"/>
              </a:lnSpc>
              <a:spcBef>
                <a:spcPts val="320"/>
              </a:spcBef>
              <a:spcAft>
                <a:spcPts val="0"/>
              </a:spcAft>
              <a:buClr>
                <a:schemeClr val="lt2"/>
              </a:buClr>
              <a:buSzPts val="1600"/>
              <a:buFont typeface="Arial"/>
              <a:buChar char="–"/>
              <a:defRPr b="1" i="0" sz="1600" u="none" cap="none" strike="noStrike">
                <a:solidFill>
                  <a:schemeClr val="lt2"/>
                </a:solidFill>
                <a:latin typeface="Open Sans"/>
                <a:ea typeface="Open Sans"/>
                <a:cs typeface="Open Sans"/>
                <a:sym typeface="Open Sans"/>
              </a:defRPr>
            </a:lvl4pPr>
            <a:lvl5pPr indent="-317500" lvl="4" marL="2286000" marR="0" rtl="0" algn="l">
              <a:lnSpc>
                <a:spcPct val="100000"/>
              </a:lnSpc>
              <a:spcBef>
                <a:spcPts val="280"/>
              </a:spcBef>
              <a:spcAft>
                <a:spcPts val="0"/>
              </a:spcAft>
              <a:buClr>
                <a:schemeClr val="lt2"/>
              </a:buClr>
              <a:buSzPts val="1400"/>
              <a:buFont typeface="Merriweather Sans"/>
              <a:buChar char="&gt;"/>
              <a:defRPr b="1" i="0" sz="1400" u="none" cap="none" strike="noStrike">
                <a:solidFill>
                  <a:schemeClr val="lt2"/>
                </a:solidFill>
                <a:latin typeface="Open Sans"/>
                <a:ea typeface="Open Sans"/>
                <a:cs typeface="Open Sans"/>
                <a:sym typeface="Open Sans"/>
              </a:defRPr>
            </a:lvl5pPr>
            <a:lvl6pPr indent="-355600" lvl="5" marL="27432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9pPr>
          </a:lstStyle>
          <a:p/>
        </p:txBody>
      </p:sp>
      <p:pic>
        <p:nvPicPr>
          <p:cNvPr id="29" name="Google Shape;29;p25"/>
          <p:cNvPicPr preferRelativeResize="0"/>
          <p:nvPr/>
        </p:nvPicPr>
        <p:blipFill rotWithShape="1">
          <a:blip r:embed="rId3">
            <a:alphaModFix/>
          </a:blip>
          <a:srcRect b="0" l="0" r="0" t="0"/>
          <a:stretch/>
        </p:blipFill>
        <p:spPr>
          <a:xfrm>
            <a:off x="7483915" y="4219956"/>
            <a:ext cx="1371600" cy="92354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Graphic">
  <p:cSld name="Header + Graphic">
    <p:bg>
      <p:bgPr>
        <a:solidFill>
          <a:schemeClr val="dk1"/>
        </a:solidFill>
      </p:bgPr>
    </p:bg>
    <p:spTree>
      <p:nvGrpSpPr>
        <p:cNvPr id="30" name="Shape 30"/>
        <p:cNvGrpSpPr/>
        <p:nvPr/>
      </p:nvGrpSpPr>
      <p:grpSpPr>
        <a:xfrm>
          <a:off x="0" y="0"/>
          <a:ext cx="0" cy="0"/>
          <a:chOff x="0" y="0"/>
          <a:chExt cx="0" cy="0"/>
        </a:xfrm>
      </p:grpSpPr>
      <p:sp>
        <p:nvSpPr>
          <p:cNvPr id="31" name="Google Shape;31;p26"/>
          <p:cNvSpPr txBox="1"/>
          <p:nvPr>
            <p:ph type="title"/>
          </p:nvPr>
        </p:nvSpPr>
        <p:spPr>
          <a:xfrm>
            <a:off x="460375" y="370622"/>
            <a:ext cx="8184662" cy="9937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lt2"/>
              </a:buClr>
              <a:buSzPts val="3000"/>
              <a:buFont typeface="Encode Sans Black"/>
              <a:buNone/>
              <a:defRPr b="1" i="0" sz="3000" u="none" cap="none" strike="noStrike">
                <a:solidFill>
                  <a:schemeClr val="lt2"/>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32" name="Google Shape;32;p26"/>
          <p:cNvPicPr preferRelativeResize="0"/>
          <p:nvPr/>
        </p:nvPicPr>
        <p:blipFill rotWithShape="1">
          <a:blip r:embed="rId2">
            <a:alphaModFix/>
          </a:blip>
          <a:srcRect b="0" l="0" r="0" t="0"/>
          <a:stretch/>
        </p:blipFill>
        <p:spPr>
          <a:xfrm>
            <a:off x="549031" y="1363508"/>
            <a:ext cx="1103781" cy="96362"/>
          </a:xfrm>
          <a:prstGeom prst="rect">
            <a:avLst/>
          </a:prstGeom>
          <a:noFill/>
          <a:ln>
            <a:noFill/>
          </a:ln>
        </p:spPr>
      </p:pic>
      <p:sp>
        <p:nvSpPr>
          <p:cNvPr id="33" name="Google Shape;33;p26"/>
          <p:cNvSpPr/>
          <p:nvPr>
            <p:ph idx="2" type="chart"/>
          </p:nvPr>
        </p:nvSpPr>
        <p:spPr>
          <a:xfrm>
            <a:off x="447923" y="1724977"/>
            <a:ext cx="8184662" cy="2828169"/>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480"/>
              </a:spcBef>
              <a:spcAft>
                <a:spcPts val="0"/>
              </a:spcAft>
              <a:buClr>
                <a:srgbClr val="FFFFFF"/>
              </a:buClr>
              <a:buSzPts val="2400"/>
              <a:buFont typeface="Arial"/>
              <a:buNone/>
              <a:defRPr b="0" i="1" sz="2400" u="none" cap="none" strike="noStrike">
                <a:solidFill>
                  <a:srgbClr val="FFFFFF"/>
                </a:solidFill>
                <a:latin typeface="Open Sans Light"/>
                <a:ea typeface="Open Sans Light"/>
                <a:cs typeface="Open Sans Light"/>
                <a:sym typeface="Open Sans Light"/>
              </a:defRPr>
            </a:lvl1pPr>
            <a:lvl2pPr lvl="1" marR="0" rtl="0" algn="l">
              <a:lnSpc>
                <a:spcPct val="100000"/>
              </a:lnSpc>
              <a:spcBef>
                <a:spcPts val="56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2pPr>
            <a:lvl3pPr lvl="2" marR="0" rtl="0" algn="l">
              <a:lnSpc>
                <a:spcPct val="100000"/>
              </a:lnSpc>
              <a:spcBef>
                <a:spcPts val="48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3pPr>
            <a:lvl4pPr lvl="3"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4pPr>
            <a:lvl5pPr lvl="4"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5pPr>
            <a:lvl6pPr lvl="5"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6pPr>
            <a:lvl7pPr lvl="6"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7pPr>
            <a:lvl8pPr lvl="7"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8pPr>
            <a:lvl9pPr lvl="8"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9pPr>
          </a:lstStyle>
          <a:p/>
        </p:txBody>
      </p:sp>
      <p:pic>
        <p:nvPicPr>
          <p:cNvPr id="34" name="Google Shape;34;p26"/>
          <p:cNvPicPr preferRelativeResize="0"/>
          <p:nvPr/>
        </p:nvPicPr>
        <p:blipFill rotWithShape="1">
          <a:blip r:embed="rId3">
            <a:alphaModFix/>
          </a:blip>
          <a:srcRect b="0" l="0" r="0" t="0"/>
          <a:stretch/>
        </p:blipFill>
        <p:spPr>
          <a:xfrm>
            <a:off x="6105037" y="4675530"/>
            <a:ext cx="2540000" cy="17231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5" name="Shape 35"/>
        <p:cNvGrpSpPr/>
        <p:nvPr/>
      </p:nvGrpSpPr>
      <p:grpSpPr>
        <a:xfrm>
          <a:off x="0" y="0"/>
          <a:ext cx="0" cy="0"/>
          <a:chOff x="0" y="0"/>
          <a:chExt cx="0" cy="0"/>
        </a:xfrm>
      </p:grpSpPr>
      <p:sp>
        <p:nvSpPr>
          <p:cNvPr id="36" name="Google Shape;36;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ctr">
              <a:lnSpc>
                <a:spcPct val="100000"/>
              </a:lnSpc>
              <a:spcBef>
                <a:spcPts val="0"/>
              </a:spcBef>
              <a:spcAft>
                <a:spcPts val="0"/>
              </a:spcAft>
              <a:buClr>
                <a:schemeClr val="lt1"/>
              </a:buClr>
              <a:buSzPts val="2800"/>
              <a:buFont typeface="Calibri"/>
              <a:buNone/>
              <a:defRPr b="0" i="0" sz="44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9pPr>
          </a:lstStyle>
          <a:p/>
        </p:txBody>
      </p:sp>
      <p:sp>
        <p:nvSpPr>
          <p:cNvPr id="37" name="Google Shape;37;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00000"/>
              </a:lnSpc>
              <a:spcBef>
                <a:spcPts val="0"/>
              </a:spcBef>
              <a:spcAft>
                <a:spcPts val="0"/>
              </a:spcAft>
              <a:buClr>
                <a:schemeClr val="lt1"/>
              </a:buClr>
              <a:buSzPts val="1800"/>
              <a:buFont typeface="Arial"/>
              <a:buChar char="●"/>
              <a:defRPr b="0" i="0" sz="3200" u="none" cap="none" strike="noStrike">
                <a:solidFill>
                  <a:schemeClr val="lt1"/>
                </a:solidFill>
                <a:latin typeface="Calibri"/>
                <a:ea typeface="Calibri"/>
                <a:cs typeface="Calibri"/>
                <a:sym typeface="Calibri"/>
              </a:defRPr>
            </a:lvl1pPr>
            <a:lvl2pPr indent="-317500" lvl="1" marL="914400" marR="0" rtl="0" algn="l">
              <a:lnSpc>
                <a:spcPct val="100000"/>
              </a:lnSpc>
              <a:spcBef>
                <a:spcPts val="0"/>
              </a:spcBef>
              <a:spcAft>
                <a:spcPts val="0"/>
              </a:spcAft>
              <a:buClr>
                <a:schemeClr val="lt1"/>
              </a:buClr>
              <a:buSzPts val="1400"/>
              <a:buFont typeface="Arial"/>
              <a:buChar char="○"/>
              <a:defRPr b="0" i="0" sz="2800" u="none" cap="none" strike="noStrike">
                <a:solidFill>
                  <a:schemeClr val="lt1"/>
                </a:solidFill>
                <a:latin typeface="Calibri"/>
                <a:ea typeface="Calibri"/>
                <a:cs typeface="Calibri"/>
                <a:sym typeface="Calibri"/>
              </a:defRPr>
            </a:lvl2pPr>
            <a:lvl3pPr indent="-317500" lvl="2" marL="1371600" marR="0" rtl="0" algn="l">
              <a:lnSpc>
                <a:spcPct val="100000"/>
              </a:lnSpc>
              <a:spcBef>
                <a:spcPts val="0"/>
              </a:spcBef>
              <a:spcAft>
                <a:spcPts val="0"/>
              </a:spcAft>
              <a:buClr>
                <a:schemeClr val="lt1"/>
              </a:buClr>
              <a:buSzPts val="1400"/>
              <a:buFont typeface="Arial"/>
              <a:buChar char="■"/>
              <a:defRPr b="0" i="0" sz="2400" u="none" cap="none" strike="noStrike">
                <a:solidFill>
                  <a:schemeClr val="lt1"/>
                </a:solidFill>
                <a:latin typeface="Calibri"/>
                <a:ea typeface="Calibri"/>
                <a:cs typeface="Calibri"/>
                <a:sym typeface="Calibri"/>
              </a:defRPr>
            </a:lvl3pPr>
            <a:lvl4pPr indent="-317500" lvl="3" marL="1828800" marR="0" rtl="0" algn="l">
              <a:lnSpc>
                <a:spcPct val="100000"/>
              </a:lnSpc>
              <a:spcBef>
                <a:spcPts val="0"/>
              </a:spcBef>
              <a:spcAft>
                <a:spcPts val="0"/>
              </a:spcAft>
              <a:buClr>
                <a:schemeClr val="lt1"/>
              </a:buClr>
              <a:buSzPts val="1400"/>
              <a:buFont typeface="Arial"/>
              <a:buChar char="●"/>
              <a:defRPr b="0" i="0" sz="2000" u="none" cap="none" strike="noStrike">
                <a:solidFill>
                  <a:schemeClr val="lt1"/>
                </a:solidFill>
                <a:latin typeface="Calibri"/>
                <a:ea typeface="Calibri"/>
                <a:cs typeface="Calibri"/>
                <a:sym typeface="Calibri"/>
              </a:defRPr>
            </a:lvl4pPr>
            <a:lvl5pPr indent="-317500" lvl="4" marL="2286000" marR="0" rtl="0" algn="l">
              <a:lnSpc>
                <a:spcPct val="100000"/>
              </a:lnSpc>
              <a:spcBef>
                <a:spcPts val="0"/>
              </a:spcBef>
              <a:spcAft>
                <a:spcPts val="0"/>
              </a:spcAft>
              <a:buClr>
                <a:schemeClr val="lt1"/>
              </a:buClr>
              <a:buSzPts val="1400"/>
              <a:buFont typeface="Arial"/>
              <a:buChar char="○"/>
              <a:defRPr b="0" i="0" sz="2000" u="none" cap="none" strike="noStrike">
                <a:solidFill>
                  <a:schemeClr val="lt1"/>
                </a:solidFill>
                <a:latin typeface="Calibri"/>
                <a:ea typeface="Calibri"/>
                <a:cs typeface="Calibri"/>
                <a:sym typeface="Calibri"/>
              </a:defRPr>
            </a:lvl5pPr>
            <a:lvl6pPr indent="-317500" lvl="5" marL="2743200" marR="0" rtl="0" algn="l">
              <a:lnSpc>
                <a:spcPct val="100000"/>
              </a:lnSpc>
              <a:spcBef>
                <a:spcPts val="0"/>
              </a:spcBef>
              <a:spcAft>
                <a:spcPts val="0"/>
              </a:spcAft>
              <a:buClr>
                <a:schemeClr val="lt1"/>
              </a:buClr>
              <a:buSzPts val="1400"/>
              <a:buFont typeface="Arial"/>
              <a:buChar char="■"/>
              <a:defRPr b="0" i="0" sz="2000" u="none" cap="none" strike="noStrike">
                <a:solidFill>
                  <a:schemeClr val="lt1"/>
                </a:solidFill>
                <a:latin typeface="Calibri"/>
                <a:ea typeface="Calibri"/>
                <a:cs typeface="Calibri"/>
                <a:sym typeface="Calibri"/>
              </a:defRPr>
            </a:lvl6pPr>
            <a:lvl7pPr indent="-317500" lvl="6" marL="3200400" marR="0" rtl="0" algn="l">
              <a:lnSpc>
                <a:spcPct val="100000"/>
              </a:lnSpc>
              <a:spcBef>
                <a:spcPts val="0"/>
              </a:spcBef>
              <a:spcAft>
                <a:spcPts val="0"/>
              </a:spcAft>
              <a:buClr>
                <a:schemeClr val="lt1"/>
              </a:buClr>
              <a:buSzPts val="1400"/>
              <a:buFont typeface="Arial"/>
              <a:buChar char="●"/>
              <a:defRPr b="0" i="0" sz="2000" u="none" cap="none" strike="noStrike">
                <a:solidFill>
                  <a:schemeClr val="lt1"/>
                </a:solidFill>
                <a:latin typeface="Calibri"/>
                <a:ea typeface="Calibri"/>
                <a:cs typeface="Calibri"/>
                <a:sym typeface="Calibri"/>
              </a:defRPr>
            </a:lvl7pPr>
            <a:lvl8pPr indent="-317500" lvl="7" marL="3657600" marR="0" rtl="0" algn="l">
              <a:lnSpc>
                <a:spcPct val="100000"/>
              </a:lnSpc>
              <a:spcBef>
                <a:spcPts val="0"/>
              </a:spcBef>
              <a:spcAft>
                <a:spcPts val="0"/>
              </a:spcAft>
              <a:buClr>
                <a:schemeClr val="lt1"/>
              </a:buClr>
              <a:buSzPts val="1400"/>
              <a:buFont typeface="Arial"/>
              <a:buChar char="○"/>
              <a:defRPr b="0" i="0" sz="2000" u="none" cap="none" strike="noStrike">
                <a:solidFill>
                  <a:schemeClr val="lt1"/>
                </a:solidFill>
                <a:latin typeface="Calibri"/>
                <a:ea typeface="Calibri"/>
                <a:cs typeface="Calibri"/>
                <a:sym typeface="Calibri"/>
              </a:defRPr>
            </a:lvl8pPr>
            <a:lvl9pPr indent="-317500" lvl="8" marL="4114800" marR="0" rtl="0" algn="l">
              <a:lnSpc>
                <a:spcPct val="100000"/>
              </a:lnSpc>
              <a:spcBef>
                <a:spcPts val="0"/>
              </a:spcBef>
              <a:spcAft>
                <a:spcPts val="0"/>
              </a:spcAft>
              <a:buClr>
                <a:schemeClr val="lt1"/>
              </a:buClr>
              <a:buSzPts val="1400"/>
              <a:buFont typeface="Arial"/>
              <a:buChar char="■"/>
              <a:defRPr b="0" i="0" sz="2000" u="none" cap="none" strike="noStrike">
                <a:solidFill>
                  <a:schemeClr val="lt1"/>
                </a:solidFill>
                <a:latin typeface="Calibri"/>
                <a:ea typeface="Calibri"/>
                <a:cs typeface="Calibri"/>
                <a:sym typeface="Calibri"/>
              </a:defRPr>
            </a:lvl9pPr>
          </a:lstStyle>
          <a:p/>
        </p:txBody>
      </p:sp>
      <p:sp>
        <p:nvSpPr>
          <p:cNvPr id="38" name="Google Shape;38;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chemeClr val="lt1"/>
              </a:buClr>
              <a:buSzPts val="1800"/>
              <a:buFont typeface="Calibri"/>
              <a:buNone/>
              <a:defRPr b="0" i="0" sz="18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chemeClr val="lt1"/>
              </a:buClr>
              <a:buSzPts val="1800"/>
              <a:buFont typeface="Calibri"/>
              <a:buNone/>
              <a:defRPr b="0" i="0" sz="18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chemeClr val="lt1"/>
              </a:buClr>
              <a:buSzPts val="1800"/>
              <a:buFont typeface="Calibri"/>
              <a:buNone/>
              <a:defRPr b="0" i="0" sz="18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chemeClr val="lt1"/>
              </a:buClr>
              <a:buSzPts val="1800"/>
              <a:buFont typeface="Calibri"/>
              <a:buNone/>
              <a:defRPr b="0" i="0" sz="18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chemeClr val="lt1"/>
              </a:buClr>
              <a:buSzPts val="1800"/>
              <a:buFont typeface="Calibri"/>
              <a:buNone/>
              <a:defRPr b="0" i="0" sz="18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chemeClr val="lt1"/>
              </a:buClr>
              <a:buSzPts val="1800"/>
              <a:buFont typeface="Calibri"/>
              <a:buNone/>
              <a:defRPr b="0" i="0" sz="18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chemeClr val="lt1"/>
              </a:buClr>
              <a:buSzPts val="1800"/>
              <a:buFont typeface="Calibri"/>
              <a:buNone/>
              <a:defRPr b="0" i="0" sz="18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chemeClr val="lt1"/>
              </a:buClr>
              <a:buSzPts val="1800"/>
              <a:buFont typeface="Calibri"/>
              <a:buNone/>
              <a:defRPr b="0" i="0" sz="18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chemeClr val="lt1"/>
              </a:buClr>
              <a:buSzPts val="1800"/>
              <a:buFont typeface="Calibri"/>
              <a:buNone/>
              <a:defRPr b="0" i="0" sz="18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Subheader + Content">
  <p:cSld name="Header + Subheader + Content">
    <p:spTree>
      <p:nvGrpSpPr>
        <p:cNvPr id="40" name="Shape 40"/>
        <p:cNvGrpSpPr/>
        <p:nvPr/>
      </p:nvGrpSpPr>
      <p:grpSpPr>
        <a:xfrm>
          <a:off x="0" y="0"/>
          <a:ext cx="0" cy="0"/>
          <a:chOff x="0" y="0"/>
          <a:chExt cx="0" cy="0"/>
        </a:xfrm>
      </p:grpSpPr>
      <p:sp>
        <p:nvSpPr>
          <p:cNvPr id="41" name="Google Shape;41;p22"/>
          <p:cNvSpPr txBox="1"/>
          <p:nvPr>
            <p:ph type="title"/>
          </p:nvPr>
        </p:nvSpPr>
        <p:spPr>
          <a:xfrm>
            <a:off x="447922" y="369285"/>
            <a:ext cx="8197109" cy="9937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3000"/>
              <a:buFont typeface="Encode Sans Black"/>
              <a:buNone/>
              <a:defRPr b="1" i="0" sz="3000" u="none" cap="none" strike="noStrike">
                <a:solidFill>
                  <a:schemeClr val="dk1"/>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42" name="Google Shape;42;p22"/>
          <p:cNvPicPr preferRelativeResize="0"/>
          <p:nvPr/>
        </p:nvPicPr>
        <p:blipFill rotWithShape="1">
          <a:blip r:embed="rId2">
            <a:alphaModFix/>
          </a:blip>
          <a:srcRect b="0" l="0" r="0" t="0"/>
          <a:stretch/>
        </p:blipFill>
        <p:spPr>
          <a:xfrm>
            <a:off x="549031" y="1363508"/>
            <a:ext cx="1103781" cy="96362"/>
          </a:xfrm>
          <a:prstGeom prst="rect">
            <a:avLst/>
          </a:prstGeom>
          <a:noFill/>
          <a:ln>
            <a:noFill/>
          </a:ln>
        </p:spPr>
      </p:pic>
      <p:sp>
        <p:nvSpPr>
          <p:cNvPr id="43" name="Google Shape;43;p22"/>
          <p:cNvSpPr txBox="1"/>
          <p:nvPr>
            <p:ph idx="1" type="body"/>
          </p:nvPr>
        </p:nvSpPr>
        <p:spPr>
          <a:xfrm>
            <a:off x="460375" y="1730667"/>
            <a:ext cx="8184662" cy="41117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48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100000"/>
              </a:lnSpc>
              <a:spcBef>
                <a:spcPts val="560"/>
              </a:spcBef>
              <a:spcAft>
                <a:spcPts val="0"/>
              </a:spcAft>
              <a:buClr>
                <a:srgbClr val="E8D3A2"/>
              </a:buClr>
              <a:buSzPts val="2800"/>
              <a:buFont typeface="Arial"/>
              <a:buNone/>
              <a:defRPr b="0" i="0" sz="2800" u="none" cap="none" strike="noStrike">
                <a:solidFill>
                  <a:srgbClr val="E8D3A2"/>
                </a:solidFill>
                <a:latin typeface="Encode Sans Black"/>
                <a:ea typeface="Encode Sans Black"/>
                <a:cs typeface="Encode Sans Black"/>
                <a:sym typeface="Encode Sans Black"/>
              </a:defRPr>
            </a:lvl2pPr>
            <a:lvl3pPr indent="-228600" lvl="2" marL="1371600" marR="0" rtl="0" algn="l">
              <a:lnSpc>
                <a:spcPct val="100000"/>
              </a:lnSpc>
              <a:spcBef>
                <a:spcPts val="480"/>
              </a:spcBef>
              <a:spcAft>
                <a:spcPts val="0"/>
              </a:spcAft>
              <a:buClr>
                <a:srgbClr val="E8D3A2"/>
              </a:buClr>
              <a:buSzPts val="2400"/>
              <a:buFont typeface="Arial"/>
              <a:buNone/>
              <a:defRPr b="0" i="0" sz="2400" u="none" cap="none" strike="noStrike">
                <a:solidFill>
                  <a:srgbClr val="E8D3A2"/>
                </a:solidFill>
                <a:latin typeface="Encode Sans Black"/>
                <a:ea typeface="Encode Sans Black"/>
                <a:cs typeface="Encode Sans Black"/>
                <a:sym typeface="Encode Sans Black"/>
              </a:defRPr>
            </a:lvl3pPr>
            <a:lvl4pPr indent="-228600" lvl="3" marL="1828800" marR="0" rtl="0" algn="l">
              <a:lnSpc>
                <a:spcPct val="100000"/>
              </a:lnSpc>
              <a:spcBef>
                <a:spcPts val="400"/>
              </a:spcBef>
              <a:spcAft>
                <a:spcPts val="0"/>
              </a:spcAft>
              <a:buClr>
                <a:srgbClr val="E8D3A2"/>
              </a:buClr>
              <a:buSzPts val="2000"/>
              <a:buFont typeface="Arial"/>
              <a:buNone/>
              <a:defRPr b="0" i="0" sz="2000" u="none" cap="none" strike="noStrike">
                <a:solidFill>
                  <a:srgbClr val="E8D3A2"/>
                </a:solidFill>
                <a:latin typeface="Encode Sans Black"/>
                <a:ea typeface="Encode Sans Black"/>
                <a:cs typeface="Encode Sans Black"/>
                <a:sym typeface="Encode Sans Black"/>
              </a:defRPr>
            </a:lvl4pPr>
            <a:lvl5pPr indent="-228600" lvl="4" marL="2286000" marR="0" rtl="0" algn="l">
              <a:lnSpc>
                <a:spcPct val="100000"/>
              </a:lnSpc>
              <a:spcBef>
                <a:spcPts val="400"/>
              </a:spcBef>
              <a:spcAft>
                <a:spcPts val="0"/>
              </a:spcAft>
              <a:buClr>
                <a:srgbClr val="E8D3A2"/>
              </a:buClr>
              <a:buSzPts val="2000"/>
              <a:buFont typeface="Arial"/>
              <a:buNone/>
              <a:defRPr b="0" i="0" sz="2000" u="none" cap="none" strike="noStrike">
                <a:solidFill>
                  <a:srgbClr val="E8D3A2"/>
                </a:solidFill>
                <a:latin typeface="Encode Sans Black"/>
                <a:ea typeface="Encode Sans Black"/>
                <a:cs typeface="Encode Sans Black"/>
                <a:sym typeface="Encode Sans Black"/>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4" name="Google Shape;44;p22"/>
          <p:cNvSpPr txBox="1"/>
          <p:nvPr>
            <p:ph idx="2" type="body"/>
          </p:nvPr>
        </p:nvSpPr>
        <p:spPr>
          <a:xfrm>
            <a:off x="447923" y="2320239"/>
            <a:ext cx="8197114" cy="2251761"/>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2"/>
              </a:buClr>
              <a:buSzPts val="2400"/>
              <a:buFont typeface="Merriweather Sans"/>
              <a:buChar char="&gt;"/>
              <a:defRPr b="1" i="0" sz="2400" u="none" cap="none" strike="noStrike">
                <a:solidFill>
                  <a:schemeClr val="dk2"/>
                </a:solidFill>
                <a:latin typeface="Open Sans"/>
                <a:ea typeface="Open Sans"/>
                <a:cs typeface="Open Sans"/>
                <a:sym typeface="Open Sans"/>
              </a:defRPr>
            </a:lvl1pPr>
            <a:lvl2pPr indent="-355600" lvl="1" marL="914400" marR="0" rtl="0" algn="l">
              <a:lnSpc>
                <a:spcPct val="100000"/>
              </a:lnSpc>
              <a:spcBef>
                <a:spcPts val="400"/>
              </a:spcBef>
              <a:spcAft>
                <a:spcPts val="0"/>
              </a:spcAft>
              <a:buClr>
                <a:schemeClr val="dk2"/>
              </a:buClr>
              <a:buSzPts val="2000"/>
              <a:buFont typeface="Arial"/>
              <a:buChar char="–"/>
              <a:defRPr b="1" i="0" sz="2000" u="none" cap="none" strike="noStrike">
                <a:solidFill>
                  <a:schemeClr val="dk2"/>
                </a:solidFill>
                <a:latin typeface="Open Sans"/>
                <a:ea typeface="Open Sans"/>
                <a:cs typeface="Open Sans"/>
                <a:sym typeface="Open Sans"/>
              </a:defRPr>
            </a:lvl2pPr>
            <a:lvl3pPr indent="-342900" lvl="2" marL="1371600" marR="0" rtl="0" algn="l">
              <a:lnSpc>
                <a:spcPct val="100000"/>
              </a:lnSpc>
              <a:spcBef>
                <a:spcPts val="360"/>
              </a:spcBef>
              <a:spcAft>
                <a:spcPts val="0"/>
              </a:spcAft>
              <a:buClr>
                <a:schemeClr val="dk2"/>
              </a:buClr>
              <a:buSzPts val="1800"/>
              <a:buFont typeface="Merriweather Sans"/>
              <a:buChar char="&gt;"/>
              <a:defRPr b="1" i="0" sz="1800" u="none" cap="none" strike="noStrike">
                <a:solidFill>
                  <a:schemeClr val="dk2"/>
                </a:solidFill>
                <a:latin typeface="Open Sans"/>
                <a:ea typeface="Open Sans"/>
                <a:cs typeface="Open Sans"/>
                <a:sym typeface="Open Sans"/>
              </a:defRPr>
            </a:lvl3pPr>
            <a:lvl4pPr indent="-330200" lvl="3" marL="1828800" marR="0" rtl="0" algn="l">
              <a:lnSpc>
                <a:spcPct val="100000"/>
              </a:lnSpc>
              <a:spcBef>
                <a:spcPts val="320"/>
              </a:spcBef>
              <a:spcAft>
                <a:spcPts val="0"/>
              </a:spcAft>
              <a:buClr>
                <a:schemeClr val="dk2"/>
              </a:buClr>
              <a:buSzPts val="1600"/>
              <a:buFont typeface="Arial"/>
              <a:buChar char="–"/>
              <a:defRPr b="1" i="0" sz="1600" u="none" cap="none" strike="noStrike">
                <a:solidFill>
                  <a:schemeClr val="dk2"/>
                </a:solidFill>
                <a:latin typeface="Open Sans"/>
                <a:ea typeface="Open Sans"/>
                <a:cs typeface="Open Sans"/>
                <a:sym typeface="Open Sans"/>
              </a:defRPr>
            </a:lvl4pPr>
            <a:lvl5pPr indent="-317500" lvl="4" marL="2286000" marR="0" rtl="0" algn="l">
              <a:lnSpc>
                <a:spcPct val="100000"/>
              </a:lnSpc>
              <a:spcBef>
                <a:spcPts val="280"/>
              </a:spcBef>
              <a:spcAft>
                <a:spcPts val="0"/>
              </a:spcAft>
              <a:buClr>
                <a:schemeClr val="dk2"/>
              </a:buClr>
              <a:buSzPts val="1400"/>
              <a:buFont typeface="Merriweather Sans"/>
              <a:buChar char="&gt;"/>
              <a:defRPr b="1" i="0" sz="1400" u="none" cap="none" strike="noStrike">
                <a:solidFill>
                  <a:schemeClr val="dk2"/>
                </a:solidFill>
                <a:latin typeface="Open Sans"/>
                <a:ea typeface="Open Sans"/>
                <a:cs typeface="Open Sans"/>
                <a:sym typeface="Open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Subheader + Content 2">
  <p:cSld name="Header + Subheader + Content_2">
    <p:spTree>
      <p:nvGrpSpPr>
        <p:cNvPr id="45" name="Shape 45"/>
        <p:cNvGrpSpPr/>
        <p:nvPr/>
      </p:nvGrpSpPr>
      <p:grpSpPr>
        <a:xfrm>
          <a:off x="0" y="0"/>
          <a:ext cx="0" cy="0"/>
          <a:chOff x="0" y="0"/>
          <a:chExt cx="0" cy="0"/>
        </a:xfrm>
      </p:grpSpPr>
      <p:sp>
        <p:nvSpPr>
          <p:cNvPr id="46" name="Google Shape;46;g3e20daa30c1_0_27"/>
          <p:cNvSpPr txBox="1"/>
          <p:nvPr>
            <p:ph type="title"/>
          </p:nvPr>
        </p:nvSpPr>
        <p:spPr>
          <a:xfrm>
            <a:off x="447922" y="98810"/>
            <a:ext cx="8197200" cy="993900"/>
          </a:xfrm>
          <a:prstGeom prst="rect">
            <a:avLst/>
          </a:prstGeom>
          <a:noFill/>
          <a:ln>
            <a:noFill/>
          </a:ln>
        </p:spPr>
        <p:txBody>
          <a:bodyPr anchorCtr="0" anchor="b" bIns="45700" lIns="91425" spcFirstLastPara="1" rIns="91425" wrap="square" tIns="45700">
            <a:noAutofit/>
          </a:bodyPr>
          <a:lstStyle>
            <a:lvl1pPr lvl="0" marR="0" algn="l">
              <a:lnSpc>
                <a:spcPct val="100000"/>
              </a:lnSpc>
              <a:spcBef>
                <a:spcPts val="0"/>
              </a:spcBef>
              <a:spcAft>
                <a:spcPts val="0"/>
              </a:spcAft>
              <a:buClr>
                <a:schemeClr val="dk1"/>
              </a:buClr>
              <a:buSzPts val="3000"/>
              <a:buFont typeface="Encode Sans Black"/>
              <a:buNone/>
              <a:defRPr b="1" i="0" sz="3000" u="none" cap="none" strike="noStrike">
                <a:solidFill>
                  <a:schemeClr val="dk1"/>
                </a:solidFill>
                <a:latin typeface="Encode Sans Black"/>
                <a:ea typeface="Encode Sans Black"/>
                <a:cs typeface="Encode Sans Black"/>
                <a:sym typeface="Encode Sans Black"/>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47" name="Google Shape;47;g3e20daa30c1_0_27"/>
          <p:cNvPicPr preferRelativeResize="0"/>
          <p:nvPr/>
        </p:nvPicPr>
        <p:blipFill rotWithShape="1">
          <a:blip r:embed="rId2">
            <a:alphaModFix/>
          </a:blip>
          <a:srcRect b="0" l="0" r="0" t="0"/>
          <a:stretch/>
        </p:blipFill>
        <p:spPr>
          <a:xfrm>
            <a:off x="539281" y="1092708"/>
            <a:ext cx="1103781" cy="96362"/>
          </a:xfrm>
          <a:prstGeom prst="rect">
            <a:avLst/>
          </a:prstGeom>
          <a:noFill/>
          <a:ln>
            <a:noFill/>
          </a:ln>
        </p:spPr>
      </p:pic>
      <p:sp>
        <p:nvSpPr>
          <p:cNvPr id="48" name="Google Shape;48;g3e20daa30c1_0_27"/>
          <p:cNvSpPr txBox="1"/>
          <p:nvPr>
            <p:ph idx="1" type="body"/>
          </p:nvPr>
        </p:nvSpPr>
        <p:spPr>
          <a:xfrm>
            <a:off x="460375" y="1730667"/>
            <a:ext cx="8184600" cy="411300"/>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48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algn="l">
              <a:lnSpc>
                <a:spcPct val="100000"/>
              </a:lnSpc>
              <a:spcBef>
                <a:spcPts val="560"/>
              </a:spcBef>
              <a:spcAft>
                <a:spcPts val="0"/>
              </a:spcAft>
              <a:buClr>
                <a:srgbClr val="E8D3A2"/>
              </a:buClr>
              <a:buSzPts val="2800"/>
              <a:buFont typeface="Arial"/>
              <a:buNone/>
              <a:defRPr b="0" i="0" sz="2800" u="none" cap="none" strike="noStrike">
                <a:solidFill>
                  <a:srgbClr val="E8D3A2"/>
                </a:solidFill>
                <a:latin typeface="Encode Sans Black"/>
                <a:ea typeface="Encode Sans Black"/>
                <a:cs typeface="Encode Sans Black"/>
                <a:sym typeface="Encode Sans Black"/>
              </a:defRPr>
            </a:lvl2pPr>
            <a:lvl3pPr indent="-228600" lvl="2" marL="1371600" marR="0" algn="l">
              <a:lnSpc>
                <a:spcPct val="100000"/>
              </a:lnSpc>
              <a:spcBef>
                <a:spcPts val="480"/>
              </a:spcBef>
              <a:spcAft>
                <a:spcPts val="0"/>
              </a:spcAft>
              <a:buClr>
                <a:srgbClr val="E8D3A2"/>
              </a:buClr>
              <a:buSzPts val="2400"/>
              <a:buFont typeface="Arial"/>
              <a:buNone/>
              <a:defRPr b="0" i="0" sz="2400" u="none" cap="none" strike="noStrike">
                <a:solidFill>
                  <a:srgbClr val="E8D3A2"/>
                </a:solidFill>
                <a:latin typeface="Encode Sans Black"/>
                <a:ea typeface="Encode Sans Black"/>
                <a:cs typeface="Encode Sans Black"/>
                <a:sym typeface="Encode Sans Black"/>
              </a:defRPr>
            </a:lvl3pPr>
            <a:lvl4pPr indent="-228600" lvl="3" marL="1828800" marR="0" algn="l">
              <a:lnSpc>
                <a:spcPct val="100000"/>
              </a:lnSpc>
              <a:spcBef>
                <a:spcPts val="400"/>
              </a:spcBef>
              <a:spcAft>
                <a:spcPts val="0"/>
              </a:spcAft>
              <a:buClr>
                <a:srgbClr val="E8D3A2"/>
              </a:buClr>
              <a:buSzPts val="2000"/>
              <a:buFont typeface="Arial"/>
              <a:buNone/>
              <a:defRPr b="0" i="0" sz="2000" u="none" cap="none" strike="noStrike">
                <a:solidFill>
                  <a:srgbClr val="E8D3A2"/>
                </a:solidFill>
                <a:latin typeface="Encode Sans Black"/>
                <a:ea typeface="Encode Sans Black"/>
                <a:cs typeface="Encode Sans Black"/>
                <a:sym typeface="Encode Sans Black"/>
              </a:defRPr>
            </a:lvl4pPr>
            <a:lvl5pPr indent="-228600" lvl="4" marL="2286000" marR="0" algn="l">
              <a:lnSpc>
                <a:spcPct val="100000"/>
              </a:lnSpc>
              <a:spcBef>
                <a:spcPts val="400"/>
              </a:spcBef>
              <a:spcAft>
                <a:spcPts val="0"/>
              </a:spcAft>
              <a:buClr>
                <a:srgbClr val="E8D3A2"/>
              </a:buClr>
              <a:buSzPts val="2000"/>
              <a:buFont typeface="Arial"/>
              <a:buNone/>
              <a:defRPr b="0" i="0" sz="2000" u="none" cap="none" strike="noStrike">
                <a:solidFill>
                  <a:srgbClr val="E8D3A2"/>
                </a:solidFill>
                <a:latin typeface="Encode Sans Black"/>
                <a:ea typeface="Encode Sans Black"/>
                <a:cs typeface="Encode Sans Black"/>
                <a:sym typeface="Encode Sans Black"/>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9" name="Google Shape;49;g3e20daa30c1_0_27"/>
          <p:cNvSpPr txBox="1"/>
          <p:nvPr>
            <p:ph idx="2" type="body"/>
          </p:nvPr>
        </p:nvSpPr>
        <p:spPr>
          <a:xfrm>
            <a:off x="447923" y="2320239"/>
            <a:ext cx="8197200" cy="2251800"/>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480"/>
              </a:spcBef>
              <a:spcAft>
                <a:spcPts val="0"/>
              </a:spcAft>
              <a:buClr>
                <a:schemeClr val="dk2"/>
              </a:buClr>
              <a:buSzPts val="2400"/>
              <a:buFont typeface="Merriweather Sans"/>
              <a:buChar char="&gt;"/>
              <a:defRPr b="1" i="0" sz="2400" u="none" cap="none" strike="noStrike">
                <a:solidFill>
                  <a:schemeClr val="dk2"/>
                </a:solidFill>
                <a:latin typeface="Open Sans"/>
                <a:ea typeface="Open Sans"/>
                <a:cs typeface="Open Sans"/>
                <a:sym typeface="Open Sans"/>
              </a:defRPr>
            </a:lvl1pPr>
            <a:lvl2pPr indent="-355600" lvl="1" marL="914400" marR="0" algn="l">
              <a:lnSpc>
                <a:spcPct val="100000"/>
              </a:lnSpc>
              <a:spcBef>
                <a:spcPts val="400"/>
              </a:spcBef>
              <a:spcAft>
                <a:spcPts val="0"/>
              </a:spcAft>
              <a:buClr>
                <a:schemeClr val="dk2"/>
              </a:buClr>
              <a:buSzPts val="2000"/>
              <a:buFont typeface="Arial"/>
              <a:buChar char="–"/>
              <a:defRPr b="1" i="0" sz="2000" u="none" cap="none" strike="noStrike">
                <a:solidFill>
                  <a:schemeClr val="dk2"/>
                </a:solidFill>
                <a:latin typeface="Open Sans"/>
                <a:ea typeface="Open Sans"/>
                <a:cs typeface="Open Sans"/>
                <a:sym typeface="Open Sans"/>
              </a:defRPr>
            </a:lvl2pPr>
            <a:lvl3pPr indent="-342900" lvl="2" marL="1371600" marR="0" algn="l">
              <a:lnSpc>
                <a:spcPct val="100000"/>
              </a:lnSpc>
              <a:spcBef>
                <a:spcPts val="360"/>
              </a:spcBef>
              <a:spcAft>
                <a:spcPts val="0"/>
              </a:spcAft>
              <a:buClr>
                <a:schemeClr val="dk2"/>
              </a:buClr>
              <a:buSzPts val="1800"/>
              <a:buFont typeface="Merriweather Sans"/>
              <a:buChar char="&gt;"/>
              <a:defRPr b="1" i="0" sz="1800" u="none" cap="none" strike="noStrike">
                <a:solidFill>
                  <a:schemeClr val="dk2"/>
                </a:solidFill>
                <a:latin typeface="Open Sans"/>
                <a:ea typeface="Open Sans"/>
                <a:cs typeface="Open Sans"/>
                <a:sym typeface="Open Sans"/>
              </a:defRPr>
            </a:lvl3pPr>
            <a:lvl4pPr indent="-330200" lvl="3" marL="1828800" marR="0" algn="l">
              <a:lnSpc>
                <a:spcPct val="100000"/>
              </a:lnSpc>
              <a:spcBef>
                <a:spcPts val="320"/>
              </a:spcBef>
              <a:spcAft>
                <a:spcPts val="0"/>
              </a:spcAft>
              <a:buClr>
                <a:schemeClr val="dk2"/>
              </a:buClr>
              <a:buSzPts val="1600"/>
              <a:buFont typeface="Arial"/>
              <a:buChar char="–"/>
              <a:defRPr b="1" i="0" sz="1600" u="none" cap="none" strike="noStrike">
                <a:solidFill>
                  <a:schemeClr val="dk2"/>
                </a:solidFill>
                <a:latin typeface="Open Sans"/>
                <a:ea typeface="Open Sans"/>
                <a:cs typeface="Open Sans"/>
                <a:sym typeface="Open Sans"/>
              </a:defRPr>
            </a:lvl4pPr>
            <a:lvl5pPr indent="-317500" lvl="4" marL="2286000" marR="0" algn="l">
              <a:lnSpc>
                <a:spcPct val="100000"/>
              </a:lnSpc>
              <a:spcBef>
                <a:spcPts val="280"/>
              </a:spcBef>
              <a:spcAft>
                <a:spcPts val="0"/>
              </a:spcAft>
              <a:buClr>
                <a:schemeClr val="dk2"/>
              </a:buClr>
              <a:buSzPts val="1400"/>
              <a:buFont typeface="Merriweather Sans"/>
              <a:buChar char="&gt;"/>
              <a:defRPr b="1" i="0" sz="1400" u="none" cap="none" strike="noStrike">
                <a:solidFill>
                  <a:schemeClr val="dk2"/>
                </a:solidFill>
                <a:latin typeface="Open Sans"/>
                <a:ea typeface="Open Sans"/>
                <a:cs typeface="Open Sans"/>
                <a:sym typeface="Open Sans"/>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Subheader + Content 1">
  <p:cSld name="Header + Subheader + Content_1">
    <p:spTree>
      <p:nvGrpSpPr>
        <p:cNvPr id="50" name="Shape 50"/>
        <p:cNvGrpSpPr/>
        <p:nvPr/>
      </p:nvGrpSpPr>
      <p:grpSpPr>
        <a:xfrm>
          <a:off x="0" y="0"/>
          <a:ext cx="0" cy="0"/>
          <a:chOff x="0" y="0"/>
          <a:chExt cx="0" cy="0"/>
        </a:xfrm>
      </p:grpSpPr>
      <p:sp>
        <p:nvSpPr>
          <p:cNvPr id="51" name="Google Shape;51;g3e20daa30c1_0_11"/>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lvl1pPr lvl="0" marR="0" algn="l">
              <a:lnSpc>
                <a:spcPct val="100000"/>
              </a:lnSpc>
              <a:spcBef>
                <a:spcPts val="0"/>
              </a:spcBef>
              <a:spcAft>
                <a:spcPts val="0"/>
              </a:spcAft>
              <a:buClr>
                <a:schemeClr val="dk1"/>
              </a:buClr>
              <a:buSzPts val="3000"/>
              <a:buFont typeface="Encode Sans Black"/>
              <a:buNone/>
              <a:defRPr b="1" i="0" sz="3000" u="none" cap="none" strike="noStrike">
                <a:solidFill>
                  <a:schemeClr val="dk1"/>
                </a:solidFill>
                <a:latin typeface="Encode Sans Black"/>
                <a:ea typeface="Encode Sans Black"/>
                <a:cs typeface="Encode Sans Black"/>
                <a:sym typeface="Encode Sans Black"/>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g3e20daa30c1_0_11"/>
          <p:cNvSpPr txBox="1"/>
          <p:nvPr>
            <p:ph idx="1" type="body"/>
          </p:nvPr>
        </p:nvSpPr>
        <p:spPr>
          <a:xfrm>
            <a:off x="460375" y="1730667"/>
            <a:ext cx="8184600" cy="411300"/>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48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algn="l">
              <a:lnSpc>
                <a:spcPct val="100000"/>
              </a:lnSpc>
              <a:spcBef>
                <a:spcPts val="560"/>
              </a:spcBef>
              <a:spcAft>
                <a:spcPts val="0"/>
              </a:spcAft>
              <a:buClr>
                <a:srgbClr val="E8D3A2"/>
              </a:buClr>
              <a:buSzPts val="2800"/>
              <a:buFont typeface="Arial"/>
              <a:buNone/>
              <a:defRPr b="0" i="0" sz="2800" u="none" cap="none" strike="noStrike">
                <a:solidFill>
                  <a:srgbClr val="E8D3A2"/>
                </a:solidFill>
                <a:latin typeface="Encode Sans Black"/>
                <a:ea typeface="Encode Sans Black"/>
                <a:cs typeface="Encode Sans Black"/>
                <a:sym typeface="Encode Sans Black"/>
              </a:defRPr>
            </a:lvl2pPr>
            <a:lvl3pPr indent="-228600" lvl="2" marL="1371600" marR="0" algn="l">
              <a:lnSpc>
                <a:spcPct val="100000"/>
              </a:lnSpc>
              <a:spcBef>
                <a:spcPts val="480"/>
              </a:spcBef>
              <a:spcAft>
                <a:spcPts val="0"/>
              </a:spcAft>
              <a:buClr>
                <a:srgbClr val="E8D3A2"/>
              </a:buClr>
              <a:buSzPts val="2400"/>
              <a:buFont typeface="Arial"/>
              <a:buNone/>
              <a:defRPr b="0" i="0" sz="2400" u="none" cap="none" strike="noStrike">
                <a:solidFill>
                  <a:srgbClr val="E8D3A2"/>
                </a:solidFill>
                <a:latin typeface="Encode Sans Black"/>
                <a:ea typeface="Encode Sans Black"/>
                <a:cs typeface="Encode Sans Black"/>
                <a:sym typeface="Encode Sans Black"/>
              </a:defRPr>
            </a:lvl3pPr>
            <a:lvl4pPr indent="-228600" lvl="3" marL="1828800" marR="0" algn="l">
              <a:lnSpc>
                <a:spcPct val="100000"/>
              </a:lnSpc>
              <a:spcBef>
                <a:spcPts val="400"/>
              </a:spcBef>
              <a:spcAft>
                <a:spcPts val="0"/>
              </a:spcAft>
              <a:buClr>
                <a:srgbClr val="E8D3A2"/>
              </a:buClr>
              <a:buSzPts val="2000"/>
              <a:buFont typeface="Arial"/>
              <a:buNone/>
              <a:defRPr b="0" i="0" sz="2000" u="none" cap="none" strike="noStrike">
                <a:solidFill>
                  <a:srgbClr val="E8D3A2"/>
                </a:solidFill>
                <a:latin typeface="Encode Sans Black"/>
                <a:ea typeface="Encode Sans Black"/>
                <a:cs typeface="Encode Sans Black"/>
                <a:sym typeface="Encode Sans Black"/>
              </a:defRPr>
            </a:lvl4pPr>
            <a:lvl5pPr indent="-228600" lvl="4" marL="2286000" marR="0" algn="l">
              <a:lnSpc>
                <a:spcPct val="100000"/>
              </a:lnSpc>
              <a:spcBef>
                <a:spcPts val="400"/>
              </a:spcBef>
              <a:spcAft>
                <a:spcPts val="0"/>
              </a:spcAft>
              <a:buClr>
                <a:srgbClr val="E8D3A2"/>
              </a:buClr>
              <a:buSzPts val="2000"/>
              <a:buFont typeface="Arial"/>
              <a:buNone/>
              <a:defRPr b="0" i="0" sz="2000" u="none" cap="none" strike="noStrike">
                <a:solidFill>
                  <a:srgbClr val="E8D3A2"/>
                </a:solidFill>
                <a:latin typeface="Encode Sans Black"/>
                <a:ea typeface="Encode Sans Black"/>
                <a:cs typeface="Encode Sans Black"/>
                <a:sym typeface="Encode Sans Black"/>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g3e20daa30c1_0_11"/>
          <p:cNvSpPr txBox="1"/>
          <p:nvPr>
            <p:ph idx="2" type="body"/>
          </p:nvPr>
        </p:nvSpPr>
        <p:spPr>
          <a:xfrm>
            <a:off x="447923" y="2320239"/>
            <a:ext cx="8197200" cy="2251800"/>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480"/>
              </a:spcBef>
              <a:spcAft>
                <a:spcPts val="0"/>
              </a:spcAft>
              <a:buClr>
                <a:schemeClr val="dk2"/>
              </a:buClr>
              <a:buSzPts val="2400"/>
              <a:buFont typeface="Merriweather Sans"/>
              <a:buChar char="&gt;"/>
              <a:defRPr b="1" i="0" sz="2400" u="none" cap="none" strike="noStrike">
                <a:solidFill>
                  <a:schemeClr val="dk2"/>
                </a:solidFill>
                <a:latin typeface="Open Sans"/>
                <a:ea typeface="Open Sans"/>
                <a:cs typeface="Open Sans"/>
                <a:sym typeface="Open Sans"/>
              </a:defRPr>
            </a:lvl1pPr>
            <a:lvl2pPr indent="-355600" lvl="1" marL="914400" marR="0" algn="l">
              <a:lnSpc>
                <a:spcPct val="100000"/>
              </a:lnSpc>
              <a:spcBef>
                <a:spcPts val="400"/>
              </a:spcBef>
              <a:spcAft>
                <a:spcPts val="0"/>
              </a:spcAft>
              <a:buClr>
                <a:schemeClr val="dk2"/>
              </a:buClr>
              <a:buSzPts val="2000"/>
              <a:buFont typeface="Arial"/>
              <a:buChar char="–"/>
              <a:defRPr b="1" i="0" sz="2000" u="none" cap="none" strike="noStrike">
                <a:solidFill>
                  <a:schemeClr val="dk2"/>
                </a:solidFill>
                <a:latin typeface="Open Sans"/>
                <a:ea typeface="Open Sans"/>
                <a:cs typeface="Open Sans"/>
                <a:sym typeface="Open Sans"/>
              </a:defRPr>
            </a:lvl2pPr>
            <a:lvl3pPr indent="-342900" lvl="2" marL="1371600" marR="0" algn="l">
              <a:lnSpc>
                <a:spcPct val="100000"/>
              </a:lnSpc>
              <a:spcBef>
                <a:spcPts val="360"/>
              </a:spcBef>
              <a:spcAft>
                <a:spcPts val="0"/>
              </a:spcAft>
              <a:buClr>
                <a:schemeClr val="dk2"/>
              </a:buClr>
              <a:buSzPts val="1800"/>
              <a:buFont typeface="Merriweather Sans"/>
              <a:buChar char="&gt;"/>
              <a:defRPr b="1" i="0" sz="1800" u="none" cap="none" strike="noStrike">
                <a:solidFill>
                  <a:schemeClr val="dk2"/>
                </a:solidFill>
                <a:latin typeface="Open Sans"/>
                <a:ea typeface="Open Sans"/>
                <a:cs typeface="Open Sans"/>
                <a:sym typeface="Open Sans"/>
              </a:defRPr>
            </a:lvl3pPr>
            <a:lvl4pPr indent="-330200" lvl="3" marL="1828800" marR="0" algn="l">
              <a:lnSpc>
                <a:spcPct val="100000"/>
              </a:lnSpc>
              <a:spcBef>
                <a:spcPts val="320"/>
              </a:spcBef>
              <a:spcAft>
                <a:spcPts val="0"/>
              </a:spcAft>
              <a:buClr>
                <a:schemeClr val="dk2"/>
              </a:buClr>
              <a:buSzPts val="1600"/>
              <a:buFont typeface="Arial"/>
              <a:buChar char="–"/>
              <a:defRPr b="1" i="0" sz="1600" u="none" cap="none" strike="noStrike">
                <a:solidFill>
                  <a:schemeClr val="dk2"/>
                </a:solidFill>
                <a:latin typeface="Open Sans"/>
                <a:ea typeface="Open Sans"/>
                <a:cs typeface="Open Sans"/>
                <a:sym typeface="Open Sans"/>
              </a:defRPr>
            </a:lvl4pPr>
            <a:lvl5pPr indent="-317500" lvl="4" marL="2286000" marR="0" algn="l">
              <a:lnSpc>
                <a:spcPct val="100000"/>
              </a:lnSpc>
              <a:spcBef>
                <a:spcPts val="280"/>
              </a:spcBef>
              <a:spcAft>
                <a:spcPts val="0"/>
              </a:spcAft>
              <a:buClr>
                <a:schemeClr val="dk2"/>
              </a:buClr>
              <a:buSzPts val="1400"/>
              <a:buFont typeface="Merriweather Sans"/>
              <a:buChar char="&gt;"/>
              <a:defRPr b="1" i="0" sz="1400" u="none" cap="none" strike="noStrike">
                <a:solidFill>
                  <a:schemeClr val="dk2"/>
                </a:solidFill>
                <a:latin typeface="Open Sans"/>
                <a:ea typeface="Open Sans"/>
                <a:cs typeface="Open Sans"/>
                <a:sym typeface="Open Sans"/>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4" name="Shape 54"/>
        <p:cNvGrpSpPr/>
        <p:nvPr/>
      </p:nvGrpSpPr>
      <p:grpSpPr>
        <a:xfrm>
          <a:off x="0" y="0"/>
          <a:ext cx="0" cy="0"/>
          <a:chOff x="0" y="0"/>
          <a:chExt cx="0" cy="0"/>
        </a:xfrm>
      </p:grpSpPr>
      <p:sp>
        <p:nvSpPr>
          <p:cNvPr id="55" name="Google Shape;55;p29"/>
          <p:cNvSpPr txBox="1"/>
          <p:nvPr>
            <p:ph type="title"/>
          </p:nvPr>
        </p:nvSpPr>
        <p:spPr>
          <a:xfrm>
            <a:off x="460376" y="644993"/>
            <a:ext cx="7023540" cy="2641756"/>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5000"/>
              <a:buFont typeface="Encode Sans Black"/>
              <a:buNone/>
              <a:defRPr b="1" i="0" sz="5000" u="none" cap="none" strike="noStrike">
                <a:solidFill>
                  <a:schemeClr val="dk1"/>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56" name="Google Shape;56;p29"/>
          <p:cNvPicPr preferRelativeResize="0"/>
          <p:nvPr/>
        </p:nvPicPr>
        <p:blipFill rotWithShape="1">
          <a:blip r:embed="rId2">
            <a:alphaModFix/>
          </a:blip>
          <a:srcRect b="0" l="0" r="0" t="0"/>
          <a:stretch/>
        </p:blipFill>
        <p:spPr>
          <a:xfrm>
            <a:off x="568081" y="3426449"/>
            <a:ext cx="1600200" cy="139700"/>
          </a:xfrm>
          <a:prstGeom prst="rect">
            <a:avLst/>
          </a:prstGeom>
          <a:noFill/>
          <a:ln>
            <a:noFill/>
          </a:ln>
        </p:spPr>
      </p:pic>
      <p:pic>
        <p:nvPicPr>
          <p:cNvPr id="57" name="Google Shape;57;p29"/>
          <p:cNvPicPr preferRelativeResize="0"/>
          <p:nvPr/>
        </p:nvPicPr>
        <p:blipFill rotWithShape="1">
          <a:blip r:embed="rId3">
            <a:alphaModFix/>
          </a:blip>
          <a:srcRect b="0" l="0" r="0" t="0"/>
          <a:stretch/>
        </p:blipFill>
        <p:spPr>
          <a:xfrm>
            <a:off x="568085" y="4675530"/>
            <a:ext cx="2539991" cy="17231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58" name="Shape 58"/>
        <p:cNvGrpSpPr/>
        <p:nvPr/>
      </p:nvGrpSpPr>
      <p:grpSpPr>
        <a:xfrm>
          <a:off x="0" y="0"/>
          <a:ext cx="0" cy="0"/>
          <a:chOff x="0" y="0"/>
          <a:chExt cx="0" cy="0"/>
        </a:xfrm>
      </p:grpSpPr>
      <p:sp>
        <p:nvSpPr>
          <p:cNvPr id="59" name="Google Shape;59;p28"/>
          <p:cNvSpPr txBox="1"/>
          <p:nvPr>
            <p:ph type="title"/>
          </p:nvPr>
        </p:nvSpPr>
        <p:spPr>
          <a:xfrm>
            <a:off x="460375" y="644993"/>
            <a:ext cx="7023540" cy="2641756"/>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5000"/>
              <a:buFont typeface="Encode Sans Black"/>
              <a:buNone/>
              <a:defRPr b="1" i="0" sz="5000" u="none" cap="none" strike="noStrike">
                <a:solidFill>
                  <a:schemeClr val="dk1"/>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60" name="Google Shape;60;p28"/>
          <p:cNvPicPr preferRelativeResize="0"/>
          <p:nvPr/>
        </p:nvPicPr>
        <p:blipFill rotWithShape="1">
          <a:blip r:embed="rId2">
            <a:alphaModFix/>
          </a:blip>
          <a:srcRect b="0" l="0" r="0" t="0"/>
          <a:stretch/>
        </p:blipFill>
        <p:spPr>
          <a:xfrm>
            <a:off x="568081" y="3426449"/>
            <a:ext cx="1600200" cy="139700"/>
          </a:xfrm>
          <a:prstGeom prst="rect">
            <a:avLst/>
          </a:prstGeom>
          <a:noFill/>
          <a:ln>
            <a:noFill/>
          </a:ln>
        </p:spPr>
      </p:pic>
      <p:pic>
        <p:nvPicPr>
          <p:cNvPr id="61" name="Google Shape;61;p28"/>
          <p:cNvPicPr preferRelativeResize="0"/>
          <p:nvPr/>
        </p:nvPicPr>
        <p:blipFill rotWithShape="1">
          <a:blip r:embed="rId3">
            <a:alphaModFix/>
          </a:blip>
          <a:srcRect b="0" l="0" r="0" t="0"/>
          <a:stretch/>
        </p:blipFill>
        <p:spPr>
          <a:xfrm>
            <a:off x="568081" y="4599009"/>
            <a:ext cx="2425226" cy="213273"/>
          </a:xfrm>
          <a:prstGeom prst="rect">
            <a:avLst/>
          </a:prstGeom>
          <a:noFill/>
          <a:ln>
            <a:noFill/>
          </a:ln>
        </p:spPr>
      </p:pic>
      <p:pic>
        <p:nvPicPr>
          <p:cNvPr id="62" name="Google Shape;62;p28"/>
          <p:cNvPicPr preferRelativeResize="0"/>
          <p:nvPr/>
        </p:nvPicPr>
        <p:blipFill rotWithShape="1">
          <a:blip r:embed="rId4">
            <a:alphaModFix/>
          </a:blip>
          <a:srcRect b="0" l="0" r="0" t="0"/>
          <a:stretch/>
        </p:blipFill>
        <p:spPr>
          <a:xfrm>
            <a:off x="7483915" y="4219956"/>
            <a:ext cx="1371600" cy="923544"/>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Content">
  <p:cSld name="Header + Content">
    <p:spTree>
      <p:nvGrpSpPr>
        <p:cNvPr id="63" name="Shape 63"/>
        <p:cNvGrpSpPr/>
        <p:nvPr/>
      </p:nvGrpSpPr>
      <p:grpSpPr>
        <a:xfrm>
          <a:off x="0" y="0"/>
          <a:ext cx="0" cy="0"/>
          <a:chOff x="0" y="0"/>
          <a:chExt cx="0" cy="0"/>
        </a:xfrm>
      </p:grpSpPr>
      <p:sp>
        <p:nvSpPr>
          <p:cNvPr id="64" name="Google Shape;64;p30"/>
          <p:cNvSpPr txBox="1"/>
          <p:nvPr>
            <p:ph type="title"/>
          </p:nvPr>
        </p:nvSpPr>
        <p:spPr>
          <a:xfrm>
            <a:off x="460375" y="370622"/>
            <a:ext cx="8184662" cy="9937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3000"/>
              <a:buFont typeface="Encode Sans Black"/>
              <a:buNone/>
              <a:defRPr b="1" i="0" sz="3000" u="none" cap="none" strike="noStrike">
                <a:solidFill>
                  <a:schemeClr val="dk1"/>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65" name="Google Shape;65;p30"/>
          <p:cNvPicPr preferRelativeResize="0"/>
          <p:nvPr/>
        </p:nvPicPr>
        <p:blipFill rotWithShape="1">
          <a:blip r:embed="rId2">
            <a:alphaModFix/>
          </a:blip>
          <a:srcRect b="0" l="0" r="0" t="0"/>
          <a:stretch/>
        </p:blipFill>
        <p:spPr>
          <a:xfrm>
            <a:off x="549031" y="1363508"/>
            <a:ext cx="1103781" cy="96362"/>
          </a:xfrm>
          <a:prstGeom prst="rect">
            <a:avLst/>
          </a:prstGeom>
          <a:noFill/>
          <a:ln>
            <a:noFill/>
          </a:ln>
        </p:spPr>
      </p:pic>
      <p:sp>
        <p:nvSpPr>
          <p:cNvPr id="66" name="Google Shape;66;p30"/>
          <p:cNvSpPr txBox="1"/>
          <p:nvPr>
            <p:ph idx="1" type="body"/>
          </p:nvPr>
        </p:nvSpPr>
        <p:spPr>
          <a:xfrm>
            <a:off x="447923" y="1730667"/>
            <a:ext cx="8197114" cy="2365901"/>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2"/>
              </a:buClr>
              <a:buSzPts val="2400"/>
              <a:buFont typeface="Merriweather Sans"/>
              <a:buChar char="&gt;"/>
              <a:defRPr b="1" i="0" sz="2400" u="none" cap="none" strike="noStrike">
                <a:solidFill>
                  <a:schemeClr val="dk2"/>
                </a:solidFill>
                <a:latin typeface="Open Sans"/>
                <a:ea typeface="Open Sans"/>
                <a:cs typeface="Open Sans"/>
                <a:sym typeface="Open Sans"/>
              </a:defRPr>
            </a:lvl1pPr>
            <a:lvl2pPr indent="-355600" lvl="1" marL="914400" marR="0" rtl="0" algn="l">
              <a:lnSpc>
                <a:spcPct val="100000"/>
              </a:lnSpc>
              <a:spcBef>
                <a:spcPts val="400"/>
              </a:spcBef>
              <a:spcAft>
                <a:spcPts val="0"/>
              </a:spcAft>
              <a:buClr>
                <a:schemeClr val="dk2"/>
              </a:buClr>
              <a:buSzPts val="2000"/>
              <a:buFont typeface="Arial"/>
              <a:buChar char="–"/>
              <a:defRPr b="1" i="0" sz="2000" u="none" cap="none" strike="noStrike">
                <a:solidFill>
                  <a:schemeClr val="dk2"/>
                </a:solidFill>
                <a:latin typeface="Open Sans"/>
                <a:ea typeface="Open Sans"/>
                <a:cs typeface="Open Sans"/>
                <a:sym typeface="Open Sans"/>
              </a:defRPr>
            </a:lvl2pPr>
            <a:lvl3pPr indent="-342900" lvl="2" marL="1371600" marR="0" rtl="0" algn="l">
              <a:lnSpc>
                <a:spcPct val="100000"/>
              </a:lnSpc>
              <a:spcBef>
                <a:spcPts val="360"/>
              </a:spcBef>
              <a:spcAft>
                <a:spcPts val="0"/>
              </a:spcAft>
              <a:buClr>
                <a:schemeClr val="dk2"/>
              </a:buClr>
              <a:buSzPts val="1800"/>
              <a:buFont typeface="Merriweather Sans"/>
              <a:buChar char="&gt;"/>
              <a:defRPr b="1" i="0" sz="1800" u="none" cap="none" strike="noStrike">
                <a:solidFill>
                  <a:schemeClr val="dk2"/>
                </a:solidFill>
                <a:latin typeface="Open Sans"/>
                <a:ea typeface="Open Sans"/>
                <a:cs typeface="Open Sans"/>
                <a:sym typeface="Open Sans"/>
              </a:defRPr>
            </a:lvl3pPr>
            <a:lvl4pPr indent="-330200" lvl="3" marL="1828800" marR="0" rtl="0" algn="l">
              <a:lnSpc>
                <a:spcPct val="100000"/>
              </a:lnSpc>
              <a:spcBef>
                <a:spcPts val="320"/>
              </a:spcBef>
              <a:spcAft>
                <a:spcPts val="0"/>
              </a:spcAft>
              <a:buClr>
                <a:schemeClr val="dk2"/>
              </a:buClr>
              <a:buSzPts val="1600"/>
              <a:buFont typeface="Arial"/>
              <a:buChar char="–"/>
              <a:defRPr b="1" i="0" sz="1600" u="none" cap="none" strike="noStrike">
                <a:solidFill>
                  <a:schemeClr val="dk2"/>
                </a:solidFill>
                <a:latin typeface="Open Sans"/>
                <a:ea typeface="Open Sans"/>
                <a:cs typeface="Open Sans"/>
                <a:sym typeface="Open Sans"/>
              </a:defRPr>
            </a:lvl4pPr>
            <a:lvl5pPr indent="-317500" lvl="4" marL="2286000" marR="0" rtl="0" algn="l">
              <a:lnSpc>
                <a:spcPct val="100000"/>
              </a:lnSpc>
              <a:spcBef>
                <a:spcPts val="280"/>
              </a:spcBef>
              <a:spcAft>
                <a:spcPts val="0"/>
              </a:spcAft>
              <a:buClr>
                <a:schemeClr val="dk2"/>
              </a:buClr>
              <a:buSzPts val="1400"/>
              <a:buFont typeface="Merriweather Sans"/>
              <a:buChar char="&gt;"/>
              <a:defRPr b="1" i="0" sz="1400" u="none" cap="none" strike="noStrike">
                <a:solidFill>
                  <a:schemeClr val="dk2"/>
                </a:solidFill>
                <a:latin typeface="Open Sans"/>
                <a:ea typeface="Open Sans"/>
                <a:cs typeface="Open Sans"/>
                <a:sym typeface="Open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Graphic">
  <p:cSld name="Header + Graphic">
    <p:spTree>
      <p:nvGrpSpPr>
        <p:cNvPr id="67" name="Shape 67"/>
        <p:cNvGrpSpPr/>
        <p:nvPr/>
      </p:nvGrpSpPr>
      <p:grpSpPr>
        <a:xfrm>
          <a:off x="0" y="0"/>
          <a:ext cx="0" cy="0"/>
          <a:chOff x="0" y="0"/>
          <a:chExt cx="0" cy="0"/>
        </a:xfrm>
      </p:grpSpPr>
      <p:sp>
        <p:nvSpPr>
          <p:cNvPr id="68" name="Google Shape;68;p31"/>
          <p:cNvSpPr txBox="1"/>
          <p:nvPr>
            <p:ph type="title"/>
          </p:nvPr>
        </p:nvSpPr>
        <p:spPr>
          <a:xfrm>
            <a:off x="460375" y="369733"/>
            <a:ext cx="8172210" cy="9937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3000"/>
              <a:buFont typeface="Encode Sans Black"/>
              <a:buNone/>
              <a:defRPr b="1" i="0" sz="3000" u="none" cap="none" strike="noStrike">
                <a:solidFill>
                  <a:schemeClr val="dk1"/>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69" name="Google Shape;69;p31"/>
          <p:cNvPicPr preferRelativeResize="0"/>
          <p:nvPr/>
        </p:nvPicPr>
        <p:blipFill rotWithShape="1">
          <a:blip r:embed="rId2">
            <a:alphaModFix/>
          </a:blip>
          <a:srcRect b="0" l="0" r="0" t="0"/>
          <a:stretch/>
        </p:blipFill>
        <p:spPr>
          <a:xfrm>
            <a:off x="549031" y="1363508"/>
            <a:ext cx="1103781" cy="96362"/>
          </a:xfrm>
          <a:prstGeom prst="rect">
            <a:avLst/>
          </a:prstGeom>
          <a:noFill/>
          <a:ln>
            <a:noFill/>
          </a:ln>
        </p:spPr>
      </p:pic>
      <p:sp>
        <p:nvSpPr>
          <p:cNvPr id="70" name="Google Shape;70;p31"/>
          <p:cNvSpPr/>
          <p:nvPr>
            <p:ph idx="2" type="chart"/>
          </p:nvPr>
        </p:nvSpPr>
        <p:spPr>
          <a:xfrm>
            <a:off x="447923" y="1724977"/>
            <a:ext cx="8184662" cy="2961163"/>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480"/>
              </a:spcBef>
              <a:spcAft>
                <a:spcPts val="0"/>
              </a:spcAft>
              <a:buClr>
                <a:schemeClr val="dk1"/>
              </a:buClr>
              <a:buSzPts val="2400"/>
              <a:buFont typeface="Arial"/>
              <a:buNone/>
              <a:defRPr b="0" i="1" sz="2400" u="none" cap="none" strike="noStrike">
                <a:solidFill>
                  <a:schemeClr val="dk1"/>
                </a:solidFill>
                <a:latin typeface="Open Sans Light"/>
                <a:ea typeface="Open Sans Light"/>
                <a:cs typeface="Open Sans Light"/>
                <a:sym typeface="Open Sans Light"/>
              </a:defRPr>
            </a:lvl1pPr>
            <a:lvl2pPr lvl="1"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lvl="2"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lvl="3"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lvl="4"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1" name="Shape 71"/>
        <p:cNvGrpSpPr/>
        <p:nvPr/>
      </p:nvGrpSpPr>
      <p:grpSpPr>
        <a:xfrm>
          <a:off x="0" y="0"/>
          <a:ext cx="0" cy="0"/>
          <a:chOff x="0" y="0"/>
          <a:chExt cx="0" cy="0"/>
        </a:xfrm>
      </p:grpSpPr>
      <p:sp>
        <p:nvSpPr>
          <p:cNvPr id="72" name="Google Shape;72;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ctr">
              <a:lnSpc>
                <a:spcPct val="100000"/>
              </a:lnSpc>
              <a:spcBef>
                <a:spcPts val="0"/>
              </a:spcBef>
              <a:spcAft>
                <a:spcPts val="0"/>
              </a:spcAft>
              <a:buClr>
                <a:schemeClr val="dk1"/>
              </a:buClr>
              <a:buSzPts val="28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00000"/>
              </a:lnSpc>
              <a:spcBef>
                <a:spcPts val="0"/>
              </a:spcBef>
              <a:spcAft>
                <a:spcPts val="0"/>
              </a:spcAft>
              <a:buClr>
                <a:schemeClr val="dk1"/>
              </a:buClr>
              <a:buSzPts val="1800"/>
              <a:buFont typeface="Arial"/>
              <a:buChar char="●"/>
              <a:defRPr b="0" i="0" sz="3200" u="none" cap="none" strike="noStrike">
                <a:solidFill>
                  <a:schemeClr val="dk1"/>
                </a:solidFill>
                <a:latin typeface="Calibri"/>
                <a:ea typeface="Calibri"/>
                <a:cs typeface="Calibri"/>
                <a:sym typeface="Calibri"/>
              </a:defRPr>
            </a:lvl1pPr>
            <a:lvl2pPr indent="-317500" lvl="1" marL="914400" marR="0" rtl="0" algn="l">
              <a:lnSpc>
                <a:spcPct val="100000"/>
              </a:lnSpc>
              <a:spcBef>
                <a:spcPts val="0"/>
              </a:spcBef>
              <a:spcAft>
                <a:spcPts val="0"/>
              </a:spcAft>
              <a:buClr>
                <a:schemeClr val="dk1"/>
              </a:buClr>
              <a:buSzPts val="1400"/>
              <a:buFont typeface="Arial"/>
              <a:buChar char="○"/>
              <a:defRPr b="0" i="0" sz="2800" u="none" cap="none" strike="noStrike">
                <a:solidFill>
                  <a:schemeClr val="dk1"/>
                </a:solidFill>
                <a:latin typeface="Calibri"/>
                <a:ea typeface="Calibri"/>
                <a:cs typeface="Calibri"/>
                <a:sym typeface="Calibri"/>
              </a:defRPr>
            </a:lvl2pPr>
            <a:lvl3pPr indent="-317500" lvl="2" marL="1371600" marR="0" rtl="0" algn="l">
              <a:lnSpc>
                <a:spcPct val="100000"/>
              </a:lnSpc>
              <a:spcBef>
                <a:spcPts val="0"/>
              </a:spcBef>
              <a:spcAft>
                <a:spcPts val="0"/>
              </a:spcAft>
              <a:buClr>
                <a:schemeClr val="dk1"/>
              </a:buClr>
              <a:buSzPts val="1400"/>
              <a:buFont typeface="Arial"/>
              <a:buChar char="■"/>
              <a:defRPr b="0" i="0" sz="2400" u="none" cap="none" strike="noStrike">
                <a:solidFill>
                  <a:schemeClr val="dk1"/>
                </a:solidFill>
                <a:latin typeface="Calibri"/>
                <a:ea typeface="Calibri"/>
                <a:cs typeface="Calibri"/>
                <a:sym typeface="Calibri"/>
              </a:defRPr>
            </a:lvl3pPr>
            <a:lvl4pPr indent="-317500" lvl="3" marL="1828800" marR="0" rtl="0" algn="l">
              <a:lnSpc>
                <a:spcPct val="100000"/>
              </a:lnSpc>
              <a:spcBef>
                <a:spcPts val="0"/>
              </a:spcBef>
              <a:spcAft>
                <a:spcPts val="0"/>
              </a:spcAft>
              <a:buClr>
                <a:schemeClr val="dk1"/>
              </a:buClr>
              <a:buSzPts val="1400"/>
              <a:buFont typeface="Arial"/>
              <a:buChar char="●"/>
              <a:defRPr b="0" i="0" sz="2000" u="none" cap="none" strike="noStrike">
                <a:solidFill>
                  <a:schemeClr val="dk1"/>
                </a:solidFill>
                <a:latin typeface="Calibri"/>
                <a:ea typeface="Calibri"/>
                <a:cs typeface="Calibri"/>
                <a:sym typeface="Calibri"/>
              </a:defRPr>
            </a:lvl4pPr>
            <a:lvl5pPr indent="-317500" lvl="4" marL="2286000" marR="0" rtl="0" algn="l">
              <a:lnSpc>
                <a:spcPct val="100000"/>
              </a:lnSpc>
              <a:spcBef>
                <a:spcPts val="0"/>
              </a:spcBef>
              <a:spcAft>
                <a:spcPts val="0"/>
              </a:spcAft>
              <a:buClr>
                <a:schemeClr val="dk1"/>
              </a:buClr>
              <a:buSzPts val="1400"/>
              <a:buFont typeface="Arial"/>
              <a:buChar char="○"/>
              <a:defRPr b="0" i="0" sz="2000" u="none" cap="none" strike="noStrike">
                <a:solidFill>
                  <a:schemeClr val="dk1"/>
                </a:solidFill>
                <a:latin typeface="Calibri"/>
                <a:ea typeface="Calibri"/>
                <a:cs typeface="Calibri"/>
                <a:sym typeface="Calibri"/>
              </a:defRPr>
            </a:lvl5pPr>
            <a:lvl6pPr indent="-317500" lvl="5" marL="2743200" marR="0" rtl="0" algn="l">
              <a:lnSpc>
                <a:spcPct val="100000"/>
              </a:lnSpc>
              <a:spcBef>
                <a:spcPts val="0"/>
              </a:spcBef>
              <a:spcAft>
                <a:spcPts val="0"/>
              </a:spcAft>
              <a:buClr>
                <a:schemeClr val="dk1"/>
              </a:buClr>
              <a:buSzPts val="1400"/>
              <a:buFont typeface="Arial"/>
              <a:buChar char="■"/>
              <a:defRPr b="0" i="0" sz="2000" u="none" cap="none" strike="noStrike">
                <a:solidFill>
                  <a:schemeClr val="dk1"/>
                </a:solidFill>
                <a:latin typeface="Calibri"/>
                <a:ea typeface="Calibri"/>
                <a:cs typeface="Calibri"/>
                <a:sym typeface="Calibri"/>
              </a:defRPr>
            </a:lvl6pPr>
            <a:lvl7pPr indent="-317500" lvl="6" marL="3200400" marR="0" rtl="0" algn="l">
              <a:lnSpc>
                <a:spcPct val="100000"/>
              </a:lnSpc>
              <a:spcBef>
                <a:spcPts val="0"/>
              </a:spcBef>
              <a:spcAft>
                <a:spcPts val="0"/>
              </a:spcAft>
              <a:buClr>
                <a:schemeClr val="dk1"/>
              </a:buClr>
              <a:buSzPts val="1400"/>
              <a:buFont typeface="Arial"/>
              <a:buChar char="●"/>
              <a:defRPr b="0" i="0" sz="2000" u="none" cap="none" strike="noStrike">
                <a:solidFill>
                  <a:schemeClr val="dk1"/>
                </a:solidFill>
                <a:latin typeface="Calibri"/>
                <a:ea typeface="Calibri"/>
                <a:cs typeface="Calibri"/>
                <a:sym typeface="Calibri"/>
              </a:defRPr>
            </a:lvl7pPr>
            <a:lvl8pPr indent="-317500" lvl="7" marL="3657600" marR="0" rtl="0" algn="l">
              <a:lnSpc>
                <a:spcPct val="100000"/>
              </a:lnSpc>
              <a:spcBef>
                <a:spcPts val="0"/>
              </a:spcBef>
              <a:spcAft>
                <a:spcPts val="0"/>
              </a:spcAft>
              <a:buClr>
                <a:schemeClr val="dk1"/>
              </a:buClr>
              <a:buSzPts val="1400"/>
              <a:buFont typeface="Arial"/>
              <a:buChar char="○"/>
              <a:defRPr b="0" i="0" sz="2000" u="none" cap="none" strike="noStrike">
                <a:solidFill>
                  <a:schemeClr val="dk1"/>
                </a:solidFill>
                <a:latin typeface="Calibri"/>
                <a:ea typeface="Calibri"/>
                <a:cs typeface="Calibri"/>
                <a:sym typeface="Calibri"/>
              </a:defRPr>
            </a:lvl8pPr>
            <a:lvl9pPr indent="-317500" lvl="8" marL="4114800" marR="0" rtl="0" algn="l">
              <a:lnSpc>
                <a:spcPct val="100000"/>
              </a:lnSpc>
              <a:spcBef>
                <a:spcPts val="0"/>
              </a:spcBef>
              <a:spcAft>
                <a:spcPts val="0"/>
              </a:spcAft>
              <a:buClr>
                <a:schemeClr val="dk1"/>
              </a:buClr>
              <a:buSzPts val="1400"/>
              <a:buFont typeface="Arial"/>
              <a:buChar char="■"/>
              <a:defRPr b="0" i="0" sz="2000" u="none" cap="none" strike="noStrike">
                <a:solidFill>
                  <a:schemeClr val="dk1"/>
                </a:solidFill>
                <a:latin typeface="Calibri"/>
                <a:ea typeface="Calibri"/>
                <a:cs typeface="Calibri"/>
                <a:sym typeface="Calibri"/>
              </a:defRPr>
            </a:lvl9pPr>
          </a:lstStyle>
          <a:p/>
        </p:txBody>
      </p:sp>
      <p:sp>
        <p:nvSpPr>
          <p:cNvPr id="74" name="Google Shape;74;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9" Type="http://schemas.openxmlformats.org/officeDocument/2006/relationships/theme" Target="../theme/theme3.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9" name="Shape 3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
          <p:cNvSpPr txBox="1"/>
          <p:nvPr>
            <p:ph type="title"/>
          </p:nvPr>
        </p:nvSpPr>
        <p:spPr>
          <a:xfrm>
            <a:off x="460375" y="644993"/>
            <a:ext cx="6972300" cy="2641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lt2"/>
              </a:buClr>
              <a:buSzPts val="5000"/>
              <a:buFont typeface="Encode Sans Black"/>
              <a:buNone/>
            </a:pPr>
            <a:r>
              <a:rPr lang="en-US"/>
              <a:t>PGST Meeting 5/15</a:t>
            </a:r>
            <a:endParaRPr/>
          </a:p>
        </p:txBody>
      </p:sp>
      <p:sp>
        <p:nvSpPr>
          <p:cNvPr id="80" name="Google Shape;80;p1"/>
          <p:cNvSpPr txBox="1"/>
          <p:nvPr>
            <p:ph type="title"/>
          </p:nvPr>
        </p:nvSpPr>
        <p:spPr>
          <a:xfrm>
            <a:off x="454025" y="3637558"/>
            <a:ext cx="8586600" cy="971700"/>
          </a:xfrm>
          <a:prstGeom prst="rect">
            <a:avLst/>
          </a:prstGeom>
          <a:noFill/>
          <a:ln>
            <a:noFill/>
          </a:ln>
        </p:spPr>
        <p:txBody>
          <a:bodyPr anchorCtr="0" anchor="b" bIns="45700" lIns="91425" spcFirstLastPara="1" rIns="91425" wrap="square" tIns="45700">
            <a:noAutofit/>
          </a:bodyPr>
          <a:lstStyle/>
          <a:p>
            <a:pPr indent="0" lvl="0" marL="0" rtl="0" algn="l">
              <a:lnSpc>
                <a:spcPct val="150000"/>
              </a:lnSpc>
              <a:spcBef>
                <a:spcPts val="0"/>
              </a:spcBef>
              <a:spcAft>
                <a:spcPts val="0"/>
              </a:spcAft>
              <a:buClr>
                <a:schemeClr val="lt2"/>
              </a:buClr>
              <a:buSzPts val="5000"/>
              <a:buFont typeface="Encode Sans Black"/>
              <a:buNone/>
            </a:pPr>
            <a:r>
              <a:rPr lang="en-US" sz="2000">
                <a:solidFill>
                  <a:schemeClr val="lt1"/>
                </a:solidFill>
              </a:rPr>
              <a:t>Port Gamble S'Klallam Tribe Energy Analysis and Decarbonization</a:t>
            </a:r>
            <a:endParaRPr sz="2000">
              <a:solidFill>
                <a:schemeClr val="lt1"/>
              </a:solidFill>
            </a:endParaRPr>
          </a:p>
          <a:p>
            <a:pPr indent="0" lvl="0" marL="0" rtl="0" algn="l">
              <a:lnSpc>
                <a:spcPct val="100000"/>
              </a:lnSpc>
              <a:spcBef>
                <a:spcPts val="0"/>
              </a:spcBef>
              <a:spcAft>
                <a:spcPts val="0"/>
              </a:spcAft>
              <a:buClr>
                <a:schemeClr val="lt2"/>
              </a:buClr>
              <a:buSzPts val="5000"/>
              <a:buFont typeface="Encode Sans Black"/>
              <a:buNone/>
            </a:pPr>
            <a:r>
              <a:rPr lang="en-US" sz="2000">
                <a:solidFill>
                  <a:schemeClr val="lt1"/>
                </a:solidFill>
              </a:rPr>
              <a:t>UW ChemE Capstone Team</a:t>
            </a:r>
            <a:endParaRPr sz="20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2"/>
          <p:cNvSpPr txBox="1"/>
          <p:nvPr>
            <p:ph type="title"/>
          </p:nvPr>
        </p:nvSpPr>
        <p:spPr>
          <a:xfrm>
            <a:off x="447922" y="369285"/>
            <a:ext cx="8197109" cy="99377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3000"/>
              <a:buFont typeface="Encode Sans Black"/>
              <a:buNone/>
            </a:pPr>
            <a:r>
              <a:rPr lang="en-US">
                <a:latin typeface="Encode Sans Black"/>
                <a:ea typeface="Encode Sans Black"/>
                <a:cs typeface="Encode Sans Black"/>
                <a:sym typeface="Encode Sans Black"/>
              </a:rPr>
              <a:t>Today's Agenda </a:t>
            </a:r>
            <a:endParaRPr/>
          </a:p>
        </p:txBody>
      </p:sp>
      <p:sp>
        <p:nvSpPr>
          <p:cNvPr id="86" name="Google Shape;86;p2"/>
          <p:cNvSpPr txBox="1"/>
          <p:nvPr>
            <p:ph idx="2" type="body"/>
          </p:nvPr>
        </p:nvSpPr>
        <p:spPr>
          <a:xfrm>
            <a:off x="447925" y="1600200"/>
            <a:ext cx="8197200" cy="3450600"/>
          </a:xfrm>
          <a:prstGeom prst="rect">
            <a:avLst/>
          </a:prstGeom>
          <a:noFill/>
          <a:ln>
            <a:noFill/>
          </a:ln>
        </p:spPr>
        <p:txBody>
          <a:bodyPr anchorCtr="0" anchor="t" bIns="45700" lIns="91425" spcFirstLastPara="1" rIns="91425" wrap="square" tIns="45700">
            <a:noAutofit/>
          </a:bodyPr>
          <a:lstStyle/>
          <a:p>
            <a:pPr indent="-381000" lvl="0" marL="457200" rtl="0" algn="l">
              <a:lnSpc>
                <a:spcPct val="100000"/>
              </a:lnSpc>
              <a:spcBef>
                <a:spcPts val="0"/>
              </a:spcBef>
              <a:spcAft>
                <a:spcPts val="0"/>
              </a:spcAft>
              <a:buClr>
                <a:schemeClr val="dk1"/>
              </a:buClr>
              <a:buSzPts val="2400"/>
              <a:buChar char="⮚"/>
            </a:pPr>
            <a:r>
              <a:rPr lang="en-US">
                <a:solidFill>
                  <a:schemeClr val="dk1"/>
                </a:solidFill>
                <a:extLst>
                  <a:ext uri="http://customooxmlschemas.google.com/">
                    <go:slidesCustomData xmlns:go="http://customooxmlschemas.google.com/" textRoundtripDataId="0"/>
                  </a:ext>
                </a:extLst>
              </a:rPr>
              <a:t>Final Campus-Wide Survey</a:t>
            </a:r>
            <a:endParaRPr>
              <a:solidFill>
                <a:schemeClr val="dk1"/>
              </a:solidFill>
            </a:endParaRPr>
          </a:p>
          <a:p>
            <a:pPr indent="-381000" lvl="0" marL="457200" rtl="0" algn="l">
              <a:lnSpc>
                <a:spcPct val="100000"/>
              </a:lnSpc>
              <a:spcBef>
                <a:spcPts val="1800"/>
              </a:spcBef>
              <a:spcAft>
                <a:spcPts val="0"/>
              </a:spcAft>
              <a:buClr>
                <a:schemeClr val="dk1"/>
              </a:buClr>
              <a:buSzPts val="2400"/>
              <a:buChar char="⮚"/>
            </a:pPr>
            <a:r>
              <a:rPr lang="en-US">
                <a:solidFill>
                  <a:schemeClr val="dk1"/>
                </a:solidFill>
              </a:rPr>
              <a:t>Boiler Replacement Design Rationale and REopt Configurations</a:t>
            </a:r>
            <a:endParaRPr b="0">
              <a:solidFill>
                <a:schemeClr val="dk1"/>
              </a:solidFill>
            </a:endParaRPr>
          </a:p>
          <a:p>
            <a:pPr indent="-381000" lvl="0" marL="457200" rtl="0" algn="l">
              <a:spcBef>
                <a:spcPts val="1800"/>
              </a:spcBef>
              <a:spcAft>
                <a:spcPts val="0"/>
              </a:spcAft>
              <a:buClr>
                <a:schemeClr val="dk1"/>
              </a:buClr>
              <a:buSzPts val="2400"/>
              <a:buChar char="⮚"/>
            </a:pPr>
            <a:r>
              <a:rPr lang="en-US">
                <a:solidFill>
                  <a:schemeClr val="dk1"/>
                </a:solidFill>
              </a:rPr>
              <a:t>Key Findings</a:t>
            </a:r>
            <a:endParaRPr>
              <a:solidFill>
                <a:schemeClr val="dk1"/>
              </a:solidFill>
            </a:endParaRPr>
          </a:p>
          <a:p>
            <a:pPr indent="-381000" lvl="0" marL="457200" rtl="0" algn="l">
              <a:lnSpc>
                <a:spcPct val="100000"/>
              </a:lnSpc>
              <a:spcBef>
                <a:spcPts val="1800"/>
              </a:spcBef>
              <a:spcAft>
                <a:spcPts val="1800"/>
              </a:spcAft>
              <a:buClr>
                <a:schemeClr val="dk1"/>
              </a:buClr>
              <a:buSzPts val="2400"/>
              <a:buChar char="⮚"/>
            </a:pPr>
            <a:r>
              <a:rPr lang="en-US">
                <a:solidFill>
                  <a:schemeClr val="dk1"/>
                </a:solidFill>
              </a:rPr>
              <a:t>Next Steps</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3d6d3654c47_11_31"/>
          <p:cNvSpPr txBox="1"/>
          <p:nvPr>
            <p:ph idx="2" type="body"/>
          </p:nvPr>
        </p:nvSpPr>
        <p:spPr>
          <a:xfrm>
            <a:off x="5904775" y="4096475"/>
            <a:ext cx="3239100" cy="1047000"/>
          </a:xfrm>
          <a:prstGeom prst="rect">
            <a:avLst/>
          </a:prstGeom>
          <a:solidFill>
            <a:schemeClr val="lt2"/>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400"/>
              <a:buNone/>
            </a:pPr>
            <a:r>
              <a:t/>
            </a:r>
            <a:endParaRPr>
              <a:highlight>
                <a:srgbClr val="FFFFFF"/>
              </a:highlight>
            </a:endParaRPr>
          </a:p>
          <a:p>
            <a:pPr indent="0" lvl="0" marL="0" rtl="0" algn="l">
              <a:lnSpc>
                <a:spcPct val="100000"/>
              </a:lnSpc>
              <a:spcBef>
                <a:spcPts val="0"/>
              </a:spcBef>
              <a:spcAft>
                <a:spcPts val="0"/>
              </a:spcAft>
              <a:buSzPts val="2400"/>
              <a:buNone/>
            </a:pPr>
            <a:r>
              <a:t/>
            </a:r>
            <a:endParaRPr sz="2000">
              <a:highlight>
                <a:srgbClr val="FFFFFF"/>
              </a:highlight>
            </a:endParaRPr>
          </a:p>
          <a:p>
            <a:pPr indent="0" lvl="0" marL="457200" rtl="0" algn="l">
              <a:lnSpc>
                <a:spcPct val="100000"/>
              </a:lnSpc>
              <a:spcBef>
                <a:spcPts val="0"/>
              </a:spcBef>
              <a:spcAft>
                <a:spcPts val="0"/>
              </a:spcAft>
              <a:buSzPts val="2400"/>
              <a:buNone/>
            </a:pPr>
            <a:r>
              <a:t/>
            </a:r>
            <a:endParaRPr sz="2000">
              <a:highlight>
                <a:srgbClr val="FFFFFF"/>
              </a:highlight>
            </a:endParaRPr>
          </a:p>
          <a:p>
            <a:pPr indent="0" lvl="0" marL="0" rtl="0" algn="l">
              <a:lnSpc>
                <a:spcPct val="100000"/>
              </a:lnSpc>
              <a:spcBef>
                <a:spcPts val="0"/>
              </a:spcBef>
              <a:spcAft>
                <a:spcPts val="0"/>
              </a:spcAft>
              <a:buSzPts val="2400"/>
              <a:buNone/>
            </a:pPr>
            <a:r>
              <a:t/>
            </a:r>
            <a:endParaRPr sz="2000">
              <a:highlight>
                <a:srgbClr val="FFFFFF"/>
              </a:highlight>
            </a:endParaRPr>
          </a:p>
        </p:txBody>
      </p:sp>
      <p:sp>
        <p:nvSpPr>
          <p:cNvPr id="93" name="Google Shape;93;g3d6d3654c47_11_31"/>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3000"/>
              <a:buNone/>
            </a:pPr>
            <a:r>
              <a:rPr lang="en-US"/>
              <a:t>Final Campus-Wide Survey </a:t>
            </a:r>
            <a:endParaRPr/>
          </a:p>
        </p:txBody>
      </p:sp>
      <p:sp>
        <p:nvSpPr>
          <p:cNvPr id="94" name="Google Shape;94;g3d6d3654c47_11_31"/>
          <p:cNvSpPr txBox="1"/>
          <p:nvPr>
            <p:ph idx="2" type="body"/>
          </p:nvPr>
        </p:nvSpPr>
        <p:spPr>
          <a:xfrm>
            <a:off x="454025" y="1466525"/>
            <a:ext cx="8519400" cy="3318900"/>
          </a:xfrm>
          <a:prstGeom prst="rect">
            <a:avLst/>
          </a:prstGeom>
          <a:noFill/>
          <a:ln>
            <a:noFill/>
          </a:ln>
        </p:spPr>
        <p:txBody>
          <a:bodyPr anchorCtr="0" anchor="t" bIns="45700" lIns="91425" spcFirstLastPara="1" rIns="91425" wrap="square" tIns="45700">
            <a:noAutofit/>
          </a:bodyPr>
          <a:lstStyle/>
          <a:p>
            <a:pPr indent="-355600" lvl="0" marL="342900" rtl="0" algn="l">
              <a:lnSpc>
                <a:spcPct val="100000"/>
              </a:lnSpc>
              <a:spcBef>
                <a:spcPts val="0"/>
              </a:spcBef>
              <a:spcAft>
                <a:spcPts val="0"/>
              </a:spcAft>
              <a:buSzPts val="2200"/>
              <a:buChar char="⮚"/>
            </a:pPr>
            <a:r>
              <a:rPr lang="en-US" sz="2200"/>
              <a:t>GHG Emissions</a:t>
            </a:r>
            <a:endParaRPr b="0" sz="1800"/>
          </a:p>
          <a:p>
            <a:pPr indent="-355600" lvl="0" marL="342900" rtl="0" algn="l">
              <a:lnSpc>
                <a:spcPct val="100000"/>
              </a:lnSpc>
              <a:spcBef>
                <a:spcPts val="0"/>
              </a:spcBef>
              <a:spcAft>
                <a:spcPts val="0"/>
              </a:spcAft>
              <a:buSzPts val="2200"/>
              <a:buChar char="⮚"/>
            </a:pPr>
            <a:r>
              <a:rPr lang="en-US" sz="2200"/>
              <a:t>Propane Usage</a:t>
            </a:r>
            <a:endParaRPr sz="2200"/>
          </a:p>
          <a:p>
            <a:pPr indent="-355600" lvl="0" marL="342900" rtl="0" algn="l">
              <a:lnSpc>
                <a:spcPct val="100000"/>
              </a:lnSpc>
              <a:spcBef>
                <a:spcPts val="0"/>
              </a:spcBef>
              <a:spcAft>
                <a:spcPts val="0"/>
              </a:spcAft>
              <a:buSzPts val="2200"/>
              <a:buChar char="⮚"/>
            </a:pPr>
            <a:r>
              <a:rPr lang="en-US" sz="2200"/>
              <a:t>New Electric Demand</a:t>
            </a:r>
            <a:endParaRPr sz="2200"/>
          </a:p>
          <a:p>
            <a:pPr indent="-355600" lvl="0" marL="914400" rtl="0" algn="l">
              <a:lnSpc>
                <a:spcPct val="100000"/>
              </a:lnSpc>
              <a:spcBef>
                <a:spcPts val="0"/>
              </a:spcBef>
              <a:spcAft>
                <a:spcPts val="0"/>
              </a:spcAft>
              <a:buSzPts val="2000"/>
              <a:buChar char="-"/>
            </a:pPr>
            <a:r>
              <a:rPr b="0" lang="en-US" sz="2000"/>
              <a:t>Amount of electricity demand associated with new equipment</a:t>
            </a:r>
            <a:endParaRPr b="0" sz="2000"/>
          </a:p>
          <a:p>
            <a:pPr indent="-355600" lvl="0" marL="342900" rtl="0" algn="l">
              <a:lnSpc>
                <a:spcPct val="100000"/>
              </a:lnSpc>
              <a:spcBef>
                <a:spcPts val="0"/>
              </a:spcBef>
              <a:spcAft>
                <a:spcPts val="0"/>
              </a:spcAft>
              <a:buSzPts val="2200"/>
              <a:buChar char="⮚"/>
            </a:pPr>
            <a:r>
              <a:rPr lang="en-US" sz="2200"/>
              <a:t>Solar Capacity</a:t>
            </a:r>
            <a:endParaRPr sz="2200"/>
          </a:p>
          <a:p>
            <a:pPr indent="-355600" lvl="0" marL="914400" rtl="0" algn="l">
              <a:lnSpc>
                <a:spcPct val="100000"/>
              </a:lnSpc>
              <a:spcBef>
                <a:spcPts val="0"/>
              </a:spcBef>
              <a:spcAft>
                <a:spcPts val="0"/>
              </a:spcAft>
              <a:buSzPts val="2000"/>
              <a:buChar char="-"/>
            </a:pPr>
            <a:r>
              <a:rPr b="0" lang="en-US" sz="2000"/>
              <a:t>Roof space available for solar installation</a:t>
            </a:r>
            <a:endParaRPr b="0" sz="2000"/>
          </a:p>
          <a:p>
            <a:pPr indent="-355600" lvl="0" marL="342900" rtl="0" algn="l">
              <a:lnSpc>
                <a:spcPct val="100000"/>
              </a:lnSpc>
              <a:spcBef>
                <a:spcPts val="0"/>
              </a:spcBef>
              <a:spcAft>
                <a:spcPts val="0"/>
              </a:spcAft>
              <a:buSzPts val="2200"/>
              <a:buChar char="⮚"/>
            </a:pPr>
            <a:r>
              <a:rPr lang="en-US" sz="2200"/>
              <a:t>Annual MWh</a:t>
            </a:r>
            <a:endParaRPr sz="2200"/>
          </a:p>
          <a:p>
            <a:pPr indent="-355600" lvl="0" marL="914400" rtl="0" algn="l">
              <a:lnSpc>
                <a:spcPct val="100000"/>
              </a:lnSpc>
              <a:spcBef>
                <a:spcPts val="0"/>
              </a:spcBef>
              <a:spcAft>
                <a:spcPts val="0"/>
              </a:spcAft>
              <a:buSzPts val="2000"/>
              <a:buChar char="-"/>
            </a:pPr>
            <a:r>
              <a:rPr b="0" lang="en-US" sz="2000"/>
              <a:t>Amount of solar energy generated per year</a:t>
            </a:r>
            <a:endParaRPr b="0" sz="2000"/>
          </a:p>
          <a:p>
            <a:pPr indent="-355600" lvl="0" marL="342900" rtl="0" algn="l">
              <a:lnSpc>
                <a:spcPct val="100000"/>
              </a:lnSpc>
              <a:spcBef>
                <a:spcPts val="0"/>
              </a:spcBef>
              <a:spcAft>
                <a:spcPts val="0"/>
              </a:spcAft>
              <a:buSzPts val="2200"/>
              <a:buChar char="⮚"/>
            </a:pPr>
            <a:r>
              <a:rPr lang="en-US" sz="2200"/>
              <a:t>Net Annual Savings</a:t>
            </a:r>
            <a:endParaRPr sz="2200"/>
          </a:p>
          <a:p>
            <a:pPr indent="-355600" lvl="0" marL="914400" rtl="0" algn="l">
              <a:lnSpc>
                <a:spcPct val="100000"/>
              </a:lnSpc>
              <a:spcBef>
                <a:spcPts val="0"/>
              </a:spcBef>
              <a:spcAft>
                <a:spcPts val="0"/>
              </a:spcAft>
              <a:buSzPts val="2000"/>
              <a:buChar char="-"/>
            </a:pPr>
            <a:r>
              <a:rPr b="0" lang="en-US" sz="2000"/>
              <a:t>Cost reduction associated with new </a:t>
            </a:r>
            <a:r>
              <a:rPr b="0" lang="en-US" sz="2000"/>
              <a:t>equipment</a:t>
            </a:r>
            <a:r>
              <a:rPr b="0" lang="en-US" sz="2000"/>
              <a:t> and solar installation</a:t>
            </a:r>
            <a:endParaRPr b="0" sz="2000"/>
          </a:p>
          <a:p>
            <a:pPr indent="0" lvl="0" marL="0" rtl="0" algn="l">
              <a:lnSpc>
                <a:spcPct val="100000"/>
              </a:lnSpc>
              <a:spcBef>
                <a:spcPts val="0"/>
              </a:spcBef>
              <a:spcAft>
                <a:spcPts val="0"/>
              </a:spcAft>
              <a:buNone/>
            </a:pPr>
            <a:r>
              <a:t/>
            </a:r>
            <a:endParaRPr b="0">
              <a:solidFill>
                <a:schemeClr val="dk1"/>
              </a:solidFill>
            </a:endParaRPr>
          </a:p>
          <a:p>
            <a:pPr indent="0" lvl="0" marL="0" rtl="0" algn="l">
              <a:lnSpc>
                <a:spcPct val="100000"/>
              </a:lnSpc>
              <a:spcBef>
                <a:spcPts val="0"/>
              </a:spcBef>
              <a:spcAft>
                <a:spcPts val="0"/>
              </a:spcAft>
              <a:buSzPts val="2400"/>
              <a:buNone/>
            </a:pPr>
            <a:r>
              <a:t/>
            </a:r>
            <a:endParaRPr b="0"/>
          </a:p>
          <a:p>
            <a:pPr indent="0" lvl="0" marL="0" rtl="0" algn="l">
              <a:lnSpc>
                <a:spcPct val="100000"/>
              </a:lnSpc>
              <a:spcBef>
                <a:spcPts val="0"/>
              </a:spcBef>
              <a:spcAft>
                <a:spcPts val="0"/>
              </a:spcAft>
              <a:buSzPts val="2400"/>
              <a:buNone/>
            </a:pPr>
            <a:r>
              <a:t/>
            </a:r>
            <a:endParaRPr sz="2000"/>
          </a:p>
          <a:p>
            <a:pPr indent="0" lvl="0" marL="0" rtl="0" algn="l">
              <a:lnSpc>
                <a:spcPct val="100000"/>
              </a:lnSpc>
              <a:spcBef>
                <a:spcPts val="0"/>
              </a:spcBef>
              <a:spcAft>
                <a:spcPts val="0"/>
              </a:spcAft>
              <a:buSzPts val="2400"/>
              <a:buNone/>
            </a:pPr>
            <a:r>
              <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e0ee1402e7_3_17"/>
          <p:cNvSpPr txBox="1"/>
          <p:nvPr>
            <p:ph type="title"/>
          </p:nvPr>
        </p:nvSpPr>
        <p:spPr>
          <a:xfrm>
            <a:off x="447922" y="369285"/>
            <a:ext cx="8197200" cy="9939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rgbClr val="000000"/>
              </a:buClr>
              <a:buSzPts val="3000"/>
              <a:buFont typeface="Arial"/>
              <a:buNone/>
            </a:pPr>
            <a:r>
              <a:rPr lang="en-US"/>
              <a:t>Final Campus-Wide Survey (cont.)</a:t>
            </a:r>
            <a:endParaRPr/>
          </a:p>
        </p:txBody>
      </p:sp>
      <p:sp>
        <p:nvSpPr>
          <p:cNvPr id="101" name="Google Shape;101;g3e0ee1402e7_3_17"/>
          <p:cNvSpPr txBox="1"/>
          <p:nvPr>
            <p:ph idx="2" type="body"/>
          </p:nvPr>
        </p:nvSpPr>
        <p:spPr>
          <a:xfrm>
            <a:off x="447925" y="1600200"/>
            <a:ext cx="8197200" cy="33189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00"/>
              <a:buChar char="⮚"/>
            </a:pPr>
            <a:r>
              <a:rPr lang="en-US"/>
              <a:t>Propane BAU and increased electric demand</a:t>
            </a:r>
            <a:endParaRPr/>
          </a:p>
          <a:p>
            <a:pPr indent="-355600" lvl="1" marL="914400" rtl="0" algn="l">
              <a:lnSpc>
                <a:spcPct val="100000"/>
              </a:lnSpc>
              <a:spcBef>
                <a:spcPts val="0"/>
              </a:spcBef>
              <a:spcAft>
                <a:spcPts val="0"/>
              </a:spcAft>
              <a:buSzPts val="2000"/>
              <a:buChar char="–"/>
            </a:pPr>
            <a:r>
              <a:rPr b="0" lang="en-US"/>
              <a:t>GHG Emissions</a:t>
            </a:r>
            <a:endParaRPr b="0"/>
          </a:p>
          <a:p>
            <a:pPr indent="-355600" lvl="1" marL="914400" rtl="0" algn="l">
              <a:lnSpc>
                <a:spcPct val="100000"/>
              </a:lnSpc>
              <a:spcBef>
                <a:spcPts val="0"/>
              </a:spcBef>
              <a:spcAft>
                <a:spcPts val="0"/>
              </a:spcAft>
              <a:buSzPts val="2000"/>
              <a:buChar char="–"/>
            </a:pPr>
            <a:r>
              <a:rPr b="0" lang="en-US"/>
              <a:t>Propane Usage</a:t>
            </a:r>
            <a:endParaRPr b="0"/>
          </a:p>
          <a:p>
            <a:pPr indent="-355600" lvl="1" marL="914400" rtl="0" algn="l">
              <a:lnSpc>
                <a:spcPct val="100000"/>
              </a:lnSpc>
              <a:spcBef>
                <a:spcPts val="0"/>
              </a:spcBef>
              <a:spcAft>
                <a:spcPts val="0"/>
              </a:spcAft>
              <a:buSzPts val="2000"/>
              <a:buChar char="–"/>
            </a:pPr>
            <a:r>
              <a:rPr b="0" lang="en-US"/>
              <a:t>New Electric Demand</a:t>
            </a:r>
            <a:endParaRPr b="0"/>
          </a:p>
          <a:p>
            <a:pPr indent="0" lvl="0" marL="0" rtl="0" algn="l">
              <a:lnSpc>
                <a:spcPct val="100000"/>
              </a:lnSpc>
              <a:spcBef>
                <a:spcPts val="0"/>
              </a:spcBef>
              <a:spcAft>
                <a:spcPts val="0"/>
              </a:spcAft>
              <a:buSzPts val="2400"/>
              <a:buNone/>
            </a:pPr>
            <a:r>
              <a:rPr lang="en-US"/>
              <a:t> </a:t>
            </a:r>
            <a:endParaRPr b="0"/>
          </a:p>
          <a:p>
            <a:pPr indent="-342900" lvl="0" marL="342900" rtl="0" algn="l">
              <a:lnSpc>
                <a:spcPct val="100000"/>
              </a:lnSpc>
              <a:spcBef>
                <a:spcPts val="0"/>
              </a:spcBef>
              <a:spcAft>
                <a:spcPts val="0"/>
              </a:spcAft>
              <a:buClr>
                <a:schemeClr val="dk1"/>
              </a:buClr>
              <a:buSzPts val="2000"/>
              <a:buChar char="⮚"/>
            </a:pPr>
            <a:r>
              <a:rPr lang="en-US">
                <a:solidFill>
                  <a:schemeClr val="dk1"/>
                </a:solidFill>
              </a:rPr>
              <a:t>Solar and potential savings</a:t>
            </a:r>
            <a:endParaRPr>
              <a:solidFill>
                <a:schemeClr val="dk1"/>
              </a:solidFill>
            </a:endParaRPr>
          </a:p>
          <a:p>
            <a:pPr indent="-355600" lvl="1" marL="914400" rtl="0" algn="l">
              <a:lnSpc>
                <a:spcPct val="100000"/>
              </a:lnSpc>
              <a:spcBef>
                <a:spcPts val="0"/>
              </a:spcBef>
              <a:spcAft>
                <a:spcPts val="0"/>
              </a:spcAft>
              <a:buClr>
                <a:schemeClr val="dk1"/>
              </a:buClr>
              <a:buSzPts val="2000"/>
              <a:buChar char="–"/>
            </a:pPr>
            <a:r>
              <a:rPr b="0" lang="en-US">
                <a:solidFill>
                  <a:schemeClr val="dk1"/>
                </a:solidFill>
              </a:rPr>
              <a:t>Solar Capacity and Annual MWh</a:t>
            </a:r>
            <a:endParaRPr b="0">
              <a:solidFill>
                <a:schemeClr val="dk1"/>
              </a:solidFill>
            </a:endParaRPr>
          </a:p>
          <a:p>
            <a:pPr indent="0" lvl="0" marL="1371600" rtl="0" algn="l">
              <a:lnSpc>
                <a:spcPct val="100000"/>
              </a:lnSpc>
              <a:spcBef>
                <a:spcPts val="0"/>
              </a:spcBef>
              <a:spcAft>
                <a:spcPts val="0"/>
              </a:spcAft>
              <a:buNone/>
            </a:pPr>
            <a:r>
              <a:rPr lang="en-US" sz="1800">
                <a:solidFill>
                  <a:schemeClr val="dk1"/>
                </a:solidFill>
              </a:rPr>
              <a:t>Note: </a:t>
            </a:r>
            <a:r>
              <a:rPr b="0" lang="en-US" sz="1800">
                <a:solidFill>
                  <a:schemeClr val="dk1"/>
                </a:solidFill>
              </a:rPr>
              <a:t>Buildings 10 and 11 can be combined due to their continuous roof line.</a:t>
            </a:r>
            <a:endParaRPr b="0" sz="1800">
              <a:solidFill>
                <a:schemeClr val="dk1"/>
              </a:solidFill>
            </a:endParaRPr>
          </a:p>
          <a:p>
            <a:pPr indent="-355600" lvl="1" marL="914400" rtl="0" algn="l">
              <a:lnSpc>
                <a:spcPct val="100000"/>
              </a:lnSpc>
              <a:spcBef>
                <a:spcPts val="0"/>
              </a:spcBef>
              <a:spcAft>
                <a:spcPts val="0"/>
              </a:spcAft>
              <a:buClr>
                <a:schemeClr val="dk1"/>
              </a:buClr>
              <a:buSzPts val="2000"/>
              <a:buChar char="–"/>
            </a:pPr>
            <a:r>
              <a:rPr b="0" lang="en-US">
                <a:solidFill>
                  <a:schemeClr val="dk1"/>
                </a:solidFill>
              </a:rPr>
              <a:t>Net Annual Savings</a:t>
            </a:r>
            <a:endParaRPr b="0">
              <a:solidFill>
                <a:schemeClr val="dk1"/>
              </a:solidFill>
            </a:endParaRPr>
          </a:p>
          <a:p>
            <a:pPr indent="0" lvl="0" marL="0" rtl="0" algn="l">
              <a:lnSpc>
                <a:spcPct val="100000"/>
              </a:lnSpc>
              <a:spcBef>
                <a:spcPts val="0"/>
              </a:spcBef>
              <a:spcAft>
                <a:spcPts val="0"/>
              </a:spcAft>
              <a:buSzPts val="2400"/>
              <a:buNone/>
            </a:pPr>
            <a:r>
              <a:t/>
            </a:r>
            <a:endParaRPr b="0"/>
          </a:p>
          <a:p>
            <a:pPr indent="0" lvl="0" marL="0" rtl="0" algn="l">
              <a:lnSpc>
                <a:spcPct val="100000"/>
              </a:lnSpc>
              <a:spcBef>
                <a:spcPts val="0"/>
              </a:spcBef>
              <a:spcAft>
                <a:spcPts val="0"/>
              </a:spcAft>
              <a:buSzPts val="2400"/>
              <a:buNone/>
            </a:pPr>
            <a:r>
              <a:t/>
            </a:r>
            <a:endParaRPr sz="2000"/>
          </a:p>
          <a:p>
            <a:pPr indent="0" lvl="0" marL="0" rtl="0" algn="l">
              <a:lnSpc>
                <a:spcPct val="100000"/>
              </a:lnSpc>
              <a:spcBef>
                <a:spcPts val="0"/>
              </a:spcBef>
              <a:spcAft>
                <a:spcPts val="0"/>
              </a:spcAft>
              <a:buSzPts val="2400"/>
              <a:buNone/>
            </a:pPr>
            <a:r>
              <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e0ee1402e7_3_0"/>
          <p:cNvSpPr/>
          <p:nvPr/>
        </p:nvSpPr>
        <p:spPr>
          <a:xfrm>
            <a:off x="323325" y="1242875"/>
            <a:ext cx="1308000" cy="364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8" name="Google Shape;108;g3e0ee1402e7_3_0"/>
          <p:cNvPicPr preferRelativeResize="0"/>
          <p:nvPr/>
        </p:nvPicPr>
        <p:blipFill>
          <a:blip r:embed="rId3">
            <a:alphaModFix/>
          </a:blip>
          <a:stretch>
            <a:fillRect/>
          </a:stretch>
        </p:blipFill>
        <p:spPr>
          <a:xfrm>
            <a:off x="1307513" y="0"/>
            <a:ext cx="7331067" cy="5143500"/>
          </a:xfrm>
          <a:prstGeom prst="rect">
            <a:avLst/>
          </a:prstGeom>
          <a:noFill/>
          <a:ln>
            <a:noFill/>
          </a:ln>
        </p:spPr>
      </p:pic>
      <p:sp>
        <p:nvSpPr>
          <p:cNvPr id="109" name="Google Shape;109;g3e0ee1402e7_3_0"/>
          <p:cNvSpPr txBox="1"/>
          <p:nvPr>
            <p:ph type="title"/>
          </p:nvPr>
        </p:nvSpPr>
        <p:spPr>
          <a:xfrm rot="-5400000">
            <a:off x="-2083200" y="2074800"/>
            <a:ext cx="5160300" cy="9939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n-US"/>
              <a:t>Propane and Electricity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e0ee1402e7_3_27"/>
          <p:cNvSpPr/>
          <p:nvPr/>
        </p:nvSpPr>
        <p:spPr>
          <a:xfrm>
            <a:off x="323325" y="1242875"/>
            <a:ext cx="1308000" cy="364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g3e0ee1402e7_3_27"/>
          <p:cNvSpPr txBox="1"/>
          <p:nvPr>
            <p:ph type="title"/>
          </p:nvPr>
        </p:nvSpPr>
        <p:spPr>
          <a:xfrm rot="-5400000">
            <a:off x="-2083200" y="2074800"/>
            <a:ext cx="5160300" cy="9939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n-US"/>
              <a:t>Solar and Savings</a:t>
            </a:r>
            <a:endParaRPr/>
          </a:p>
        </p:txBody>
      </p:sp>
      <p:pic>
        <p:nvPicPr>
          <p:cNvPr id="117" name="Google Shape;117;g3e0ee1402e7_3_27"/>
          <p:cNvPicPr preferRelativeResize="0"/>
          <p:nvPr/>
        </p:nvPicPr>
        <p:blipFill>
          <a:blip r:embed="rId3">
            <a:alphaModFix/>
          </a:blip>
          <a:stretch>
            <a:fillRect/>
          </a:stretch>
        </p:blipFill>
        <p:spPr>
          <a:xfrm>
            <a:off x="1286824" y="0"/>
            <a:ext cx="7405901"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e945747e31_0_0"/>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3000"/>
              <a:buNone/>
            </a:pPr>
            <a:r>
              <a:rPr lang="en-US"/>
              <a:t>Boiler Replacement Design Rationale</a:t>
            </a:r>
            <a:endParaRPr/>
          </a:p>
        </p:txBody>
      </p:sp>
      <p:sp>
        <p:nvSpPr>
          <p:cNvPr id="124" name="Google Shape;124;g3e945747e31_0_0"/>
          <p:cNvSpPr txBox="1"/>
          <p:nvPr/>
        </p:nvSpPr>
        <p:spPr>
          <a:xfrm>
            <a:off x="454025" y="1539675"/>
            <a:ext cx="8293200" cy="33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chemeClr val="dk1"/>
                </a:solidFill>
                <a:latin typeface="Open Sans"/>
                <a:ea typeface="Open Sans"/>
                <a:cs typeface="Open Sans"/>
                <a:sym typeface="Open Sans"/>
              </a:rPr>
              <a:t>We will model combinations of the following to evaluate the economic impact upfront and over time.</a:t>
            </a:r>
            <a:endParaRPr b="1" sz="2000">
              <a:solidFill>
                <a:schemeClr val="dk1"/>
              </a:solidFill>
              <a:latin typeface="Open Sans"/>
              <a:ea typeface="Open Sans"/>
              <a:cs typeface="Open Sans"/>
              <a:sym typeface="Open Sans"/>
            </a:endParaRPr>
          </a:p>
          <a:p>
            <a:pPr indent="-355600" lvl="0" marL="457200" rtl="0" algn="l">
              <a:spcBef>
                <a:spcPts val="1000"/>
              </a:spcBef>
              <a:spcAft>
                <a:spcPts val="0"/>
              </a:spcAft>
              <a:buClr>
                <a:schemeClr val="dk1"/>
              </a:buClr>
              <a:buSzPts val="2000"/>
              <a:buFont typeface="Open Sans"/>
              <a:buChar char="-"/>
            </a:pPr>
            <a:r>
              <a:rPr b="1" lang="en-US" sz="2000">
                <a:solidFill>
                  <a:schemeClr val="dk1"/>
                </a:solidFill>
                <a:latin typeface="Open Sans"/>
                <a:ea typeface="Open Sans"/>
                <a:cs typeface="Open Sans"/>
                <a:sym typeface="Open Sans"/>
              </a:rPr>
              <a:t>Heating system:</a:t>
            </a:r>
            <a:r>
              <a:rPr lang="en-US" sz="2000">
                <a:solidFill>
                  <a:schemeClr val="dk1"/>
                </a:solidFill>
                <a:latin typeface="Open Sans"/>
                <a:ea typeface="Open Sans"/>
                <a:cs typeface="Open Sans"/>
                <a:sym typeface="Open Sans"/>
              </a:rPr>
              <a:t> Electric boiler (simpler, higher operating cost) vs. air-source heat pump (more efficient, higher upfront cost)</a:t>
            </a:r>
            <a:endParaRPr sz="2000">
              <a:solidFill>
                <a:schemeClr val="dk1"/>
              </a:solidFill>
              <a:latin typeface="Open Sans"/>
              <a:ea typeface="Open Sans"/>
              <a:cs typeface="Open Sans"/>
              <a:sym typeface="Open Sans"/>
            </a:endParaRPr>
          </a:p>
          <a:p>
            <a:pPr indent="-355600" lvl="0" marL="457200" rtl="0" algn="l">
              <a:spcBef>
                <a:spcPts val="0"/>
              </a:spcBef>
              <a:spcAft>
                <a:spcPts val="0"/>
              </a:spcAft>
              <a:buClr>
                <a:schemeClr val="dk1"/>
              </a:buClr>
              <a:buSzPts val="2000"/>
              <a:buFont typeface="Open Sans"/>
              <a:buChar char="-"/>
            </a:pPr>
            <a:r>
              <a:rPr b="1" lang="en-US" sz="2000">
                <a:solidFill>
                  <a:schemeClr val="dk1"/>
                </a:solidFill>
                <a:latin typeface="Open Sans"/>
                <a:ea typeface="Open Sans"/>
                <a:cs typeface="Open Sans"/>
                <a:sym typeface="Open Sans"/>
              </a:rPr>
              <a:t>Solar + compensation:</a:t>
            </a:r>
            <a:r>
              <a:rPr lang="en-US" sz="2000">
                <a:solidFill>
                  <a:schemeClr val="dk1"/>
                </a:solidFill>
                <a:latin typeface="Open Sans"/>
                <a:ea typeface="Open Sans"/>
                <a:cs typeface="Open Sans"/>
                <a:sym typeface="Open Sans"/>
              </a:rPr>
              <a:t> Whether to add rooftop PV, and whether PSE credits it at net metering or net billing rates</a:t>
            </a:r>
            <a:endParaRPr sz="2000">
              <a:solidFill>
                <a:schemeClr val="dk1"/>
              </a:solidFill>
              <a:latin typeface="Open Sans"/>
              <a:ea typeface="Open Sans"/>
              <a:cs typeface="Open Sans"/>
              <a:sym typeface="Open Sans"/>
            </a:endParaRPr>
          </a:p>
          <a:p>
            <a:pPr indent="-355600" lvl="0" marL="457200" rtl="0" algn="l">
              <a:spcBef>
                <a:spcPts val="0"/>
              </a:spcBef>
              <a:spcAft>
                <a:spcPts val="0"/>
              </a:spcAft>
              <a:buClr>
                <a:schemeClr val="dk1"/>
              </a:buClr>
              <a:buSzPts val="2000"/>
              <a:buFont typeface="Open Sans"/>
              <a:buChar char="-"/>
            </a:pPr>
            <a:r>
              <a:rPr b="1" lang="en-US" sz="2000">
                <a:solidFill>
                  <a:schemeClr val="dk1"/>
                </a:solidFill>
                <a:latin typeface="Open Sans"/>
                <a:ea typeface="Open Sans"/>
                <a:cs typeface="Open Sans"/>
                <a:sym typeface="Open Sans"/>
              </a:rPr>
              <a:t>Battery storage:</a:t>
            </a:r>
            <a:r>
              <a:rPr lang="en-US" sz="2000">
                <a:solidFill>
                  <a:schemeClr val="dk1"/>
                </a:solidFill>
                <a:latin typeface="Open Sans"/>
                <a:ea typeface="Open Sans"/>
                <a:cs typeface="Open Sans"/>
                <a:sym typeface="Open Sans"/>
              </a:rPr>
              <a:t> Whether behind-the-meter storage makes financial sense under Schedule 25 demand charges</a:t>
            </a:r>
            <a:endParaRPr sz="2000">
              <a:solidFill>
                <a:schemeClr val="dk1"/>
              </a:solidFill>
              <a:latin typeface="Open Sans"/>
              <a:ea typeface="Open Sans"/>
              <a:cs typeface="Open Sans"/>
              <a:sym typeface="Open Sans"/>
            </a:endParaRPr>
          </a:p>
          <a:p>
            <a:pPr indent="0" lvl="0" marL="457200" rtl="0" algn="l">
              <a:spcBef>
                <a:spcPts val="0"/>
              </a:spcBef>
              <a:spcAft>
                <a:spcPts val="0"/>
              </a:spcAft>
              <a:buNone/>
            </a:pPr>
            <a:r>
              <a:t/>
            </a:r>
            <a:endParaRPr sz="2000">
              <a:solidFill>
                <a:schemeClr val="dk1"/>
              </a:solidFill>
              <a:latin typeface="Open Sans"/>
              <a:ea typeface="Open Sans"/>
              <a:cs typeface="Open Sans"/>
              <a:sym typeface="Open Sans"/>
            </a:endParaRPr>
          </a:p>
          <a:p>
            <a:pPr indent="0" lvl="0" marL="0" rtl="0" algn="l">
              <a:spcBef>
                <a:spcPts val="0"/>
              </a:spcBef>
              <a:spcAft>
                <a:spcPts val="0"/>
              </a:spcAft>
              <a:buNone/>
            </a:pPr>
            <a:r>
              <a:rPr b="1" lang="en-US" sz="2000">
                <a:solidFill>
                  <a:schemeClr val="dk1"/>
                </a:solidFill>
                <a:latin typeface="Open Sans"/>
                <a:ea typeface="Open Sans"/>
                <a:cs typeface="Open Sans"/>
                <a:sym typeface="Open Sans"/>
              </a:rPr>
              <a:t>⇒ </a:t>
            </a:r>
            <a:r>
              <a:rPr b="1" lang="en-US" sz="2000">
                <a:solidFill>
                  <a:schemeClr val="dk1"/>
                </a:solidFill>
                <a:latin typeface="Open Sans"/>
                <a:ea typeface="Open Sans"/>
                <a:cs typeface="Open Sans"/>
                <a:sym typeface="Open Sans"/>
              </a:rPr>
              <a:t>The next slide shows the full scenario matrix </a:t>
            </a:r>
            <a:endParaRPr b="1" sz="2000">
              <a:solidFill>
                <a:schemeClr val="dk1"/>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dfa6f5700a_0_14"/>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3000"/>
              <a:buNone/>
            </a:pPr>
            <a:r>
              <a:rPr lang="en-US"/>
              <a:t>REopt Design Configurations</a:t>
            </a:r>
            <a:endParaRPr/>
          </a:p>
        </p:txBody>
      </p:sp>
      <p:pic>
        <p:nvPicPr>
          <p:cNvPr id="131" name="Google Shape;131;g3dfa6f5700a_0_14"/>
          <p:cNvPicPr preferRelativeResize="0"/>
          <p:nvPr/>
        </p:nvPicPr>
        <p:blipFill>
          <a:blip r:embed="rId3">
            <a:alphaModFix/>
          </a:blip>
          <a:stretch>
            <a:fillRect/>
          </a:stretch>
        </p:blipFill>
        <p:spPr>
          <a:xfrm>
            <a:off x="256400" y="1743100"/>
            <a:ext cx="6246996" cy="3263700"/>
          </a:xfrm>
          <a:prstGeom prst="rect">
            <a:avLst/>
          </a:prstGeom>
          <a:noFill/>
          <a:ln>
            <a:noFill/>
          </a:ln>
        </p:spPr>
      </p:pic>
      <p:sp>
        <p:nvSpPr>
          <p:cNvPr id="132" name="Google Shape;132;g3dfa6f5700a_0_14"/>
          <p:cNvSpPr/>
          <p:nvPr/>
        </p:nvSpPr>
        <p:spPr>
          <a:xfrm>
            <a:off x="4107250" y="1898825"/>
            <a:ext cx="839400" cy="728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g3dfa6f5700a_0_14"/>
          <p:cNvSpPr txBox="1"/>
          <p:nvPr/>
        </p:nvSpPr>
        <p:spPr>
          <a:xfrm>
            <a:off x="454025" y="1634825"/>
            <a:ext cx="2681400" cy="26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t>Scenarios without battery</a:t>
            </a:r>
            <a:endParaRPr sz="1600"/>
          </a:p>
        </p:txBody>
      </p:sp>
      <p:cxnSp>
        <p:nvCxnSpPr>
          <p:cNvPr id="134" name="Google Shape;134;g3dfa6f5700a_0_14"/>
          <p:cNvCxnSpPr>
            <a:stCxn id="132" idx="0"/>
            <a:endCxn id="135" idx="1"/>
          </p:cNvCxnSpPr>
          <p:nvPr/>
        </p:nvCxnSpPr>
        <p:spPr>
          <a:xfrm rot="-5400000">
            <a:off x="5176750" y="756425"/>
            <a:ext cx="492600" cy="1792200"/>
          </a:xfrm>
          <a:prstGeom prst="bentConnector2">
            <a:avLst/>
          </a:prstGeom>
          <a:noFill/>
          <a:ln cap="flat" cmpd="sng" w="19050">
            <a:solidFill>
              <a:srgbClr val="FF0000"/>
            </a:solidFill>
            <a:prstDash val="solid"/>
            <a:round/>
            <a:headEnd len="med" w="med" type="none"/>
            <a:tailEnd len="med" w="med" type="triangle"/>
          </a:ln>
        </p:spPr>
      </p:cxnSp>
      <p:sp>
        <p:nvSpPr>
          <p:cNvPr id="136" name="Google Shape;136;g3dfa6f5700a_0_14"/>
          <p:cNvSpPr txBox="1"/>
          <p:nvPr/>
        </p:nvSpPr>
        <p:spPr>
          <a:xfrm>
            <a:off x="7030500" y="2506050"/>
            <a:ext cx="1808700" cy="67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t>Scenarios with battery</a:t>
            </a:r>
            <a:endParaRPr sz="1600"/>
          </a:p>
        </p:txBody>
      </p:sp>
      <p:pic>
        <p:nvPicPr>
          <p:cNvPr id="135" name="Google Shape;135;g3dfa6f5700a_0_14"/>
          <p:cNvPicPr preferRelativeResize="0"/>
          <p:nvPr/>
        </p:nvPicPr>
        <p:blipFill>
          <a:blip r:embed="rId4">
            <a:alphaModFix/>
          </a:blip>
          <a:stretch>
            <a:fillRect/>
          </a:stretch>
        </p:blipFill>
        <p:spPr>
          <a:xfrm>
            <a:off x="6319200" y="306435"/>
            <a:ext cx="2681401" cy="2199616"/>
          </a:xfrm>
          <a:prstGeom prst="rect">
            <a:avLst/>
          </a:prstGeom>
          <a:noFill/>
          <a:ln cap="flat" cmpd="sng" w="19050">
            <a:solidFill>
              <a:srgbClr val="FF0000"/>
            </a:solidFill>
            <a:prstDash val="solid"/>
            <a:round/>
            <a:headEnd len="sm" w="sm" type="none"/>
            <a:tailEnd len="sm" w="sm" type="none"/>
          </a:ln>
        </p:spPr>
      </p:pic>
      <p:sp>
        <p:nvSpPr>
          <p:cNvPr id="137" name="Google Shape;137;g3dfa6f5700a_0_14"/>
          <p:cNvSpPr txBox="1"/>
          <p:nvPr/>
        </p:nvSpPr>
        <p:spPr>
          <a:xfrm>
            <a:off x="6869100" y="3806525"/>
            <a:ext cx="2131500" cy="8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Other options considered - hybrid heating system</a:t>
            </a:r>
            <a:endParaRPr/>
          </a:p>
        </p:txBody>
      </p:sp>
      <p:sp>
        <p:nvSpPr>
          <p:cNvPr id="138" name="Google Shape;138;g3dfa6f5700a_0_14"/>
          <p:cNvSpPr txBox="1"/>
          <p:nvPr/>
        </p:nvSpPr>
        <p:spPr>
          <a:xfrm>
            <a:off x="1794225" y="3497825"/>
            <a:ext cx="10932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t>Sch 25</a:t>
            </a:r>
            <a:endParaRPr sz="1200"/>
          </a:p>
        </p:txBody>
      </p:sp>
      <p:sp>
        <p:nvSpPr>
          <p:cNvPr id="139" name="Google Shape;139;g3dfa6f5700a_0_14"/>
          <p:cNvSpPr/>
          <p:nvPr/>
        </p:nvSpPr>
        <p:spPr>
          <a:xfrm>
            <a:off x="4107250" y="2830025"/>
            <a:ext cx="839400" cy="728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g3dfa6f5700a_0_14"/>
          <p:cNvSpPr/>
          <p:nvPr/>
        </p:nvSpPr>
        <p:spPr>
          <a:xfrm>
            <a:off x="4089425" y="3790825"/>
            <a:ext cx="839400" cy="728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g3dfa6f5700a_0_14"/>
          <p:cNvSpPr txBox="1"/>
          <p:nvPr/>
        </p:nvSpPr>
        <p:spPr>
          <a:xfrm>
            <a:off x="1692225" y="4451650"/>
            <a:ext cx="11952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t>Sch 24 &amp; 25</a:t>
            </a:r>
            <a:endParaRPr sz="1200"/>
          </a:p>
        </p:txBody>
      </p:sp>
      <p:sp>
        <p:nvSpPr>
          <p:cNvPr id="142" name="Google Shape;142;g3dfa6f5700a_0_14"/>
          <p:cNvSpPr txBox="1"/>
          <p:nvPr/>
        </p:nvSpPr>
        <p:spPr>
          <a:xfrm>
            <a:off x="1310675" y="2452025"/>
            <a:ext cx="10932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t>Sch 25</a:t>
            </a:r>
            <a:endParaRPr sz="1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grpSp>
        <p:nvGrpSpPr>
          <p:cNvPr id="148" name="Google Shape;148;g3e31195240c_0_2"/>
          <p:cNvGrpSpPr/>
          <p:nvPr/>
        </p:nvGrpSpPr>
        <p:grpSpPr>
          <a:xfrm>
            <a:off x="256400" y="306435"/>
            <a:ext cx="8744201" cy="4700365"/>
            <a:chOff x="256400" y="306435"/>
            <a:chExt cx="8744201" cy="4700365"/>
          </a:xfrm>
        </p:grpSpPr>
        <p:pic>
          <p:nvPicPr>
            <p:cNvPr id="149" name="Google Shape;149;g3e31195240c_0_2"/>
            <p:cNvPicPr preferRelativeResize="0"/>
            <p:nvPr/>
          </p:nvPicPr>
          <p:blipFill>
            <a:blip r:embed="rId3">
              <a:alphaModFix/>
            </a:blip>
            <a:stretch>
              <a:fillRect/>
            </a:stretch>
          </p:blipFill>
          <p:spPr>
            <a:xfrm>
              <a:off x="256400" y="1743100"/>
              <a:ext cx="6246996" cy="3263700"/>
            </a:xfrm>
            <a:prstGeom prst="rect">
              <a:avLst/>
            </a:prstGeom>
            <a:noFill/>
            <a:ln>
              <a:noFill/>
            </a:ln>
          </p:spPr>
        </p:pic>
        <p:sp>
          <p:nvSpPr>
            <p:cNvPr id="150" name="Google Shape;150;g3e31195240c_0_2"/>
            <p:cNvSpPr/>
            <p:nvPr/>
          </p:nvSpPr>
          <p:spPr>
            <a:xfrm>
              <a:off x="4107250" y="1898825"/>
              <a:ext cx="839400" cy="728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51" name="Google Shape;151;g3e31195240c_0_2"/>
            <p:cNvCxnSpPr>
              <a:stCxn id="150" idx="0"/>
              <a:endCxn id="152" idx="1"/>
            </p:cNvCxnSpPr>
            <p:nvPr/>
          </p:nvCxnSpPr>
          <p:spPr>
            <a:xfrm rot="-5400000">
              <a:off x="5176750" y="756425"/>
              <a:ext cx="492600" cy="1792200"/>
            </a:xfrm>
            <a:prstGeom prst="bentConnector2">
              <a:avLst/>
            </a:prstGeom>
            <a:noFill/>
            <a:ln cap="flat" cmpd="sng" w="19050">
              <a:solidFill>
                <a:srgbClr val="FF0000"/>
              </a:solidFill>
              <a:prstDash val="solid"/>
              <a:round/>
              <a:headEnd len="med" w="med" type="none"/>
              <a:tailEnd len="med" w="med" type="triangle"/>
            </a:ln>
          </p:spPr>
        </p:cxnSp>
        <p:sp>
          <p:nvSpPr>
            <p:cNvPr id="153" name="Google Shape;153;g3e31195240c_0_2"/>
            <p:cNvSpPr txBox="1"/>
            <p:nvPr/>
          </p:nvSpPr>
          <p:spPr>
            <a:xfrm>
              <a:off x="7030500" y="2506050"/>
              <a:ext cx="1808700" cy="67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t>Scenarios with battery</a:t>
              </a:r>
              <a:endParaRPr sz="1600"/>
            </a:p>
          </p:txBody>
        </p:sp>
        <p:pic>
          <p:nvPicPr>
            <p:cNvPr id="152" name="Google Shape;152;g3e31195240c_0_2"/>
            <p:cNvPicPr preferRelativeResize="0"/>
            <p:nvPr/>
          </p:nvPicPr>
          <p:blipFill>
            <a:blip r:embed="rId4">
              <a:alphaModFix/>
            </a:blip>
            <a:stretch>
              <a:fillRect/>
            </a:stretch>
          </p:blipFill>
          <p:spPr>
            <a:xfrm>
              <a:off x="6319200" y="306435"/>
              <a:ext cx="2681401" cy="2199616"/>
            </a:xfrm>
            <a:prstGeom prst="rect">
              <a:avLst/>
            </a:prstGeom>
            <a:noFill/>
            <a:ln cap="flat" cmpd="sng" w="19050">
              <a:solidFill>
                <a:srgbClr val="FF0000"/>
              </a:solidFill>
              <a:prstDash val="solid"/>
              <a:round/>
              <a:headEnd len="sm" w="sm" type="none"/>
              <a:tailEnd len="sm" w="sm" type="none"/>
            </a:ln>
          </p:spPr>
        </p:pic>
        <p:sp>
          <p:nvSpPr>
            <p:cNvPr id="154" name="Google Shape;154;g3e31195240c_0_2"/>
            <p:cNvSpPr/>
            <p:nvPr/>
          </p:nvSpPr>
          <p:spPr>
            <a:xfrm>
              <a:off x="4107250" y="2830025"/>
              <a:ext cx="839400" cy="728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g3e31195240c_0_2"/>
            <p:cNvSpPr/>
            <p:nvPr/>
          </p:nvSpPr>
          <p:spPr>
            <a:xfrm>
              <a:off x="4089425" y="3790825"/>
              <a:ext cx="839400" cy="728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g3e31195240c_0_2"/>
            <p:cNvSpPr txBox="1"/>
            <p:nvPr/>
          </p:nvSpPr>
          <p:spPr>
            <a:xfrm>
              <a:off x="454025" y="1634825"/>
              <a:ext cx="2681400" cy="26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t>Scenarios without battery</a:t>
              </a:r>
              <a:endParaRPr sz="1600"/>
            </a:p>
          </p:txBody>
        </p:sp>
        <p:sp>
          <p:nvSpPr>
            <p:cNvPr id="157" name="Google Shape;157;g3e31195240c_0_2"/>
            <p:cNvSpPr txBox="1"/>
            <p:nvPr/>
          </p:nvSpPr>
          <p:spPr>
            <a:xfrm>
              <a:off x="1794225" y="3497825"/>
              <a:ext cx="10932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t>Sch 25</a:t>
              </a:r>
              <a:endParaRPr sz="1200"/>
            </a:p>
          </p:txBody>
        </p:sp>
        <p:sp>
          <p:nvSpPr>
            <p:cNvPr id="158" name="Google Shape;158;g3e31195240c_0_2"/>
            <p:cNvSpPr txBox="1"/>
            <p:nvPr/>
          </p:nvSpPr>
          <p:spPr>
            <a:xfrm>
              <a:off x="1692225" y="4451650"/>
              <a:ext cx="11952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t>Sch 24 &amp; 25</a:t>
              </a:r>
              <a:endParaRPr sz="1200"/>
            </a:p>
          </p:txBody>
        </p:sp>
        <p:sp>
          <p:nvSpPr>
            <p:cNvPr id="159" name="Google Shape;159;g3e31195240c_0_2"/>
            <p:cNvSpPr txBox="1"/>
            <p:nvPr/>
          </p:nvSpPr>
          <p:spPr>
            <a:xfrm>
              <a:off x="1310675" y="2452025"/>
              <a:ext cx="10932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t>Sch 25</a:t>
              </a:r>
              <a:endParaRPr sz="1200"/>
            </a:p>
          </p:txBody>
        </p:sp>
        <p:sp>
          <p:nvSpPr>
            <p:cNvPr id="160" name="Google Shape;160;g3e31195240c_0_2"/>
            <p:cNvSpPr/>
            <p:nvPr/>
          </p:nvSpPr>
          <p:spPr>
            <a:xfrm>
              <a:off x="318700" y="1163025"/>
              <a:ext cx="1877100" cy="492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g3e7115a52ad_0_1"/>
          <p:cNvPicPr preferRelativeResize="0"/>
          <p:nvPr/>
        </p:nvPicPr>
        <p:blipFill>
          <a:blip r:embed="rId3">
            <a:alphaModFix/>
          </a:blip>
          <a:stretch>
            <a:fillRect/>
          </a:stretch>
        </p:blipFill>
        <p:spPr>
          <a:xfrm>
            <a:off x="211900" y="1707550"/>
            <a:ext cx="6321149" cy="3361275"/>
          </a:xfrm>
          <a:prstGeom prst="rect">
            <a:avLst/>
          </a:prstGeom>
          <a:noFill/>
          <a:ln>
            <a:noFill/>
          </a:ln>
        </p:spPr>
      </p:pic>
      <p:grpSp>
        <p:nvGrpSpPr>
          <p:cNvPr id="167" name="Google Shape;167;g3e7115a52ad_0_1"/>
          <p:cNvGrpSpPr/>
          <p:nvPr/>
        </p:nvGrpSpPr>
        <p:grpSpPr>
          <a:xfrm>
            <a:off x="292000" y="324235"/>
            <a:ext cx="8681901" cy="4637815"/>
            <a:chOff x="318700" y="306435"/>
            <a:chExt cx="8681901" cy="4637815"/>
          </a:xfrm>
        </p:grpSpPr>
        <p:sp>
          <p:nvSpPr>
            <p:cNvPr id="168" name="Google Shape;168;g3e7115a52ad_0_1"/>
            <p:cNvSpPr/>
            <p:nvPr/>
          </p:nvSpPr>
          <p:spPr>
            <a:xfrm>
              <a:off x="3932575" y="1842025"/>
              <a:ext cx="996300" cy="728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9" name="Google Shape;169;g3e7115a52ad_0_1"/>
            <p:cNvCxnSpPr>
              <a:stCxn id="168" idx="0"/>
              <a:endCxn id="170" idx="1"/>
            </p:cNvCxnSpPr>
            <p:nvPr/>
          </p:nvCxnSpPr>
          <p:spPr>
            <a:xfrm rot="-5400000">
              <a:off x="5157025" y="679825"/>
              <a:ext cx="435900" cy="1888500"/>
            </a:xfrm>
            <a:prstGeom prst="bentConnector2">
              <a:avLst/>
            </a:prstGeom>
            <a:noFill/>
            <a:ln cap="flat" cmpd="sng" w="19050">
              <a:solidFill>
                <a:srgbClr val="FF0000"/>
              </a:solidFill>
              <a:prstDash val="solid"/>
              <a:round/>
              <a:headEnd len="med" w="med" type="none"/>
              <a:tailEnd len="med" w="med" type="triangle"/>
            </a:ln>
          </p:spPr>
        </p:cxnSp>
        <p:sp>
          <p:nvSpPr>
            <p:cNvPr id="171" name="Google Shape;171;g3e7115a52ad_0_1"/>
            <p:cNvSpPr txBox="1"/>
            <p:nvPr/>
          </p:nvSpPr>
          <p:spPr>
            <a:xfrm>
              <a:off x="7030500" y="2506050"/>
              <a:ext cx="1808700" cy="67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t>Scenarios with battery</a:t>
              </a:r>
              <a:endParaRPr sz="1600"/>
            </a:p>
          </p:txBody>
        </p:sp>
        <p:pic>
          <p:nvPicPr>
            <p:cNvPr id="170" name="Google Shape;170;g3e7115a52ad_0_1"/>
            <p:cNvPicPr preferRelativeResize="0"/>
            <p:nvPr/>
          </p:nvPicPr>
          <p:blipFill>
            <a:blip r:embed="rId4">
              <a:alphaModFix/>
            </a:blip>
            <a:stretch>
              <a:fillRect/>
            </a:stretch>
          </p:blipFill>
          <p:spPr>
            <a:xfrm>
              <a:off x="6319200" y="306435"/>
              <a:ext cx="2681401" cy="2199616"/>
            </a:xfrm>
            <a:prstGeom prst="rect">
              <a:avLst/>
            </a:prstGeom>
            <a:noFill/>
            <a:ln cap="flat" cmpd="sng" w="19050">
              <a:solidFill>
                <a:srgbClr val="FF0000"/>
              </a:solidFill>
              <a:prstDash val="solid"/>
              <a:round/>
              <a:headEnd len="sm" w="sm" type="none"/>
              <a:tailEnd len="sm" w="sm" type="none"/>
            </a:ln>
          </p:spPr>
        </p:pic>
        <p:sp>
          <p:nvSpPr>
            <p:cNvPr id="172" name="Google Shape;172;g3e7115a52ad_0_1"/>
            <p:cNvSpPr/>
            <p:nvPr/>
          </p:nvSpPr>
          <p:spPr>
            <a:xfrm>
              <a:off x="3932575" y="3762875"/>
              <a:ext cx="996300" cy="728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 name="Google Shape;173;g3e7115a52ad_0_1"/>
            <p:cNvSpPr txBox="1"/>
            <p:nvPr/>
          </p:nvSpPr>
          <p:spPr>
            <a:xfrm>
              <a:off x="454025" y="1634825"/>
              <a:ext cx="2681400" cy="26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t>Scenarios without battery</a:t>
              </a:r>
              <a:endParaRPr sz="1600"/>
            </a:p>
          </p:txBody>
        </p:sp>
        <p:sp>
          <p:nvSpPr>
            <p:cNvPr id="174" name="Google Shape;174;g3e7115a52ad_0_1"/>
            <p:cNvSpPr txBox="1"/>
            <p:nvPr/>
          </p:nvSpPr>
          <p:spPr>
            <a:xfrm>
              <a:off x="1794225" y="3497825"/>
              <a:ext cx="10932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t>Sch 25</a:t>
              </a:r>
              <a:endParaRPr sz="1200"/>
            </a:p>
          </p:txBody>
        </p:sp>
        <p:sp>
          <p:nvSpPr>
            <p:cNvPr id="175" name="Google Shape;175;g3e7115a52ad_0_1"/>
            <p:cNvSpPr txBox="1"/>
            <p:nvPr/>
          </p:nvSpPr>
          <p:spPr>
            <a:xfrm>
              <a:off x="1692225" y="4451650"/>
              <a:ext cx="11952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t>Sch 24 &amp; 25</a:t>
              </a:r>
              <a:endParaRPr sz="1200"/>
            </a:p>
          </p:txBody>
        </p:sp>
        <p:sp>
          <p:nvSpPr>
            <p:cNvPr id="176" name="Google Shape;176;g3e7115a52ad_0_1"/>
            <p:cNvSpPr txBox="1"/>
            <p:nvPr/>
          </p:nvSpPr>
          <p:spPr>
            <a:xfrm>
              <a:off x="1310675" y="2452025"/>
              <a:ext cx="10932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t>Sch 25</a:t>
              </a:r>
              <a:endParaRPr sz="1200"/>
            </a:p>
          </p:txBody>
        </p:sp>
        <p:sp>
          <p:nvSpPr>
            <p:cNvPr id="177" name="Google Shape;177;g3e7115a52ad_0_1"/>
            <p:cNvSpPr/>
            <p:nvPr/>
          </p:nvSpPr>
          <p:spPr>
            <a:xfrm>
              <a:off x="318700" y="1163025"/>
              <a:ext cx="1877100" cy="492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78" name="Google Shape;178;g3e7115a52ad_0_1"/>
          <p:cNvSpPr/>
          <p:nvPr/>
        </p:nvSpPr>
        <p:spPr>
          <a:xfrm>
            <a:off x="3916825" y="2820250"/>
            <a:ext cx="996300" cy="728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e1fd44db73_3_0"/>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3000"/>
              <a:buNone/>
            </a:pPr>
            <a:r>
              <a:rPr lang="en-US"/>
              <a:t>REopt Simulation Progress</a:t>
            </a:r>
            <a:endParaRPr/>
          </a:p>
        </p:txBody>
      </p:sp>
      <p:pic>
        <p:nvPicPr>
          <p:cNvPr id="185" name="Google Shape;185;g3e1fd44db73_3_0"/>
          <p:cNvPicPr preferRelativeResize="0"/>
          <p:nvPr/>
        </p:nvPicPr>
        <p:blipFill>
          <a:blip r:embed="rId3">
            <a:alphaModFix/>
          </a:blip>
          <a:stretch>
            <a:fillRect/>
          </a:stretch>
        </p:blipFill>
        <p:spPr>
          <a:xfrm>
            <a:off x="256400" y="1743100"/>
            <a:ext cx="6246996" cy="3263700"/>
          </a:xfrm>
          <a:prstGeom prst="rect">
            <a:avLst/>
          </a:prstGeom>
          <a:noFill/>
          <a:ln>
            <a:noFill/>
          </a:ln>
        </p:spPr>
      </p:pic>
      <p:sp>
        <p:nvSpPr>
          <p:cNvPr id="186" name="Google Shape;186;g3e1fd44db73_3_0"/>
          <p:cNvSpPr/>
          <p:nvPr/>
        </p:nvSpPr>
        <p:spPr>
          <a:xfrm>
            <a:off x="4107250" y="1898825"/>
            <a:ext cx="839400" cy="728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g3e1fd44db73_3_0"/>
          <p:cNvSpPr txBox="1"/>
          <p:nvPr/>
        </p:nvSpPr>
        <p:spPr>
          <a:xfrm>
            <a:off x="454025" y="1634825"/>
            <a:ext cx="2681400" cy="26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t>Scenarios without battery</a:t>
            </a:r>
            <a:endParaRPr sz="1600"/>
          </a:p>
        </p:txBody>
      </p:sp>
      <p:cxnSp>
        <p:nvCxnSpPr>
          <p:cNvPr id="188" name="Google Shape;188;g3e1fd44db73_3_0"/>
          <p:cNvCxnSpPr>
            <a:stCxn id="186" idx="0"/>
            <a:endCxn id="189" idx="1"/>
          </p:cNvCxnSpPr>
          <p:nvPr/>
        </p:nvCxnSpPr>
        <p:spPr>
          <a:xfrm rot="-5400000">
            <a:off x="5176750" y="756425"/>
            <a:ext cx="492600" cy="1792200"/>
          </a:xfrm>
          <a:prstGeom prst="bentConnector2">
            <a:avLst/>
          </a:prstGeom>
          <a:noFill/>
          <a:ln cap="flat" cmpd="sng" w="19050">
            <a:solidFill>
              <a:srgbClr val="FF0000"/>
            </a:solidFill>
            <a:prstDash val="solid"/>
            <a:round/>
            <a:headEnd len="med" w="med" type="none"/>
            <a:tailEnd len="med" w="med" type="triangle"/>
          </a:ln>
        </p:spPr>
      </p:cxnSp>
      <p:sp>
        <p:nvSpPr>
          <p:cNvPr id="190" name="Google Shape;190;g3e1fd44db73_3_0"/>
          <p:cNvSpPr txBox="1"/>
          <p:nvPr/>
        </p:nvSpPr>
        <p:spPr>
          <a:xfrm>
            <a:off x="6790250" y="2506050"/>
            <a:ext cx="2049000" cy="18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t>Scenarios with battery:</a:t>
            </a:r>
            <a:endParaRPr sz="1600"/>
          </a:p>
          <a:p>
            <a:pPr indent="-330200" lvl="0" marL="457200" rtl="0" algn="l">
              <a:spcBef>
                <a:spcPts val="0"/>
              </a:spcBef>
              <a:spcAft>
                <a:spcPts val="0"/>
              </a:spcAft>
              <a:buSzPts val="1600"/>
              <a:buChar char="●"/>
            </a:pPr>
            <a:r>
              <a:rPr lang="en-US" sz="1600"/>
              <a:t>Electric boiler</a:t>
            </a:r>
            <a:endParaRPr sz="1600"/>
          </a:p>
          <a:p>
            <a:pPr indent="-330200" lvl="0" marL="457200" rtl="0" algn="l">
              <a:spcBef>
                <a:spcPts val="0"/>
              </a:spcBef>
              <a:spcAft>
                <a:spcPts val="0"/>
              </a:spcAft>
              <a:buSzPts val="1600"/>
              <a:buChar char="●"/>
            </a:pPr>
            <a:r>
              <a:rPr lang="en-US" sz="1600"/>
              <a:t>LT-ASHP</a:t>
            </a:r>
            <a:endParaRPr sz="1600"/>
          </a:p>
          <a:p>
            <a:pPr indent="-330200" lvl="0" marL="457200" rtl="0" algn="l">
              <a:spcBef>
                <a:spcPts val="0"/>
              </a:spcBef>
              <a:spcAft>
                <a:spcPts val="0"/>
              </a:spcAft>
              <a:buSzPts val="1600"/>
              <a:buChar char="●"/>
            </a:pPr>
            <a:r>
              <a:rPr lang="en-US" sz="1600"/>
              <a:t>HT-ASHP</a:t>
            </a:r>
            <a:endParaRPr sz="1600"/>
          </a:p>
        </p:txBody>
      </p:sp>
      <p:pic>
        <p:nvPicPr>
          <p:cNvPr id="189" name="Google Shape;189;g3e1fd44db73_3_0"/>
          <p:cNvPicPr preferRelativeResize="0"/>
          <p:nvPr/>
        </p:nvPicPr>
        <p:blipFill>
          <a:blip r:embed="rId4">
            <a:alphaModFix/>
          </a:blip>
          <a:stretch>
            <a:fillRect/>
          </a:stretch>
        </p:blipFill>
        <p:spPr>
          <a:xfrm>
            <a:off x="6319200" y="306435"/>
            <a:ext cx="2681401" cy="2199616"/>
          </a:xfrm>
          <a:prstGeom prst="rect">
            <a:avLst/>
          </a:prstGeom>
          <a:noFill/>
          <a:ln cap="flat" cmpd="sng" w="19050">
            <a:solidFill>
              <a:srgbClr val="FF0000"/>
            </a:solidFill>
            <a:prstDash val="solid"/>
            <a:round/>
            <a:headEnd len="sm" w="sm" type="none"/>
            <a:tailEnd len="sm" w="sm" type="none"/>
          </a:ln>
        </p:spPr>
      </p:pic>
      <p:sp>
        <p:nvSpPr>
          <p:cNvPr id="191" name="Google Shape;191;g3e1fd44db73_3_0"/>
          <p:cNvSpPr txBox="1"/>
          <p:nvPr/>
        </p:nvSpPr>
        <p:spPr>
          <a:xfrm>
            <a:off x="4284625" y="4664225"/>
            <a:ext cx="10932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Sch 25</a:t>
            </a:r>
            <a:endParaRPr/>
          </a:p>
        </p:txBody>
      </p:sp>
      <p:sp>
        <p:nvSpPr>
          <p:cNvPr id="192" name="Google Shape;192;g3e1fd44db73_3_0"/>
          <p:cNvSpPr/>
          <p:nvPr/>
        </p:nvSpPr>
        <p:spPr>
          <a:xfrm>
            <a:off x="4107250" y="2830025"/>
            <a:ext cx="839400" cy="728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g3e1fd44db73_3_0"/>
          <p:cNvSpPr/>
          <p:nvPr/>
        </p:nvSpPr>
        <p:spPr>
          <a:xfrm>
            <a:off x="4089425" y="3790825"/>
            <a:ext cx="839400" cy="728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4" name="Google Shape;194;g3e1fd44db73_3_0"/>
          <p:cNvPicPr preferRelativeResize="0"/>
          <p:nvPr/>
        </p:nvPicPr>
        <p:blipFill rotWithShape="1">
          <a:blip r:embed="rId5">
            <a:alphaModFix/>
          </a:blip>
          <a:srcRect b="17976" l="18060" r="18054" t="17757"/>
          <a:stretch/>
        </p:blipFill>
        <p:spPr>
          <a:xfrm>
            <a:off x="5075100" y="2571750"/>
            <a:ext cx="262500" cy="264000"/>
          </a:xfrm>
          <a:prstGeom prst="ellipse">
            <a:avLst/>
          </a:prstGeom>
          <a:noFill/>
          <a:ln cap="flat" cmpd="sng" w="9525">
            <a:solidFill>
              <a:srgbClr val="666666"/>
            </a:solidFill>
            <a:prstDash val="solid"/>
            <a:round/>
            <a:headEnd len="sm" w="sm" type="none"/>
            <a:tailEnd len="sm" w="sm" type="none"/>
          </a:ln>
        </p:spPr>
      </p:pic>
      <p:pic>
        <p:nvPicPr>
          <p:cNvPr id="195" name="Google Shape;195;g3e1fd44db73_3_0"/>
          <p:cNvPicPr preferRelativeResize="0"/>
          <p:nvPr/>
        </p:nvPicPr>
        <p:blipFill rotWithShape="1">
          <a:blip r:embed="rId5">
            <a:alphaModFix/>
          </a:blip>
          <a:srcRect b="17976" l="18060" r="18054" t="17757"/>
          <a:stretch/>
        </p:blipFill>
        <p:spPr>
          <a:xfrm>
            <a:off x="5075100" y="2061325"/>
            <a:ext cx="262500" cy="264000"/>
          </a:xfrm>
          <a:prstGeom prst="ellipse">
            <a:avLst/>
          </a:prstGeom>
          <a:noFill/>
          <a:ln cap="flat" cmpd="sng" w="9525">
            <a:solidFill>
              <a:srgbClr val="666666"/>
            </a:solidFill>
            <a:prstDash val="solid"/>
            <a:round/>
            <a:headEnd len="sm" w="sm" type="none"/>
            <a:tailEnd len="sm" w="sm" type="none"/>
          </a:ln>
        </p:spPr>
      </p:pic>
      <p:pic>
        <p:nvPicPr>
          <p:cNvPr id="196" name="Google Shape;196;g3e1fd44db73_3_0"/>
          <p:cNvPicPr preferRelativeResize="0"/>
          <p:nvPr/>
        </p:nvPicPr>
        <p:blipFill rotWithShape="1">
          <a:blip r:embed="rId5">
            <a:alphaModFix/>
          </a:blip>
          <a:srcRect b="17976" l="18060" r="18054" t="17757"/>
          <a:stretch/>
        </p:blipFill>
        <p:spPr>
          <a:xfrm>
            <a:off x="5063100" y="3023475"/>
            <a:ext cx="262500" cy="264000"/>
          </a:xfrm>
          <a:prstGeom prst="ellipse">
            <a:avLst/>
          </a:prstGeom>
          <a:noFill/>
          <a:ln cap="flat" cmpd="sng" w="9525">
            <a:solidFill>
              <a:srgbClr val="666666"/>
            </a:solidFill>
            <a:prstDash val="solid"/>
            <a:round/>
            <a:headEnd len="sm" w="sm" type="none"/>
            <a:tailEnd len="sm" w="sm" type="none"/>
          </a:ln>
        </p:spPr>
      </p:pic>
      <p:pic>
        <p:nvPicPr>
          <p:cNvPr id="197" name="Google Shape;197;g3e1fd44db73_3_0"/>
          <p:cNvPicPr preferRelativeResize="0"/>
          <p:nvPr/>
        </p:nvPicPr>
        <p:blipFill rotWithShape="1">
          <a:blip r:embed="rId5">
            <a:alphaModFix/>
          </a:blip>
          <a:srcRect b="17976" l="18060" r="18054" t="17757"/>
          <a:stretch/>
        </p:blipFill>
        <p:spPr>
          <a:xfrm>
            <a:off x="5063100" y="3526825"/>
            <a:ext cx="262500" cy="264000"/>
          </a:xfrm>
          <a:prstGeom prst="ellipse">
            <a:avLst/>
          </a:prstGeom>
          <a:noFill/>
          <a:ln cap="flat" cmpd="sng" w="9525">
            <a:solidFill>
              <a:srgbClr val="666666"/>
            </a:solidFill>
            <a:prstDash val="solid"/>
            <a:round/>
            <a:headEnd len="sm" w="sm" type="none"/>
            <a:tailEnd len="sm" w="sm" type="none"/>
          </a:ln>
        </p:spPr>
      </p:pic>
      <p:pic>
        <p:nvPicPr>
          <p:cNvPr id="198" name="Google Shape;198;g3e1fd44db73_3_0"/>
          <p:cNvPicPr preferRelativeResize="0"/>
          <p:nvPr/>
        </p:nvPicPr>
        <p:blipFill rotWithShape="1">
          <a:blip r:embed="rId5">
            <a:alphaModFix/>
          </a:blip>
          <a:srcRect b="17976" l="18060" r="18054" t="17757"/>
          <a:stretch/>
        </p:blipFill>
        <p:spPr>
          <a:xfrm>
            <a:off x="5063100" y="4008025"/>
            <a:ext cx="262500" cy="264000"/>
          </a:xfrm>
          <a:prstGeom prst="ellipse">
            <a:avLst/>
          </a:prstGeom>
          <a:noFill/>
          <a:ln cap="flat" cmpd="sng" w="9525">
            <a:solidFill>
              <a:srgbClr val="666666"/>
            </a:solidFill>
            <a:prstDash val="solid"/>
            <a:round/>
            <a:headEnd len="sm" w="sm" type="none"/>
            <a:tailEnd len="sm" w="sm" type="none"/>
          </a:ln>
        </p:spPr>
      </p:pic>
      <p:pic>
        <p:nvPicPr>
          <p:cNvPr id="199" name="Google Shape;199;g3e1fd44db73_3_0"/>
          <p:cNvPicPr preferRelativeResize="0"/>
          <p:nvPr/>
        </p:nvPicPr>
        <p:blipFill rotWithShape="1">
          <a:blip r:embed="rId5">
            <a:alphaModFix/>
          </a:blip>
          <a:srcRect b="17976" l="18060" r="18054" t="17757"/>
          <a:stretch/>
        </p:blipFill>
        <p:spPr>
          <a:xfrm>
            <a:off x="5075100" y="4489225"/>
            <a:ext cx="262500" cy="264000"/>
          </a:xfrm>
          <a:prstGeom prst="ellipse">
            <a:avLst/>
          </a:prstGeom>
          <a:noFill/>
          <a:ln cap="flat" cmpd="sng" w="9525">
            <a:solidFill>
              <a:srgbClr val="666666"/>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dfa6f5700a_0_21"/>
          <p:cNvSpPr txBox="1"/>
          <p:nvPr>
            <p:ph idx="2" type="body"/>
          </p:nvPr>
        </p:nvSpPr>
        <p:spPr>
          <a:xfrm>
            <a:off x="5904775" y="4096475"/>
            <a:ext cx="3239100" cy="1047000"/>
          </a:xfrm>
          <a:prstGeom prst="rect">
            <a:avLst/>
          </a:prstGeom>
          <a:solidFill>
            <a:schemeClr val="lt2"/>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400"/>
              <a:buNone/>
            </a:pPr>
            <a:r>
              <a:t/>
            </a:r>
            <a:endParaRPr>
              <a:highlight>
                <a:srgbClr val="FFFFFF"/>
              </a:highlight>
            </a:endParaRPr>
          </a:p>
          <a:p>
            <a:pPr indent="0" lvl="0" marL="0" rtl="0" algn="l">
              <a:lnSpc>
                <a:spcPct val="100000"/>
              </a:lnSpc>
              <a:spcBef>
                <a:spcPts val="0"/>
              </a:spcBef>
              <a:spcAft>
                <a:spcPts val="0"/>
              </a:spcAft>
              <a:buSzPts val="2400"/>
              <a:buNone/>
            </a:pPr>
            <a:r>
              <a:t/>
            </a:r>
            <a:endParaRPr sz="2000">
              <a:highlight>
                <a:srgbClr val="FFFFFF"/>
              </a:highlight>
            </a:endParaRPr>
          </a:p>
          <a:p>
            <a:pPr indent="0" lvl="0" marL="457200" rtl="0" algn="l">
              <a:lnSpc>
                <a:spcPct val="100000"/>
              </a:lnSpc>
              <a:spcBef>
                <a:spcPts val="0"/>
              </a:spcBef>
              <a:spcAft>
                <a:spcPts val="0"/>
              </a:spcAft>
              <a:buSzPts val="2400"/>
              <a:buNone/>
            </a:pPr>
            <a:r>
              <a:t/>
            </a:r>
            <a:endParaRPr sz="2000">
              <a:highlight>
                <a:srgbClr val="FFFFFF"/>
              </a:highlight>
            </a:endParaRPr>
          </a:p>
          <a:p>
            <a:pPr indent="0" lvl="0" marL="0" rtl="0" algn="l">
              <a:lnSpc>
                <a:spcPct val="100000"/>
              </a:lnSpc>
              <a:spcBef>
                <a:spcPts val="0"/>
              </a:spcBef>
              <a:spcAft>
                <a:spcPts val="0"/>
              </a:spcAft>
              <a:buSzPts val="2400"/>
              <a:buNone/>
            </a:pPr>
            <a:r>
              <a:t/>
            </a:r>
            <a:endParaRPr sz="2000">
              <a:highlight>
                <a:srgbClr val="FFFFFF"/>
              </a:highlight>
            </a:endParaRPr>
          </a:p>
        </p:txBody>
      </p:sp>
      <p:sp>
        <p:nvSpPr>
          <p:cNvPr id="206" name="Google Shape;206;g3dfa6f5700a_0_21"/>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3000"/>
              <a:buNone/>
            </a:pPr>
            <a:r>
              <a:rPr lang="en-US"/>
              <a:t>Financial</a:t>
            </a:r>
            <a:r>
              <a:rPr lang="en-US"/>
              <a:t> Inputs and Comparison Metrics</a:t>
            </a:r>
            <a:endParaRPr/>
          </a:p>
        </p:txBody>
      </p:sp>
      <p:sp>
        <p:nvSpPr>
          <p:cNvPr id="207" name="Google Shape;207;g3dfa6f5700a_0_21"/>
          <p:cNvSpPr txBox="1"/>
          <p:nvPr>
            <p:ph idx="2" type="body"/>
          </p:nvPr>
        </p:nvSpPr>
        <p:spPr>
          <a:xfrm>
            <a:off x="447925" y="1519725"/>
            <a:ext cx="8696100" cy="35433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Char char="⮚"/>
            </a:pPr>
            <a:r>
              <a:rPr lang="en-US">
                <a:solidFill>
                  <a:schemeClr val="dk1"/>
                </a:solidFill>
              </a:rPr>
              <a:t>Financial Inputs:</a:t>
            </a:r>
            <a:endParaRPr b="0">
              <a:solidFill>
                <a:schemeClr val="dk1"/>
              </a:solidFill>
            </a:endParaRPr>
          </a:p>
          <a:p>
            <a:pPr indent="-355600" lvl="1" marL="914400" rtl="0" algn="l">
              <a:lnSpc>
                <a:spcPct val="100000"/>
              </a:lnSpc>
              <a:spcBef>
                <a:spcPts val="0"/>
              </a:spcBef>
              <a:spcAft>
                <a:spcPts val="0"/>
              </a:spcAft>
              <a:buClr>
                <a:schemeClr val="dk1"/>
              </a:buClr>
              <a:buSzPts val="2000"/>
              <a:buChar char="–"/>
            </a:pPr>
            <a:r>
              <a:rPr b="0" lang="en-US">
                <a:solidFill>
                  <a:schemeClr val="dk1"/>
                </a:solidFill>
              </a:rPr>
              <a:t>Net billing vs. net metering: water treatment plant vs. clinic (and long-term availability of PSE rate structures)</a:t>
            </a:r>
            <a:endParaRPr b="0">
              <a:solidFill>
                <a:schemeClr val="dk1"/>
              </a:solidFill>
            </a:endParaRPr>
          </a:p>
          <a:p>
            <a:pPr indent="-355600" lvl="1" marL="914400" rtl="0" algn="l">
              <a:spcBef>
                <a:spcPts val="0"/>
              </a:spcBef>
              <a:spcAft>
                <a:spcPts val="0"/>
              </a:spcAft>
              <a:buClr>
                <a:schemeClr val="dk1"/>
              </a:buClr>
              <a:buSzPts val="2000"/>
              <a:buChar char="–"/>
            </a:pPr>
            <a:r>
              <a:rPr lang="en-US">
                <a:solidFill>
                  <a:schemeClr val="dk1"/>
                </a:solidFill>
              </a:rPr>
              <a:t>Two financial lenses:</a:t>
            </a:r>
            <a:endParaRPr>
              <a:solidFill>
                <a:schemeClr val="dk1"/>
              </a:solidFill>
            </a:endParaRPr>
          </a:p>
          <a:p>
            <a:pPr indent="-342900" lvl="2" marL="1371600" rtl="0" algn="l">
              <a:spcBef>
                <a:spcPts val="0"/>
              </a:spcBef>
              <a:spcAft>
                <a:spcPts val="0"/>
              </a:spcAft>
              <a:buClr>
                <a:schemeClr val="dk1"/>
              </a:buClr>
              <a:buSzPts val="1800"/>
              <a:buChar char="&gt;"/>
            </a:pPr>
            <a:r>
              <a:rPr b="0" lang="en-US">
                <a:solidFill>
                  <a:schemeClr val="dk1"/>
                </a:solidFill>
              </a:rPr>
              <a:t>Full cost (25-year): includes upfront capital costs</a:t>
            </a:r>
            <a:endParaRPr b="0">
              <a:solidFill>
                <a:schemeClr val="dk1"/>
              </a:solidFill>
            </a:endParaRPr>
          </a:p>
          <a:p>
            <a:pPr indent="-342900" lvl="2" marL="1371600" rtl="0" algn="l">
              <a:spcBef>
                <a:spcPts val="0"/>
              </a:spcBef>
              <a:spcAft>
                <a:spcPts val="0"/>
              </a:spcAft>
              <a:buClr>
                <a:schemeClr val="dk1"/>
              </a:buClr>
              <a:buSzPts val="1800"/>
              <a:buChar char="&gt;"/>
            </a:pPr>
            <a:r>
              <a:rPr b="0" lang="en-US">
                <a:solidFill>
                  <a:schemeClr val="dk1"/>
                </a:solidFill>
              </a:rPr>
              <a:t>NPV savings (10-year): if capital costs paid</a:t>
            </a:r>
            <a:endParaRPr b="0">
              <a:solidFill>
                <a:schemeClr val="dk1"/>
              </a:solidFill>
            </a:endParaRPr>
          </a:p>
          <a:p>
            <a:pPr indent="-342900" lvl="0" marL="342900" rtl="0" algn="l">
              <a:lnSpc>
                <a:spcPct val="100000"/>
              </a:lnSpc>
              <a:spcBef>
                <a:spcPts val="1600"/>
              </a:spcBef>
              <a:spcAft>
                <a:spcPts val="0"/>
              </a:spcAft>
              <a:buClr>
                <a:schemeClr val="dk1"/>
              </a:buClr>
              <a:buSzPts val="2000"/>
              <a:buChar char="⮚"/>
            </a:pPr>
            <a:r>
              <a:rPr lang="en-US">
                <a:solidFill>
                  <a:schemeClr val="dk1"/>
                </a:solidFill>
              </a:rPr>
              <a:t>Outputs</a:t>
            </a:r>
            <a:r>
              <a:rPr lang="en-US">
                <a:solidFill>
                  <a:schemeClr val="dk1"/>
                </a:solidFill>
              </a:rPr>
              <a:t> for comparison analysis</a:t>
            </a:r>
            <a:endParaRPr>
              <a:solidFill>
                <a:schemeClr val="dk1"/>
              </a:solidFill>
            </a:endParaRPr>
          </a:p>
          <a:p>
            <a:pPr indent="-355600" lvl="1" marL="914400" rtl="0" algn="l">
              <a:lnSpc>
                <a:spcPct val="100000"/>
              </a:lnSpc>
              <a:spcBef>
                <a:spcPts val="0"/>
              </a:spcBef>
              <a:spcAft>
                <a:spcPts val="0"/>
              </a:spcAft>
              <a:buClr>
                <a:schemeClr val="dk1"/>
              </a:buClr>
              <a:buSzPts val="2000"/>
              <a:buChar char="–"/>
            </a:pPr>
            <a:r>
              <a:rPr b="0" lang="en-US">
                <a:solidFill>
                  <a:schemeClr val="dk1"/>
                </a:solidFill>
              </a:rPr>
              <a:t>Optimized PV/ASHP size and coverage: system design</a:t>
            </a:r>
            <a:endParaRPr b="0">
              <a:solidFill>
                <a:schemeClr val="dk1"/>
              </a:solidFill>
            </a:endParaRPr>
          </a:p>
          <a:p>
            <a:pPr indent="-355600" lvl="1" marL="914400" rtl="0" algn="l">
              <a:lnSpc>
                <a:spcPct val="100000"/>
              </a:lnSpc>
              <a:spcBef>
                <a:spcPts val="0"/>
              </a:spcBef>
              <a:spcAft>
                <a:spcPts val="0"/>
              </a:spcAft>
              <a:buClr>
                <a:schemeClr val="dk1"/>
              </a:buClr>
              <a:buSzPts val="2000"/>
              <a:buChar char="–"/>
            </a:pPr>
            <a:r>
              <a:rPr b="0" lang="en-US">
                <a:solidFill>
                  <a:schemeClr val="dk1"/>
                </a:solidFill>
              </a:rPr>
              <a:t>Costs (Year 1 and annual) compared to baseline: feasibility</a:t>
            </a:r>
            <a:endParaRPr b="0">
              <a:solidFill>
                <a:schemeClr val="dk1"/>
              </a:solidFill>
            </a:endParaRPr>
          </a:p>
          <a:p>
            <a:pPr indent="-355600" lvl="1" marL="914400" rtl="0" algn="l">
              <a:lnSpc>
                <a:spcPct val="100000"/>
              </a:lnSpc>
              <a:spcBef>
                <a:spcPts val="0"/>
              </a:spcBef>
              <a:spcAft>
                <a:spcPts val="0"/>
              </a:spcAft>
              <a:buClr>
                <a:schemeClr val="dk1"/>
              </a:buClr>
              <a:buSzPts val="2000"/>
              <a:buChar char="–"/>
            </a:pPr>
            <a:r>
              <a:rPr b="0" lang="en-US">
                <a:solidFill>
                  <a:schemeClr val="dk1"/>
                </a:solidFill>
              </a:rPr>
              <a:t>Emissions from eliminating propane</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e93768cd80_1_7"/>
          <p:cNvSpPr txBox="1"/>
          <p:nvPr>
            <p:ph type="title"/>
          </p:nvPr>
        </p:nvSpPr>
        <p:spPr>
          <a:xfrm>
            <a:off x="447922" y="369285"/>
            <a:ext cx="8197200" cy="9939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Key Findings: Net Metering vs. Net Billing</a:t>
            </a:r>
            <a:endParaRPr/>
          </a:p>
        </p:txBody>
      </p:sp>
      <p:sp>
        <p:nvSpPr>
          <p:cNvPr id="214" name="Google Shape;214;g3e93768cd80_1_7"/>
          <p:cNvSpPr txBox="1"/>
          <p:nvPr>
            <p:ph idx="2" type="body"/>
          </p:nvPr>
        </p:nvSpPr>
        <p:spPr>
          <a:xfrm>
            <a:off x="447925" y="1574905"/>
            <a:ext cx="8348700" cy="29133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0" lang="en-US" sz="1600"/>
              <a:t>An 80 kW solar array covering CEC/EC buildings would produce ~62,000 kWh annually. </a:t>
            </a:r>
            <a:r>
              <a:rPr b="0" lang="en-US" sz="1600"/>
              <a:t>For the LT heat pump scenario, ~34,000 kWh would be exported to the grid.</a:t>
            </a:r>
            <a:endParaRPr b="0" sz="1600"/>
          </a:p>
          <a:p>
            <a:pPr indent="0" lvl="0" marL="0" rtl="0" algn="l">
              <a:spcBef>
                <a:spcPts val="480"/>
              </a:spcBef>
              <a:spcAft>
                <a:spcPts val="0"/>
              </a:spcAft>
              <a:buNone/>
            </a:pPr>
            <a:r>
              <a:t/>
            </a:r>
            <a:endParaRPr b="0" sz="1800"/>
          </a:p>
          <a:p>
            <a:pPr indent="0" lvl="0" marL="0" rtl="0" algn="l">
              <a:spcBef>
                <a:spcPts val="480"/>
              </a:spcBef>
              <a:spcAft>
                <a:spcPts val="0"/>
              </a:spcAft>
              <a:buNone/>
            </a:pPr>
            <a:r>
              <a:rPr b="0" lang="en-US" sz="1800">
                <a:solidFill>
                  <a:schemeClr val="dk1"/>
                </a:solidFill>
              </a:rPr>
              <a:t>Net metering export credits: ~</a:t>
            </a:r>
            <a:r>
              <a:rPr lang="en-US" sz="1800">
                <a:solidFill>
                  <a:schemeClr val="dk1"/>
                </a:solidFill>
              </a:rPr>
              <a:t>$5,000</a:t>
            </a:r>
            <a:r>
              <a:rPr b="0" lang="en-US" sz="1800">
                <a:solidFill>
                  <a:schemeClr val="dk1"/>
                </a:solidFill>
              </a:rPr>
              <a:t> annually</a:t>
            </a:r>
            <a:endParaRPr b="0" sz="1800"/>
          </a:p>
          <a:p>
            <a:pPr indent="0" lvl="0" marL="0" rtl="0" algn="l">
              <a:spcBef>
                <a:spcPts val="480"/>
              </a:spcBef>
              <a:spcAft>
                <a:spcPts val="0"/>
              </a:spcAft>
              <a:buNone/>
            </a:pPr>
            <a:r>
              <a:rPr b="0" lang="en-US" sz="1800"/>
              <a:t>Net billing export credits: ~</a:t>
            </a:r>
            <a:r>
              <a:rPr lang="en-US" sz="1800"/>
              <a:t>$2,300 </a:t>
            </a:r>
            <a:r>
              <a:rPr b="0" lang="en-US" sz="1800"/>
              <a:t>annually</a:t>
            </a:r>
            <a:endParaRPr b="0" sz="1800"/>
          </a:p>
          <a:p>
            <a:pPr indent="0" lvl="0" marL="0" rtl="0" algn="l">
              <a:spcBef>
                <a:spcPts val="480"/>
              </a:spcBef>
              <a:spcAft>
                <a:spcPts val="0"/>
              </a:spcAft>
              <a:buNone/>
            </a:pPr>
            <a:r>
              <a:t/>
            </a:r>
            <a:endParaRPr b="0" sz="1800">
              <a:solidFill>
                <a:schemeClr val="dk1"/>
              </a:solidFill>
            </a:endParaRPr>
          </a:p>
          <a:p>
            <a:pPr indent="0" lvl="0" marL="0" rtl="0" algn="l">
              <a:spcBef>
                <a:spcPts val="480"/>
              </a:spcBef>
              <a:spcAft>
                <a:spcPts val="0"/>
              </a:spcAft>
              <a:buNone/>
            </a:pPr>
            <a:r>
              <a:rPr b="0" lang="en-US" sz="1800">
                <a:solidFill>
                  <a:schemeClr val="dk1"/>
                </a:solidFill>
              </a:rPr>
              <a:t>The same pattern holds across HT heat pump and electric boiler scenarios.</a:t>
            </a:r>
            <a:endParaRPr b="0" sz="1800">
              <a:solidFill>
                <a:schemeClr val="dk1"/>
              </a:solidFill>
            </a:endParaRPr>
          </a:p>
          <a:p>
            <a:pPr indent="0" lvl="0" marL="0" rtl="0" algn="l">
              <a:spcBef>
                <a:spcPts val="480"/>
              </a:spcBef>
              <a:spcAft>
                <a:spcPts val="0"/>
              </a:spcAft>
              <a:buNone/>
            </a:pPr>
            <a:r>
              <a:t/>
            </a:r>
            <a:endParaRPr b="0" sz="1800">
              <a:solidFill>
                <a:schemeClr val="dk1"/>
              </a:solidFill>
            </a:endParaRPr>
          </a:p>
          <a:p>
            <a:pPr indent="0" lvl="0" marL="0" rtl="0" algn="l">
              <a:spcBef>
                <a:spcPts val="480"/>
              </a:spcBef>
              <a:spcAft>
                <a:spcPts val="0"/>
              </a:spcAft>
              <a:buNone/>
            </a:pPr>
            <a:r>
              <a:rPr lang="en-US" sz="2300">
                <a:solidFill>
                  <a:schemeClr val="dk1"/>
                </a:solidFill>
              </a:rPr>
              <a:t>Recommendation:</a:t>
            </a:r>
            <a:r>
              <a:rPr b="0" lang="en-US" sz="2300">
                <a:solidFill>
                  <a:schemeClr val="dk1"/>
                </a:solidFill>
              </a:rPr>
              <a:t> if option is given, select </a:t>
            </a:r>
            <a:r>
              <a:rPr lang="en-US" sz="2300">
                <a:solidFill>
                  <a:schemeClr val="dk1"/>
                </a:solidFill>
              </a:rPr>
              <a:t>net metering</a:t>
            </a:r>
            <a:r>
              <a:rPr b="0" lang="en-US" sz="2300">
                <a:solidFill>
                  <a:schemeClr val="dk1"/>
                </a:solidFill>
              </a:rPr>
              <a:t> </a:t>
            </a:r>
            <a:endParaRPr b="0" sz="2300">
              <a:solidFill>
                <a:schemeClr val="dk1"/>
              </a:solidFill>
            </a:endParaRPr>
          </a:p>
          <a:p>
            <a:pPr indent="0" lvl="0" marL="0" rtl="0" algn="l">
              <a:spcBef>
                <a:spcPts val="480"/>
              </a:spcBef>
              <a:spcAft>
                <a:spcPts val="0"/>
              </a:spcAft>
              <a:buNone/>
            </a:pPr>
            <a:r>
              <a:rPr b="0" lang="en-US" sz="2300">
                <a:solidFill>
                  <a:schemeClr val="dk1"/>
                </a:solidFill>
              </a:rPr>
              <a:t>(subject to PSE eligibility/approval)</a:t>
            </a:r>
            <a:endParaRPr b="0" sz="23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e93768cd80_1_14"/>
          <p:cNvSpPr txBox="1"/>
          <p:nvPr>
            <p:ph type="title"/>
          </p:nvPr>
        </p:nvSpPr>
        <p:spPr>
          <a:xfrm>
            <a:off x="473397" y="22619"/>
            <a:ext cx="8197200" cy="9939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Key Findings: PV</a:t>
            </a:r>
            <a:endParaRPr/>
          </a:p>
        </p:txBody>
      </p:sp>
      <p:pic>
        <p:nvPicPr>
          <p:cNvPr id="221" name="Google Shape;221;g3e93768cd80_1_14"/>
          <p:cNvPicPr preferRelativeResize="0"/>
          <p:nvPr/>
        </p:nvPicPr>
        <p:blipFill>
          <a:blip r:embed="rId3">
            <a:alphaModFix/>
          </a:blip>
          <a:stretch>
            <a:fillRect/>
          </a:stretch>
        </p:blipFill>
        <p:spPr>
          <a:xfrm>
            <a:off x="3577500" y="1216775"/>
            <a:ext cx="5530050" cy="3517061"/>
          </a:xfrm>
          <a:prstGeom prst="rect">
            <a:avLst/>
          </a:prstGeom>
          <a:noFill/>
          <a:ln>
            <a:noFill/>
          </a:ln>
        </p:spPr>
      </p:pic>
      <p:sp>
        <p:nvSpPr>
          <p:cNvPr id="222" name="Google Shape;222;g3e93768cd80_1_14"/>
          <p:cNvSpPr txBox="1"/>
          <p:nvPr>
            <p:ph idx="2" type="body"/>
          </p:nvPr>
        </p:nvSpPr>
        <p:spPr>
          <a:xfrm>
            <a:off x="0" y="1155900"/>
            <a:ext cx="3577500" cy="39876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lang="en-US" sz="1600"/>
              <a:t>Net metering:</a:t>
            </a:r>
            <a:r>
              <a:rPr b="0" lang="en-US" sz="1600"/>
              <a:t> Because exports are credited near the retail rate, PV stays attractive up to a tipping point (~$4,000/kW-DC)</a:t>
            </a:r>
            <a:endParaRPr b="0" sz="1600"/>
          </a:p>
          <a:p>
            <a:pPr indent="0" lvl="0" marL="0" rtl="0" algn="l">
              <a:spcBef>
                <a:spcPts val="480"/>
              </a:spcBef>
              <a:spcAft>
                <a:spcPts val="0"/>
              </a:spcAft>
              <a:buNone/>
            </a:pPr>
            <a:r>
              <a:t/>
            </a:r>
            <a:endParaRPr b="0" sz="1600"/>
          </a:p>
          <a:p>
            <a:pPr indent="0" lvl="0" marL="0" rtl="0" algn="l">
              <a:spcBef>
                <a:spcPts val="480"/>
              </a:spcBef>
              <a:spcAft>
                <a:spcPts val="0"/>
              </a:spcAft>
              <a:buNone/>
            </a:pPr>
            <a:r>
              <a:rPr lang="en-US" sz="1600">
                <a:solidFill>
                  <a:schemeClr val="dk1"/>
                </a:solidFill>
              </a:rPr>
              <a:t>Net billing:</a:t>
            </a:r>
            <a:r>
              <a:rPr b="0" lang="en-US" sz="1600">
                <a:solidFill>
                  <a:schemeClr val="dk1"/>
                </a:solidFill>
              </a:rPr>
              <a:t> Because exports are paid at a lower sell rate, the optimal system size declines more gradually with increasing installed cost.</a:t>
            </a:r>
            <a:endParaRPr b="0" sz="1600">
              <a:solidFill>
                <a:schemeClr val="dk1"/>
              </a:solidFill>
            </a:endParaRPr>
          </a:p>
          <a:p>
            <a:pPr indent="0" lvl="0" marL="0" rtl="0" algn="l">
              <a:spcBef>
                <a:spcPts val="480"/>
              </a:spcBef>
              <a:spcAft>
                <a:spcPts val="0"/>
              </a:spcAft>
              <a:buNone/>
            </a:pPr>
            <a:r>
              <a:t/>
            </a:r>
            <a:endParaRPr b="0" sz="1600">
              <a:solidFill>
                <a:schemeClr val="dk1"/>
              </a:solidFill>
            </a:endParaRPr>
          </a:p>
          <a:p>
            <a:pPr indent="0" lvl="0" marL="0" rtl="0" algn="l">
              <a:spcBef>
                <a:spcPts val="480"/>
              </a:spcBef>
              <a:spcAft>
                <a:spcPts val="0"/>
              </a:spcAft>
              <a:buNone/>
            </a:pPr>
            <a:r>
              <a:rPr lang="en-US" sz="1600">
                <a:solidFill>
                  <a:schemeClr val="dk1"/>
                </a:solidFill>
              </a:rPr>
              <a:t>Recommendation:</a:t>
            </a:r>
            <a:r>
              <a:rPr b="0" lang="en-US" sz="1600">
                <a:solidFill>
                  <a:schemeClr val="dk1"/>
                </a:solidFill>
              </a:rPr>
              <a:t> </a:t>
            </a:r>
            <a:br>
              <a:rPr b="0" lang="en-US" sz="1600">
                <a:solidFill>
                  <a:schemeClr val="dk1"/>
                </a:solidFill>
              </a:rPr>
            </a:br>
            <a:r>
              <a:rPr b="0" lang="en-US" sz="1600">
                <a:solidFill>
                  <a:schemeClr val="dk1"/>
                </a:solidFill>
              </a:rPr>
              <a:t>PV recommended on CEC/EC roofs to offset increased electricity demand from electrification</a:t>
            </a:r>
            <a:endParaRPr b="0" sz="1600">
              <a:solidFill>
                <a:schemeClr val="dk1"/>
              </a:solidFill>
            </a:endParaRPr>
          </a:p>
          <a:p>
            <a:pPr indent="0" lvl="0" marL="0" rtl="0" algn="l">
              <a:spcBef>
                <a:spcPts val="480"/>
              </a:spcBef>
              <a:spcAft>
                <a:spcPts val="0"/>
              </a:spcAft>
              <a:buNone/>
            </a:pPr>
            <a:r>
              <a:t/>
            </a:r>
            <a:endParaRPr b="0" sz="1600">
              <a:solidFill>
                <a:schemeClr val="dk1"/>
              </a:solidFill>
            </a:endParaRPr>
          </a:p>
          <a:p>
            <a:pPr indent="0" lvl="0" marL="0" rtl="0" algn="l">
              <a:spcBef>
                <a:spcPts val="480"/>
              </a:spcBef>
              <a:spcAft>
                <a:spcPts val="0"/>
              </a:spcAft>
              <a:buNone/>
            </a:pPr>
            <a:r>
              <a:t/>
            </a:r>
            <a:endParaRPr b="0"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e93768cd80_1_20"/>
          <p:cNvSpPr txBox="1"/>
          <p:nvPr>
            <p:ph idx="2" type="body"/>
          </p:nvPr>
        </p:nvSpPr>
        <p:spPr>
          <a:xfrm>
            <a:off x="473400" y="1323901"/>
            <a:ext cx="8197200" cy="36150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lang="en-US"/>
              <a:t>At full cost, battery storage is not financially viable</a:t>
            </a:r>
            <a:endParaRPr b="0"/>
          </a:p>
          <a:p>
            <a:pPr indent="0" lvl="0" marL="0" rtl="0" algn="l">
              <a:spcBef>
                <a:spcPts val="480"/>
              </a:spcBef>
              <a:spcAft>
                <a:spcPts val="0"/>
              </a:spcAft>
              <a:buNone/>
            </a:pPr>
            <a:r>
              <a:rPr b="0" lang="en-US" sz="1600"/>
              <a:t>Modeled scenarios consistently show that value from demand charge savings and exports cannot outweigh upfront and replacement costs.</a:t>
            </a:r>
            <a:endParaRPr b="0" sz="1600"/>
          </a:p>
          <a:p>
            <a:pPr indent="0" lvl="0" marL="0" rtl="0" algn="l">
              <a:spcBef>
                <a:spcPts val="1000"/>
              </a:spcBef>
              <a:spcAft>
                <a:spcPts val="0"/>
              </a:spcAft>
              <a:buNone/>
            </a:pPr>
            <a:r>
              <a:rPr b="0" lang="en-US" sz="1600"/>
              <a:t>However, with grant funding, </a:t>
            </a:r>
            <a:r>
              <a:rPr lang="en-US" sz="1600"/>
              <a:t>a battery can deliver net value to the Tribe</a:t>
            </a:r>
            <a:r>
              <a:rPr b="0" lang="en-US" sz="1600"/>
              <a:t>.</a:t>
            </a:r>
            <a:endParaRPr b="0" sz="1600"/>
          </a:p>
          <a:p>
            <a:pPr indent="0" lvl="0" marL="0" rtl="0" algn="l">
              <a:spcBef>
                <a:spcPts val="480"/>
              </a:spcBef>
              <a:spcAft>
                <a:spcPts val="0"/>
              </a:spcAft>
              <a:buNone/>
            </a:pPr>
            <a:r>
              <a:t/>
            </a:r>
            <a:endParaRPr b="0" sz="1600"/>
          </a:p>
          <a:p>
            <a:pPr indent="0" lvl="0" marL="0" rtl="0" algn="l">
              <a:spcBef>
                <a:spcPts val="480"/>
              </a:spcBef>
              <a:spcAft>
                <a:spcPts val="0"/>
              </a:spcAft>
              <a:buNone/>
            </a:pPr>
            <a:r>
              <a:t/>
            </a:r>
            <a:endParaRPr b="0" sz="1600"/>
          </a:p>
          <a:p>
            <a:pPr indent="0" lvl="0" marL="0" rtl="0" algn="l">
              <a:spcBef>
                <a:spcPts val="480"/>
              </a:spcBef>
              <a:spcAft>
                <a:spcPts val="0"/>
              </a:spcAft>
              <a:buNone/>
            </a:pPr>
            <a:br>
              <a:rPr b="0" lang="en-US" sz="1600"/>
            </a:br>
            <a:endParaRPr b="0" sz="1600"/>
          </a:p>
          <a:p>
            <a:pPr indent="0" lvl="0" marL="0" rtl="0" algn="l">
              <a:spcBef>
                <a:spcPts val="480"/>
              </a:spcBef>
              <a:spcAft>
                <a:spcPts val="0"/>
              </a:spcAft>
              <a:buNone/>
            </a:pPr>
            <a:r>
              <a:t/>
            </a:r>
            <a:endParaRPr b="0" sz="1600"/>
          </a:p>
          <a:p>
            <a:pPr indent="0" lvl="0" marL="0" rtl="0" algn="r">
              <a:spcBef>
                <a:spcPts val="0"/>
              </a:spcBef>
              <a:spcAft>
                <a:spcPts val="0"/>
              </a:spcAft>
              <a:buNone/>
            </a:pPr>
            <a:r>
              <a:rPr b="0" lang="en-US" sz="1200"/>
              <a:t>*for electric boiler scenario</a:t>
            </a:r>
            <a:endParaRPr b="0" sz="1200"/>
          </a:p>
          <a:p>
            <a:pPr indent="0" lvl="0" marL="0" rtl="0" algn="l">
              <a:spcBef>
                <a:spcPts val="480"/>
              </a:spcBef>
              <a:spcAft>
                <a:spcPts val="0"/>
              </a:spcAft>
              <a:buNone/>
            </a:pPr>
            <a:r>
              <a:rPr b="0" i="1" lang="en-US" sz="1600"/>
              <a:t>Note: Under net billing, storing excess solar for later use (~$0.11/kWh benefit) beats exporting it at the low credit rate (~$0.07/kWh). Under net metering, exports are credited at the full retail rate, so value of battery comes solely from lowering demand charges.</a:t>
            </a:r>
            <a:endParaRPr b="0" i="1" sz="1600"/>
          </a:p>
        </p:txBody>
      </p:sp>
      <p:sp>
        <p:nvSpPr>
          <p:cNvPr id="229" name="Google Shape;229;g3e93768cd80_1_20"/>
          <p:cNvSpPr txBox="1"/>
          <p:nvPr>
            <p:ph type="title"/>
          </p:nvPr>
        </p:nvSpPr>
        <p:spPr>
          <a:xfrm>
            <a:off x="447910" y="44935"/>
            <a:ext cx="8197200" cy="9939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Key Findings: Battery</a:t>
            </a:r>
            <a:endParaRPr/>
          </a:p>
        </p:txBody>
      </p:sp>
      <p:graphicFrame>
        <p:nvGraphicFramePr>
          <p:cNvPr id="230" name="Google Shape;230;g3e93768cd80_1_20"/>
          <p:cNvGraphicFramePr/>
          <p:nvPr/>
        </p:nvGraphicFramePr>
        <p:xfrm>
          <a:off x="531826" y="2814350"/>
          <a:ext cx="3000000" cy="3000000"/>
        </p:xfrm>
        <a:graphic>
          <a:graphicData uri="http://schemas.openxmlformats.org/drawingml/2006/table">
            <a:tbl>
              <a:tblPr>
                <a:noFill/>
                <a:tableStyleId>{257A6124-AAE4-41BB-9F0F-6DCBEE21ED7C}</a:tableStyleId>
              </a:tblPr>
              <a:tblGrid>
                <a:gridCol w="2084425"/>
                <a:gridCol w="1863125"/>
                <a:gridCol w="1604975"/>
                <a:gridCol w="2476825"/>
              </a:tblGrid>
              <a:tr h="508100">
                <a:tc>
                  <a:txBody>
                    <a:bodyPr/>
                    <a:lstStyle/>
                    <a:p>
                      <a:pPr indent="0" lvl="0" marL="0" marR="0" rtl="0" algn="ctr">
                        <a:lnSpc>
                          <a:spcPct val="115000"/>
                        </a:lnSpc>
                        <a:spcBef>
                          <a:spcPts val="0"/>
                        </a:spcBef>
                        <a:spcAft>
                          <a:spcPts val="0"/>
                        </a:spcAft>
                        <a:buNone/>
                      </a:pPr>
                      <a:r>
                        <a:rPr b="1" lang="en-US"/>
                        <a:t>Compensation type</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8D3A2"/>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a:solidFill>
                            <a:srgbClr val="1F1F1F"/>
                          </a:solidFill>
                        </a:rPr>
                        <a:t>Battery Size</a:t>
                      </a:r>
                      <a:endParaRPr b="1" sz="1400" u="none" cap="none" strike="noStrike">
                        <a:solidFill>
                          <a:srgbClr val="1F1F1F"/>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8D3A2"/>
                    </a:solidFill>
                  </a:tcPr>
                </a:tc>
                <a:tc>
                  <a:txBody>
                    <a:bodyPr/>
                    <a:lstStyle/>
                    <a:p>
                      <a:pPr indent="0" lvl="0" marL="0" marR="0" rtl="0" algn="ctr">
                        <a:lnSpc>
                          <a:spcPct val="115000"/>
                        </a:lnSpc>
                        <a:spcBef>
                          <a:spcPts val="0"/>
                        </a:spcBef>
                        <a:spcAft>
                          <a:spcPts val="0"/>
                        </a:spcAft>
                        <a:buNone/>
                      </a:pPr>
                      <a:r>
                        <a:rPr b="1" lang="en-US">
                          <a:solidFill>
                            <a:srgbClr val="1F1F1F"/>
                          </a:solidFill>
                        </a:rPr>
                        <a:t>Required Grant Size</a:t>
                      </a:r>
                      <a:endParaRPr b="1">
                        <a:solidFill>
                          <a:srgbClr val="1F1F1F"/>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8D3A2"/>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a:solidFill>
                            <a:srgbClr val="1F1F1F"/>
                          </a:solidFill>
                        </a:rPr>
                        <a:t>NPV </a:t>
                      </a:r>
                      <a:br>
                        <a:rPr b="1" lang="en-US">
                          <a:solidFill>
                            <a:srgbClr val="1F1F1F"/>
                          </a:solidFill>
                        </a:rPr>
                      </a:br>
                      <a:r>
                        <a:rPr b="1" lang="en-US">
                          <a:solidFill>
                            <a:srgbClr val="1F1F1F"/>
                          </a:solidFill>
                        </a:rPr>
                        <a:t>(10 year payback period)</a:t>
                      </a:r>
                      <a:endParaRPr b="1" sz="1400" u="none" cap="none" strike="noStrike">
                        <a:solidFill>
                          <a:srgbClr val="1F1F1F"/>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8D3A2"/>
                    </a:solidFill>
                  </a:tcPr>
                </a:tc>
              </a:tr>
              <a:tr h="385925">
                <a:tc>
                  <a:txBody>
                    <a:bodyPr/>
                    <a:lstStyle/>
                    <a:p>
                      <a:pPr indent="0" lvl="0" marL="0" marR="0" rtl="0" algn="ctr">
                        <a:lnSpc>
                          <a:spcPct val="115000"/>
                        </a:lnSpc>
                        <a:spcBef>
                          <a:spcPts val="0"/>
                        </a:spcBef>
                        <a:spcAft>
                          <a:spcPts val="0"/>
                        </a:spcAft>
                        <a:buNone/>
                      </a:pPr>
                      <a:r>
                        <a:rPr lang="en-US">
                          <a:solidFill>
                            <a:srgbClr val="1F1F1F"/>
                          </a:solidFill>
                        </a:rPr>
                        <a:t>Net billing</a:t>
                      </a:r>
                      <a:endParaRPr>
                        <a:solidFill>
                          <a:srgbClr val="1F1F1F"/>
                        </a:solidFill>
                      </a:endParaRPr>
                    </a:p>
                  </a:txBody>
                  <a:tcPr marT="66675" marB="66675" marR="66675" marL="66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a:solidFill>
                            <a:srgbClr val="1F1F1F"/>
                          </a:solidFill>
                        </a:rPr>
                        <a:t>50 kWh / 100 kWh</a:t>
                      </a:r>
                      <a:endParaRPr>
                        <a:solidFill>
                          <a:srgbClr val="1F1F1F"/>
                        </a:solidFill>
                      </a:endParaRPr>
                    </a:p>
                  </a:txBody>
                  <a:tcPr marT="66675" marB="66675" marR="66675" marL="66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a:solidFill>
                            <a:srgbClr val="1F1F1F"/>
                          </a:solidFill>
                        </a:rPr>
                        <a:t>~$80,000</a:t>
                      </a:r>
                      <a:endParaRPr>
                        <a:solidFill>
                          <a:srgbClr val="1F1F1F"/>
                        </a:solidFill>
                      </a:endParaRPr>
                    </a:p>
                  </a:txBody>
                  <a:tcPr marT="66675" marB="66675" marR="66675" marL="66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a:solidFill>
                            <a:srgbClr val="1F1F1F"/>
                          </a:solidFill>
                        </a:rPr>
                        <a:t>~</a:t>
                      </a:r>
                      <a:r>
                        <a:rPr lang="en-US">
                          <a:solidFill>
                            <a:srgbClr val="1F1F1F"/>
                          </a:solidFill>
                          <a:extLst>
                            <a:ext uri="http://customooxmlschemas.google.com/">
                              <go:slidesCustomData xmlns:go="http://customooxmlschemas.google.com/" textRoundtripDataId="1"/>
                            </a:ext>
                          </a:extLst>
                        </a:rPr>
                        <a:t>$</a:t>
                      </a:r>
                      <a:r>
                        <a:rPr lang="en-US">
                          <a:solidFill>
                            <a:srgbClr val="1F1F1F"/>
                          </a:solidFill>
                        </a:rPr>
                        <a:t>22,000*</a:t>
                      </a:r>
                      <a:endParaRPr>
                        <a:solidFill>
                          <a:srgbClr val="1F1F1F"/>
                        </a:solidFill>
                      </a:endParaRPr>
                    </a:p>
                  </a:txBody>
                  <a:tcPr marT="66675" marB="66675" marR="66675" marL="66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5925">
                <a:tc>
                  <a:txBody>
                    <a:bodyPr/>
                    <a:lstStyle/>
                    <a:p>
                      <a:pPr indent="0" lvl="0" marL="0" marR="0" rtl="0" algn="ctr">
                        <a:lnSpc>
                          <a:spcPct val="115000"/>
                        </a:lnSpc>
                        <a:spcBef>
                          <a:spcPts val="0"/>
                        </a:spcBef>
                        <a:spcAft>
                          <a:spcPts val="0"/>
                        </a:spcAft>
                        <a:buNone/>
                      </a:pPr>
                      <a:r>
                        <a:rPr lang="en-US">
                          <a:solidFill>
                            <a:srgbClr val="1F1F1F"/>
                          </a:solidFill>
                        </a:rPr>
                        <a:t>Net metering</a:t>
                      </a:r>
                      <a:endParaRPr>
                        <a:solidFill>
                          <a:srgbClr val="1F1F1F"/>
                        </a:solidFill>
                      </a:endParaRPr>
                    </a:p>
                  </a:txBody>
                  <a:tcPr marT="66675" marB="66675" marR="66675" marL="66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a:solidFill>
                            <a:srgbClr val="1F1F1F"/>
                          </a:solidFill>
                        </a:rPr>
                        <a:t>50 kWh / 100 kWh</a:t>
                      </a:r>
                      <a:endParaRPr>
                        <a:solidFill>
                          <a:srgbClr val="1F1F1F"/>
                        </a:solidFill>
                      </a:endParaRPr>
                    </a:p>
                  </a:txBody>
                  <a:tcPr marT="66675" marB="66675" marR="66675" marL="66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a:solidFill>
                            <a:srgbClr val="1F1F1F"/>
                          </a:solidFill>
                        </a:rPr>
                        <a:t>~$80,000</a:t>
                      </a:r>
                      <a:endParaRPr>
                        <a:solidFill>
                          <a:srgbClr val="1F1F1F"/>
                        </a:solidFill>
                      </a:endParaRPr>
                    </a:p>
                  </a:txBody>
                  <a:tcPr marT="66675" marB="66675" marR="66675" marL="66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a:solidFill>
                            <a:srgbClr val="1F1F1F"/>
                          </a:solidFill>
                        </a:rPr>
                        <a:t>~$10,000*</a:t>
                      </a:r>
                      <a:endParaRPr>
                        <a:solidFill>
                          <a:srgbClr val="1F1F1F"/>
                        </a:solidFill>
                      </a:endParaRPr>
                    </a:p>
                  </a:txBody>
                  <a:tcPr marT="66675" marB="66675" marR="66675" marL="66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db432b2860_1_939"/>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3000"/>
              <a:buNone/>
            </a:pPr>
            <a:r>
              <a:rPr lang="en-US"/>
              <a:t>Next Steps</a:t>
            </a:r>
            <a:endParaRPr/>
          </a:p>
        </p:txBody>
      </p:sp>
      <p:sp>
        <p:nvSpPr>
          <p:cNvPr id="237" name="Google Shape;237;g3db432b2860_1_939"/>
          <p:cNvSpPr txBox="1"/>
          <p:nvPr>
            <p:ph idx="2" type="body"/>
          </p:nvPr>
        </p:nvSpPr>
        <p:spPr>
          <a:xfrm>
            <a:off x="376300" y="1636300"/>
            <a:ext cx="8197200" cy="3021600"/>
          </a:xfrm>
          <a:prstGeom prst="rect">
            <a:avLst/>
          </a:prstGeom>
          <a:noFill/>
          <a:ln>
            <a:noFill/>
          </a:ln>
        </p:spPr>
        <p:txBody>
          <a:bodyPr anchorCtr="0" anchor="t" bIns="45700" lIns="91425" spcFirstLastPara="1" rIns="91425" wrap="square" tIns="45700">
            <a:noAutofit/>
          </a:bodyPr>
          <a:lstStyle/>
          <a:p>
            <a:pPr indent="-381000" lvl="0" marL="457200" rtl="0" algn="l">
              <a:lnSpc>
                <a:spcPct val="100000"/>
              </a:lnSpc>
              <a:spcBef>
                <a:spcPts val="0"/>
              </a:spcBef>
              <a:spcAft>
                <a:spcPts val="0"/>
              </a:spcAft>
              <a:buClr>
                <a:schemeClr val="dk1"/>
              </a:buClr>
              <a:buSzPts val="2400"/>
              <a:buChar char="⮚"/>
            </a:pPr>
            <a:r>
              <a:rPr lang="en-US">
                <a:solidFill>
                  <a:schemeClr val="dk1"/>
                </a:solidFill>
              </a:rPr>
              <a:t>Finalize heating system cost comparison</a:t>
            </a:r>
            <a:endParaRPr>
              <a:solidFill>
                <a:schemeClr val="dk1"/>
              </a:solidFill>
            </a:endParaRPr>
          </a:p>
          <a:p>
            <a:pPr indent="-381000" lvl="0" marL="1143000" marR="0" rtl="0" algn="l">
              <a:spcBef>
                <a:spcPts val="0"/>
              </a:spcBef>
              <a:spcAft>
                <a:spcPts val="0"/>
              </a:spcAft>
              <a:buClr>
                <a:schemeClr val="dk1"/>
              </a:buClr>
              <a:buSzPts val="2400"/>
              <a:buChar char="-"/>
            </a:pPr>
            <a:r>
              <a:rPr b="0" lang="en-US">
                <a:solidFill>
                  <a:schemeClr val="dk1"/>
                </a:solidFill>
              </a:rPr>
              <a:t>E</a:t>
            </a:r>
            <a:r>
              <a:rPr b="0" lang="en-US">
                <a:solidFill>
                  <a:schemeClr val="dk1"/>
                </a:solidFill>
              </a:rPr>
              <a:t>lectric boiler vs. Heat pumps</a:t>
            </a:r>
            <a:endParaRPr b="0">
              <a:solidFill>
                <a:schemeClr val="dk1"/>
              </a:solidFill>
            </a:endParaRPr>
          </a:p>
          <a:p>
            <a:pPr indent="-381000" lvl="0" marL="457200" rtl="0" algn="l">
              <a:lnSpc>
                <a:spcPct val="100000"/>
              </a:lnSpc>
              <a:spcBef>
                <a:spcPts val="1400"/>
              </a:spcBef>
              <a:spcAft>
                <a:spcPts val="0"/>
              </a:spcAft>
              <a:buClr>
                <a:schemeClr val="dk1"/>
              </a:buClr>
              <a:buSzPts val="2400"/>
              <a:buChar char="⮚"/>
            </a:pPr>
            <a:r>
              <a:rPr lang="en-US">
                <a:solidFill>
                  <a:schemeClr val="dk1"/>
                </a:solidFill>
              </a:rPr>
              <a:t>Complete battery storage analysis</a:t>
            </a:r>
            <a:endParaRPr>
              <a:solidFill>
                <a:schemeClr val="dk1"/>
              </a:solidFill>
            </a:endParaRPr>
          </a:p>
          <a:p>
            <a:pPr indent="-381000" lvl="0" marL="457200" rtl="0" algn="l">
              <a:lnSpc>
                <a:spcPct val="100000"/>
              </a:lnSpc>
              <a:spcBef>
                <a:spcPts val="1400"/>
              </a:spcBef>
              <a:spcAft>
                <a:spcPts val="0"/>
              </a:spcAft>
              <a:buClr>
                <a:schemeClr val="dk1"/>
              </a:buClr>
              <a:buSzPts val="2400"/>
              <a:buChar char="⮚"/>
            </a:pPr>
            <a:r>
              <a:rPr lang="en-US">
                <a:solidFill>
                  <a:schemeClr val="dk1"/>
                </a:solidFill>
              </a:rPr>
              <a:t>June 4 </a:t>
            </a:r>
            <a:r>
              <a:rPr b="0" lang="en-US">
                <a:solidFill>
                  <a:schemeClr val="dk1"/>
                </a:solidFill>
              </a:rPr>
              <a:t>— UW Clean Energy Institute Community Capstone Showcase at McKinstry's offices in Seattle</a:t>
            </a:r>
            <a:endParaRPr b="0">
              <a:solidFill>
                <a:schemeClr val="dk1"/>
              </a:solidFill>
            </a:endParaRPr>
          </a:p>
          <a:p>
            <a:pPr indent="-381000" lvl="0" marL="457200" rtl="0" algn="l">
              <a:lnSpc>
                <a:spcPct val="100000"/>
              </a:lnSpc>
              <a:spcBef>
                <a:spcPts val="1400"/>
              </a:spcBef>
              <a:spcAft>
                <a:spcPts val="0"/>
              </a:spcAft>
              <a:buClr>
                <a:schemeClr val="dk1"/>
              </a:buClr>
              <a:buSzPts val="2400"/>
              <a:buChar char="⮚"/>
            </a:pPr>
            <a:r>
              <a:rPr lang="en-US">
                <a:solidFill>
                  <a:schemeClr val="dk1"/>
                </a:solidFill>
              </a:rPr>
              <a:t>June 15</a:t>
            </a:r>
            <a:r>
              <a:rPr b="0" lang="en-US">
                <a:solidFill>
                  <a:schemeClr val="dk1"/>
                </a:solidFill>
              </a:rPr>
              <a:t> — Final report delivered to PGST</a:t>
            </a:r>
            <a:endParaRPr b="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8"/>
          <p:cNvSpPr txBox="1"/>
          <p:nvPr>
            <p:ph type="title"/>
          </p:nvPr>
        </p:nvSpPr>
        <p:spPr>
          <a:xfrm>
            <a:off x="460375" y="644993"/>
            <a:ext cx="6972300" cy="2641756"/>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lt2"/>
              </a:buClr>
              <a:buSzPts val="5000"/>
              <a:buFont typeface="Encode Sans Black"/>
              <a:buNone/>
            </a:pPr>
            <a:r>
              <a:rPr lang="en-US">
                <a:latin typeface="Encode Sans Black"/>
                <a:ea typeface="Encode Sans Black"/>
                <a:cs typeface="Encode Sans Black"/>
                <a:sym typeface="Encode Sans Black"/>
              </a:rPr>
              <a:t>Thank you!</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7" name="Shape 247"/>
        <p:cNvGrpSpPr/>
        <p:nvPr/>
      </p:nvGrpSpPr>
      <p:grpSpPr>
        <a:xfrm>
          <a:off x="0" y="0"/>
          <a:ext cx="0" cy="0"/>
          <a:chOff x="0" y="0"/>
          <a:chExt cx="0" cy="0"/>
        </a:xfrm>
      </p:grpSpPr>
      <p:sp>
        <p:nvSpPr>
          <p:cNvPr id="248" name="Google Shape;248;g3e93768cd80_1_0"/>
          <p:cNvSpPr txBox="1"/>
          <p:nvPr>
            <p:ph type="title"/>
          </p:nvPr>
        </p:nvSpPr>
        <p:spPr>
          <a:xfrm>
            <a:off x="447922" y="369285"/>
            <a:ext cx="8197200" cy="9939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Example Scenario</a:t>
            </a:r>
            <a:endParaRPr/>
          </a:p>
        </p:txBody>
      </p:sp>
      <p:sp>
        <p:nvSpPr>
          <p:cNvPr id="249" name="Google Shape;249;g3e93768cd80_1_0"/>
          <p:cNvSpPr txBox="1"/>
          <p:nvPr>
            <p:ph idx="2" type="body"/>
          </p:nvPr>
        </p:nvSpPr>
        <p:spPr>
          <a:xfrm>
            <a:off x="447925" y="1684178"/>
            <a:ext cx="8197200" cy="2887800"/>
          </a:xfrm>
          <a:prstGeom prst="rect">
            <a:avLst/>
          </a:prstGeom>
        </p:spPr>
        <p:txBody>
          <a:bodyPr anchorCtr="0" anchor="t" bIns="45700" lIns="91425" spcFirstLastPara="1" rIns="91425" wrap="square" tIns="45700">
            <a:noAutofit/>
          </a:bodyPr>
          <a:lstStyle/>
          <a:p>
            <a:pPr indent="-355600" lvl="0" marL="457200" rtl="0" algn="l">
              <a:spcBef>
                <a:spcPts val="0"/>
              </a:spcBef>
              <a:spcAft>
                <a:spcPts val="0"/>
              </a:spcAft>
              <a:buClr>
                <a:schemeClr val="dk1"/>
              </a:buClr>
              <a:buSzPts val="2000"/>
              <a:buFont typeface="Open Sans"/>
              <a:buChar char="⮚"/>
            </a:pPr>
            <a:r>
              <a:rPr lang="en-US" sz="2000">
                <a:solidFill>
                  <a:schemeClr val="dk1"/>
                </a:solidFill>
              </a:rPr>
              <a:t>Electric Boiler with Solar, net metering, no battery, full cost</a:t>
            </a:r>
            <a:endParaRPr sz="2000">
              <a:solidFill>
                <a:schemeClr val="dk1"/>
              </a:solidFill>
            </a:endParaRPr>
          </a:p>
          <a:p>
            <a:pPr indent="-355600" lvl="1" marL="914400" rtl="0" algn="l">
              <a:spcBef>
                <a:spcPts val="0"/>
              </a:spcBef>
              <a:spcAft>
                <a:spcPts val="0"/>
              </a:spcAft>
              <a:buClr>
                <a:schemeClr val="dk1"/>
              </a:buClr>
              <a:buSzPts val="2000"/>
              <a:buChar char="–"/>
            </a:pPr>
            <a:r>
              <a:rPr b="0" lang="en-US">
                <a:solidFill>
                  <a:schemeClr val="dk1"/>
                </a:solidFill>
              </a:rPr>
              <a:t>Select technologies: PV and ASHP</a:t>
            </a:r>
            <a:endParaRPr b="0">
              <a:solidFill>
                <a:schemeClr val="dk1"/>
              </a:solidFill>
            </a:endParaRPr>
          </a:p>
          <a:p>
            <a:pPr indent="-342900" lvl="2" marL="1371600" rtl="0" algn="l">
              <a:spcBef>
                <a:spcPts val="0"/>
              </a:spcBef>
              <a:spcAft>
                <a:spcPts val="0"/>
              </a:spcAft>
              <a:buClr>
                <a:schemeClr val="dk1"/>
              </a:buClr>
              <a:buSzPts val="1800"/>
              <a:buChar char="&gt;"/>
            </a:pPr>
            <a:r>
              <a:rPr b="0" lang="en-US">
                <a:solidFill>
                  <a:schemeClr val="dk1"/>
                </a:solidFill>
              </a:rPr>
              <a:t>ASHP used to model electric boiler</a:t>
            </a:r>
            <a:endParaRPr b="0">
              <a:solidFill>
                <a:schemeClr val="dk1"/>
              </a:solidFill>
            </a:endParaRPr>
          </a:p>
          <a:p>
            <a:pPr indent="-355600" lvl="1" marL="914400" rtl="0" algn="l">
              <a:spcBef>
                <a:spcPts val="0"/>
              </a:spcBef>
              <a:spcAft>
                <a:spcPts val="0"/>
              </a:spcAft>
              <a:buClr>
                <a:schemeClr val="dk1"/>
              </a:buClr>
              <a:buSzPts val="2000"/>
              <a:buChar char="–"/>
            </a:pPr>
            <a:r>
              <a:rPr b="0" lang="en-US">
                <a:solidFill>
                  <a:schemeClr val="dk1"/>
                </a:solidFill>
              </a:rPr>
              <a:t>Selected net metering or specified net billing (~$0.06/kWh)</a:t>
            </a:r>
            <a:endParaRPr b="0">
              <a:solidFill>
                <a:schemeClr val="dk1"/>
              </a:solidFill>
            </a:endParaRPr>
          </a:p>
          <a:p>
            <a:pPr indent="-355600" lvl="1" marL="914400" rtl="0" algn="l">
              <a:spcBef>
                <a:spcPts val="0"/>
              </a:spcBef>
              <a:spcAft>
                <a:spcPts val="0"/>
              </a:spcAft>
              <a:buClr>
                <a:schemeClr val="dk1"/>
              </a:buClr>
              <a:buSzPts val="2000"/>
              <a:buChar char="–"/>
            </a:pPr>
            <a:r>
              <a:rPr b="0" lang="en-US">
                <a:solidFill>
                  <a:schemeClr val="dk1"/>
                </a:solidFill>
              </a:rPr>
              <a:t>Uploaded existing electricity and thermal load profiles (estimated from previous propane allocation)</a:t>
            </a:r>
            <a:endParaRPr b="0">
              <a:solidFill>
                <a:schemeClr val="dk1"/>
              </a:solidFill>
            </a:endParaRPr>
          </a:p>
          <a:p>
            <a:pPr indent="-355600" lvl="1" marL="914400" rtl="0" algn="l">
              <a:spcBef>
                <a:spcPts val="0"/>
              </a:spcBef>
              <a:spcAft>
                <a:spcPts val="0"/>
              </a:spcAft>
              <a:buClr>
                <a:schemeClr val="dk1"/>
              </a:buClr>
              <a:buSzPts val="2000"/>
              <a:buChar char="–"/>
            </a:pPr>
            <a:r>
              <a:rPr b="0" lang="en-US">
                <a:solidFill>
                  <a:schemeClr val="dk1"/>
                </a:solidFill>
              </a:rPr>
              <a:t>Specify capital costs: propane boiler, ASHP section  (electric boiler)</a:t>
            </a:r>
            <a:endParaRPr b="0">
              <a:solidFill>
                <a:schemeClr val="dk1"/>
              </a:solidFill>
            </a:endParaRPr>
          </a:p>
          <a:p>
            <a:pPr indent="0" lvl="0" marL="0" rtl="0" algn="l">
              <a:spcBef>
                <a:spcPts val="0"/>
              </a:spcBef>
              <a:spcAft>
                <a:spcPts val="0"/>
              </a:spcAft>
              <a:buNone/>
            </a:pPr>
            <a:r>
              <a:t/>
            </a:r>
            <a:endParaRPr b="0">
              <a:solidFill>
                <a:schemeClr val="dk1"/>
              </a:solidFill>
            </a:endParaRPr>
          </a:p>
          <a:p>
            <a:pPr indent="0" lvl="0" marL="0" rtl="0" algn="l">
              <a:spcBef>
                <a:spcPts val="0"/>
              </a:spcBef>
              <a:spcAft>
                <a:spcPts val="0"/>
              </a:spcAft>
              <a:buNone/>
            </a:pPr>
            <a:r>
              <a:rPr b="0" lang="en-US" sz="2000">
                <a:solidFill>
                  <a:schemeClr val="dk1"/>
                </a:solidFill>
              </a:rPr>
              <a:t>Change REopt inputs according to scenario pathway.  </a:t>
            </a:r>
            <a:endParaRPr b="0" sz="20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4" name="Shape 254"/>
        <p:cNvGrpSpPr/>
        <p:nvPr/>
      </p:nvGrpSpPr>
      <p:grpSpPr>
        <a:xfrm>
          <a:off x="0" y="0"/>
          <a:ext cx="0" cy="0"/>
          <a:chOff x="0" y="0"/>
          <a:chExt cx="0" cy="0"/>
        </a:xfrm>
      </p:grpSpPr>
      <p:sp>
        <p:nvSpPr>
          <p:cNvPr id="255" name="Google Shape;255;g3e93768cd80_1_57"/>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3000"/>
              <a:buNone/>
            </a:pPr>
            <a:r>
              <a:rPr lang="en-US"/>
              <a:t>Simulation Scope: REopt priorities</a:t>
            </a:r>
            <a:endParaRPr/>
          </a:p>
        </p:txBody>
      </p:sp>
      <p:sp>
        <p:nvSpPr>
          <p:cNvPr id="256" name="Google Shape;256;g3e93768cd80_1_57"/>
          <p:cNvSpPr txBox="1"/>
          <p:nvPr/>
        </p:nvSpPr>
        <p:spPr>
          <a:xfrm>
            <a:off x="454025" y="1539675"/>
            <a:ext cx="8293200" cy="3350100"/>
          </a:xfrm>
          <a:prstGeom prst="rect">
            <a:avLst/>
          </a:prstGeom>
          <a:noFill/>
          <a:ln>
            <a:noFill/>
          </a:ln>
        </p:spPr>
        <p:txBody>
          <a:bodyPr anchorCtr="0" anchor="t" bIns="91425" lIns="91425" spcFirstLastPara="1" rIns="91425" wrap="square" tIns="91425">
            <a:noAutofit/>
          </a:bodyPr>
          <a:lstStyle/>
          <a:p>
            <a:pPr indent="-317500" lvl="0" marL="342900" rtl="0" algn="l">
              <a:spcBef>
                <a:spcPts val="0"/>
              </a:spcBef>
              <a:spcAft>
                <a:spcPts val="0"/>
              </a:spcAft>
              <a:buClr>
                <a:schemeClr val="dk1"/>
              </a:buClr>
              <a:buSzPts val="1600"/>
              <a:buFont typeface="Merriweather Sans"/>
              <a:buChar char="⮚"/>
            </a:pPr>
            <a:r>
              <a:rPr b="1" lang="en-US" sz="2000">
                <a:solidFill>
                  <a:schemeClr val="dk1"/>
                </a:solidFill>
                <a:latin typeface="Open Sans"/>
                <a:ea typeface="Open Sans"/>
                <a:cs typeface="Open Sans"/>
                <a:sym typeface="Open Sans"/>
              </a:rPr>
              <a:t>High priority</a:t>
            </a:r>
            <a:endParaRPr b="1" sz="2000">
              <a:solidFill>
                <a:schemeClr val="dk1"/>
              </a:solidFill>
              <a:latin typeface="Open Sans"/>
              <a:ea typeface="Open Sans"/>
              <a:cs typeface="Open Sans"/>
              <a:sym typeface="Open Sans"/>
            </a:endParaRPr>
          </a:p>
          <a:p>
            <a:pPr indent="-355600" lvl="1" marL="914400" rtl="0" algn="l">
              <a:spcBef>
                <a:spcPts val="0"/>
              </a:spcBef>
              <a:spcAft>
                <a:spcPts val="0"/>
              </a:spcAft>
              <a:buClr>
                <a:schemeClr val="dk1"/>
              </a:buClr>
              <a:buSzPts val="2000"/>
              <a:buFont typeface="Open Sans"/>
              <a:buChar char="–"/>
            </a:pPr>
            <a:r>
              <a:rPr lang="en-US" sz="2000">
                <a:solidFill>
                  <a:schemeClr val="dk1"/>
                </a:solidFill>
                <a:latin typeface="Open Sans"/>
                <a:ea typeface="Open Sans"/>
                <a:cs typeface="Open Sans"/>
                <a:sym typeface="Open Sans"/>
              </a:rPr>
              <a:t>Full hydronic system replacement</a:t>
            </a:r>
            <a:endParaRPr sz="2000">
              <a:solidFill>
                <a:schemeClr val="dk1"/>
              </a:solidFill>
              <a:latin typeface="Open Sans"/>
              <a:ea typeface="Open Sans"/>
              <a:cs typeface="Open Sans"/>
              <a:sym typeface="Open Sans"/>
            </a:endParaRPr>
          </a:p>
          <a:p>
            <a:pPr indent="-355600" lvl="2" marL="1371600" rtl="0" algn="l">
              <a:spcBef>
                <a:spcPts val="0"/>
              </a:spcBef>
              <a:spcAft>
                <a:spcPts val="0"/>
              </a:spcAft>
              <a:buClr>
                <a:schemeClr val="dk1"/>
              </a:buClr>
              <a:buSzPts val="2000"/>
              <a:buFont typeface="Open Sans"/>
              <a:buChar char="&gt;"/>
            </a:pPr>
            <a:r>
              <a:rPr lang="en-US" sz="2000">
                <a:solidFill>
                  <a:schemeClr val="dk1"/>
                </a:solidFill>
                <a:latin typeface="Open Sans"/>
                <a:ea typeface="Open Sans"/>
                <a:cs typeface="Open Sans"/>
                <a:sym typeface="Open Sans"/>
              </a:rPr>
              <a:t>Electric boiler vs. LT HP vs. HT HP</a:t>
            </a:r>
            <a:endParaRPr sz="2000">
              <a:solidFill>
                <a:schemeClr val="dk1"/>
              </a:solidFill>
              <a:latin typeface="Open Sans"/>
              <a:ea typeface="Open Sans"/>
              <a:cs typeface="Open Sans"/>
              <a:sym typeface="Open Sans"/>
            </a:endParaRPr>
          </a:p>
          <a:p>
            <a:pPr indent="-355600" lvl="1" marL="914400" rtl="0" algn="l">
              <a:spcBef>
                <a:spcPts val="0"/>
              </a:spcBef>
              <a:spcAft>
                <a:spcPts val="0"/>
              </a:spcAft>
              <a:buClr>
                <a:schemeClr val="dk1"/>
              </a:buClr>
              <a:buSzPts val="2000"/>
              <a:buFont typeface="Open Sans"/>
              <a:buChar char="–"/>
            </a:pPr>
            <a:r>
              <a:rPr lang="en-US" sz="2000">
                <a:solidFill>
                  <a:schemeClr val="dk1"/>
                </a:solidFill>
                <a:latin typeface="Open Sans"/>
                <a:ea typeface="Open Sans"/>
                <a:cs typeface="Open Sans"/>
                <a:sym typeface="Open Sans"/>
              </a:rPr>
              <a:t>PV, economic and environmental impact</a:t>
            </a:r>
            <a:endParaRPr sz="2000">
              <a:solidFill>
                <a:schemeClr val="dk1"/>
              </a:solidFill>
              <a:latin typeface="Open Sans"/>
              <a:ea typeface="Open Sans"/>
              <a:cs typeface="Open Sans"/>
              <a:sym typeface="Open Sans"/>
            </a:endParaRPr>
          </a:p>
          <a:p>
            <a:pPr indent="-355600" lvl="1" marL="914400" rtl="0" algn="l">
              <a:spcBef>
                <a:spcPts val="0"/>
              </a:spcBef>
              <a:spcAft>
                <a:spcPts val="0"/>
              </a:spcAft>
              <a:buClr>
                <a:schemeClr val="dk1"/>
              </a:buClr>
              <a:buSzPts val="2000"/>
              <a:buFont typeface="Open Sans"/>
              <a:buChar char="–"/>
            </a:pPr>
            <a:r>
              <a:rPr lang="en-US" sz="2000">
                <a:solidFill>
                  <a:schemeClr val="dk1"/>
                </a:solidFill>
                <a:latin typeface="Open Sans"/>
                <a:ea typeface="Open Sans"/>
                <a:cs typeface="Open Sans"/>
                <a:sym typeface="Open Sans"/>
              </a:rPr>
              <a:t>Battery systems, benefits</a:t>
            </a:r>
            <a:endParaRPr sz="2000">
              <a:solidFill>
                <a:schemeClr val="dk1"/>
              </a:solidFill>
              <a:latin typeface="Open Sans"/>
              <a:ea typeface="Open Sans"/>
              <a:cs typeface="Open Sans"/>
              <a:sym typeface="Open Sans"/>
            </a:endParaRPr>
          </a:p>
          <a:p>
            <a:pPr indent="-355600" lvl="1" marL="914400" rtl="0" algn="l">
              <a:spcBef>
                <a:spcPts val="0"/>
              </a:spcBef>
              <a:spcAft>
                <a:spcPts val="0"/>
              </a:spcAft>
              <a:buClr>
                <a:schemeClr val="dk1"/>
              </a:buClr>
              <a:buSzPts val="2000"/>
              <a:buFont typeface="Open Sans"/>
              <a:buChar char="–"/>
            </a:pPr>
            <a:r>
              <a:rPr lang="en-US" sz="2000">
                <a:solidFill>
                  <a:schemeClr val="dk1"/>
                </a:solidFill>
                <a:latin typeface="Open Sans"/>
                <a:ea typeface="Open Sans"/>
                <a:cs typeface="Open Sans"/>
                <a:sym typeface="Open Sans"/>
              </a:rPr>
              <a:t>Compensation type, economic impact</a:t>
            </a:r>
            <a:endParaRPr sz="20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20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20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2000">
              <a:solidFill>
                <a:schemeClr val="dk1"/>
              </a:solidFill>
              <a:latin typeface="Open Sans"/>
              <a:ea typeface="Open Sans"/>
              <a:cs typeface="Open Sans"/>
              <a:sym typeface="Open Sans"/>
            </a:endParaRPr>
          </a:p>
          <a:p>
            <a:pPr indent="0" lvl="0" marL="0" rtl="0" algn="l">
              <a:spcBef>
                <a:spcPts val="0"/>
              </a:spcBef>
              <a:spcAft>
                <a:spcPts val="0"/>
              </a:spcAft>
              <a:buNone/>
            </a:pPr>
            <a:r>
              <a:rPr b="1" lang="en-US" sz="2000">
                <a:solidFill>
                  <a:schemeClr val="dk1"/>
                </a:solidFill>
                <a:latin typeface="Open Sans"/>
                <a:ea typeface="Open Sans"/>
                <a:cs typeface="Open Sans"/>
                <a:sym typeface="Open Sans"/>
              </a:rPr>
              <a:t>⇒ Our comprehensive report on replacement pathways will inform PGST on how to handle their largest propane consumer.</a:t>
            </a:r>
            <a:endParaRPr b="1" sz="2000">
              <a:solidFill>
                <a:schemeClr val="dk1"/>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1" name="Shape 261"/>
        <p:cNvGrpSpPr/>
        <p:nvPr/>
      </p:nvGrpSpPr>
      <p:grpSpPr>
        <a:xfrm>
          <a:off x="0" y="0"/>
          <a:ext cx="0" cy="0"/>
          <a:chOff x="0" y="0"/>
          <a:chExt cx="0" cy="0"/>
        </a:xfrm>
      </p:grpSpPr>
      <p:sp>
        <p:nvSpPr>
          <p:cNvPr id="262" name="Google Shape;262;g3e1fd44db73_0_0"/>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3000"/>
              <a:buNone/>
            </a:pPr>
            <a:r>
              <a:rPr lang="en-US"/>
              <a:t>Simulation Scope: REopt priorities</a:t>
            </a:r>
            <a:endParaRPr/>
          </a:p>
        </p:txBody>
      </p:sp>
      <p:sp>
        <p:nvSpPr>
          <p:cNvPr id="263" name="Google Shape;263;g3e1fd44db73_0_0"/>
          <p:cNvSpPr txBox="1"/>
          <p:nvPr/>
        </p:nvSpPr>
        <p:spPr>
          <a:xfrm>
            <a:off x="454025" y="1531200"/>
            <a:ext cx="8293200" cy="35700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1"/>
              </a:buClr>
              <a:buSzPts val="2000"/>
              <a:buFont typeface="Open Sans"/>
              <a:buChar char="⮚"/>
            </a:pPr>
            <a:r>
              <a:rPr b="1" lang="en-US" sz="2000">
                <a:solidFill>
                  <a:schemeClr val="dk1"/>
                </a:solidFill>
                <a:latin typeface="Open Sans"/>
                <a:ea typeface="Open Sans"/>
                <a:cs typeface="Open Sans"/>
                <a:sym typeface="Open Sans"/>
              </a:rPr>
              <a:t>Medium priority</a:t>
            </a:r>
            <a:endParaRPr b="1" sz="2000">
              <a:solidFill>
                <a:schemeClr val="dk1"/>
              </a:solidFill>
              <a:latin typeface="Open Sans"/>
              <a:ea typeface="Open Sans"/>
              <a:cs typeface="Open Sans"/>
              <a:sym typeface="Open Sans"/>
            </a:endParaRPr>
          </a:p>
          <a:p>
            <a:pPr indent="-355600" lvl="1" marL="914400" rtl="0" algn="l">
              <a:spcBef>
                <a:spcPts val="0"/>
              </a:spcBef>
              <a:spcAft>
                <a:spcPts val="0"/>
              </a:spcAft>
              <a:buClr>
                <a:schemeClr val="dk1"/>
              </a:buClr>
              <a:buSzPts val="2000"/>
              <a:buFont typeface="Open Sans"/>
              <a:buChar char="–"/>
            </a:pPr>
            <a:r>
              <a:rPr lang="en-US" sz="2000">
                <a:solidFill>
                  <a:schemeClr val="dk1"/>
                </a:solidFill>
                <a:latin typeface="Open Sans"/>
                <a:ea typeface="Open Sans"/>
                <a:cs typeface="Open Sans"/>
                <a:sym typeface="Open Sans"/>
              </a:rPr>
              <a:t>Hybrid system replacement study</a:t>
            </a:r>
            <a:endParaRPr sz="2000">
              <a:solidFill>
                <a:schemeClr val="dk1"/>
              </a:solidFill>
              <a:latin typeface="Open Sans"/>
              <a:ea typeface="Open Sans"/>
              <a:cs typeface="Open Sans"/>
              <a:sym typeface="Open Sans"/>
            </a:endParaRPr>
          </a:p>
          <a:p>
            <a:pPr indent="-355600" lvl="1" marL="914400" rtl="0" algn="l">
              <a:spcBef>
                <a:spcPts val="0"/>
              </a:spcBef>
              <a:spcAft>
                <a:spcPts val="0"/>
              </a:spcAft>
              <a:buClr>
                <a:schemeClr val="dk1"/>
              </a:buClr>
              <a:buSzPts val="2000"/>
              <a:buFont typeface="Open Sans"/>
              <a:buChar char="–"/>
            </a:pPr>
            <a:r>
              <a:rPr lang="en-US" sz="2000">
                <a:solidFill>
                  <a:schemeClr val="dk1"/>
                </a:solidFill>
                <a:latin typeface="Open Sans"/>
                <a:ea typeface="Open Sans"/>
                <a:cs typeface="Open Sans"/>
                <a:sym typeface="Open Sans"/>
              </a:rPr>
              <a:t>CFS furnace replacement simulations</a:t>
            </a:r>
            <a:endParaRPr sz="2000">
              <a:solidFill>
                <a:schemeClr val="dk1"/>
              </a:solidFill>
              <a:latin typeface="Open Sans"/>
              <a:ea typeface="Open Sans"/>
              <a:cs typeface="Open Sans"/>
              <a:sym typeface="Open Sans"/>
            </a:endParaRPr>
          </a:p>
          <a:p>
            <a:pPr indent="-355600" lvl="0" marL="457200" rtl="0" algn="l">
              <a:spcBef>
                <a:spcPts val="0"/>
              </a:spcBef>
              <a:spcAft>
                <a:spcPts val="0"/>
              </a:spcAft>
              <a:buClr>
                <a:schemeClr val="dk1"/>
              </a:buClr>
              <a:buSzPts val="2000"/>
              <a:buFont typeface="Open Sans"/>
              <a:buChar char="⮚"/>
            </a:pPr>
            <a:r>
              <a:rPr b="1" lang="en-US" sz="2000">
                <a:solidFill>
                  <a:schemeClr val="dk1"/>
                </a:solidFill>
                <a:latin typeface="Open Sans"/>
                <a:ea typeface="Open Sans"/>
                <a:cs typeface="Open Sans"/>
                <a:sym typeface="Open Sans"/>
              </a:rPr>
              <a:t>Lower priority</a:t>
            </a:r>
            <a:endParaRPr b="1" sz="2000">
              <a:solidFill>
                <a:schemeClr val="dk1"/>
              </a:solidFill>
              <a:latin typeface="Open Sans"/>
              <a:ea typeface="Open Sans"/>
              <a:cs typeface="Open Sans"/>
              <a:sym typeface="Open Sans"/>
            </a:endParaRPr>
          </a:p>
          <a:p>
            <a:pPr indent="-355600" lvl="1" marL="914400" rtl="0" algn="l">
              <a:spcBef>
                <a:spcPts val="0"/>
              </a:spcBef>
              <a:spcAft>
                <a:spcPts val="0"/>
              </a:spcAft>
              <a:buClr>
                <a:schemeClr val="dk1"/>
              </a:buClr>
              <a:buSzPts val="2000"/>
              <a:buFont typeface="Open Sans"/>
              <a:buChar char="–"/>
            </a:pPr>
            <a:r>
              <a:rPr lang="en-US" sz="2000">
                <a:solidFill>
                  <a:schemeClr val="dk1"/>
                </a:solidFill>
                <a:latin typeface="Open Sans"/>
                <a:ea typeface="Open Sans"/>
                <a:cs typeface="Open Sans"/>
                <a:sym typeface="Open Sans"/>
              </a:rPr>
              <a:t>R</a:t>
            </a:r>
            <a:r>
              <a:rPr lang="en-US" sz="2000">
                <a:solidFill>
                  <a:schemeClr val="dk1"/>
                </a:solidFill>
                <a:latin typeface="Open Sans"/>
                <a:ea typeface="Open Sans"/>
                <a:cs typeface="Open Sans"/>
                <a:sym typeface="Open Sans"/>
              </a:rPr>
              <a:t>eplacement recommendations for:</a:t>
            </a:r>
            <a:endParaRPr sz="2000">
              <a:solidFill>
                <a:schemeClr val="dk1"/>
              </a:solidFill>
              <a:latin typeface="Open Sans"/>
              <a:ea typeface="Open Sans"/>
              <a:cs typeface="Open Sans"/>
              <a:sym typeface="Open Sans"/>
            </a:endParaRPr>
          </a:p>
          <a:p>
            <a:pPr indent="-355600" lvl="2" marL="1371600" rtl="0" algn="l">
              <a:spcBef>
                <a:spcPts val="0"/>
              </a:spcBef>
              <a:spcAft>
                <a:spcPts val="0"/>
              </a:spcAft>
              <a:buClr>
                <a:schemeClr val="dk1"/>
              </a:buClr>
              <a:buSzPts val="2000"/>
              <a:buFont typeface="Open Sans"/>
              <a:buChar char="&gt;"/>
            </a:pPr>
            <a:r>
              <a:rPr lang="en-US" sz="2000">
                <a:solidFill>
                  <a:schemeClr val="dk1"/>
                </a:solidFill>
                <a:latin typeface="Open Sans"/>
                <a:ea typeface="Open Sans"/>
                <a:cs typeface="Open Sans"/>
                <a:sym typeface="Open Sans"/>
              </a:rPr>
              <a:t>Gym furnace</a:t>
            </a:r>
            <a:endParaRPr sz="2000">
              <a:solidFill>
                <a:schemeClr val="dk1"/>
              </a:solidFill>
              <a:latin typeface="Open Sans"/>
              <a:ea typeface="Open Sans"/>
              <a:cs typeface="Open Sans"/>
              <a:sym typeface="Open Sans"/>
            </a:endParaRPr>
          </a:p>
          <a:p>
            <a:pPr indent="-355600" lvl="2" marL="1371600" rtl="0" algn="l">
              <a:spcBef>
                <a:spcPts val="0"/>
              </a:spcBef>
              <a:spcAft>
                <a:spcPts val="0"/>
              </a:spcAft>
              <a:buClr>
                <a:schemeClr val="dk1"/>
              </a:buClr>
              <a:buSzPts val="2000"/>
              <a:buFont typeface="Open Sans"/>
              <a:buChar char="&gt;"/>
            </a:pPr>
            <a:r>
              <a:rPr lang="en-US" sz="2000">
                <a:solidFill>
                  <a:schemeClr val="dk1"/>
                </a:solidFill>
                <a:latin typeface="Open Sans"/>
                <a:ea typeface="Open Sans"/>
                <a:cs typeface="Open Sans"/>
                <a:sym typeface="Open Sans"/>
              </a:rPr>
              <a:t>DHW</a:t>
            </a:r>
            <a:endParaRPr sz="2000">
              <a:solidFill>
                <a:schemeClr val="dk1"/>
              </a:solidFill>
              <a:latin typeface="Open Sans"/>
              <a:ea typeface="Open Sans"/>
              <a:cs typeface="Open Sans"/>
              <a:sym typeface="Open Sans"/>
            </a:endParaRPr>
          </a:p>
          <a:p>
            <a:pPr indent="-355600" lvl="2" marL="1371600" rtl="0" algn="l">
              <a:spcBef>
                <a:spcPts val="0"/>
              </a:spcBef>
              <a:spcAft>
                <a:spcPts val="0"/>
              </a:spcAft>
              <a:buClr>
                <a:schemeClr val="dk1"/>
              </a:buClr>
              <a:buSzPts val="2000"/>
              <a:buFont typeface="Open Sans"/>
              <a:buChar char="&gt;"/>
            </a:pPr>
            <a:r>
              <a:rPr lang="en-US" sz="2000">
                <a:solidFill>
                  <a:schemeClr val="dk1"/>
                </a:solidFill>
                <a:latin typeface="Open Sans"/>
                <a:ea typeface="Open Sans"/>
                <a:cs typeface="Open Sans"/>
                <a:sym typeface="Open Sans"/>
              </a:rPr>
              <a:t>Stoves</a:t>
            </a:r>
            <a:endParaRPr sz="20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2000">
              <a:solidFill>
                <a:schemeClr val="dk1"/>
              </a:solidFill>
              <a:latin typeface="Open Sans"/>
              <a:ea typeface="Open Sans"/>
              <a:cs typeface="Open Sans"/>
              <a:sym typeface="Open Sans"/>
            </a:endParaRPr>
          </a:p>
          <a:p>
            <a:pPr indent="0" lvl="0" marL="0" rtl="0" algn="l">
              <a:spcBef>
                <a:spcPts val="0"/>
              </a:spcBef>
              <a:spcAft>
                <a:spcPts val="0"/>
              </a:spcAft>
              <a:buNone/>
            </a:pPr>
            <a:r>
              <a:rPr b="1" lang="en-US" sz="2000">
                <a:solidFill>
                  <a:schemeClr val="dk1"/>
                </a:solidFill>
                <a:latin typeface="Open Sans"/>
                <a:ea typeface="Open Sans"/>
                <a:cs typeface="Open Sans"/>
                <a:sym typeface="Open Sans"/>
              </a:rPr>
              <a:t>⇒ </a:t>
            </a:r>
            <a:r>
              <a:rPr b="1" lang="en-US" sz="2000">
                <a:solidFill>
                  <a:schemeClr val="dk1"/>
                </a:solidFill>
                <a:latin typeface="Open Sans"/>
                <a:ea typeface="Open Sans"/>
                <a:cs typeface="Open Sans"/>
                <a:sym typeface="Open Sans"/>
              </a:rPr>
              <a:t>These recommendations either require less simulations or have straightforward, drop-in solutions (no </a:t>
            </a:r>
            <a:r>
              <a:rPr b="1" lang="en-US" sz="2000">
                <a:solidFill>
                  <a:schemeClr val="dk1"/>
                </a:solidFill>
                <a:latin typeface="Open Sans"/>
                <a:ea typeface="Open Sans"/>
                <a:cs typeface="Open Sans"/>
                <a:sym typeface="Open Sans"/>
              </a:rPr>
              <a:t>simulation</a:t>
            </a:r>
            <a:r>
              <a:rPr b="1" lang="en-US" sz="2000">
                <a:solidFill>
                  <a:schemeClr val="dk1"/>
                </a:solidFill>
                <a:latin typeface="Open Sans"/>
                <a:ea typeface="Open Sans"/>
                <a:cs typeface="Open Sans"/>
                <a:sym typeface="Open Sans"/>
              </a:rPr>
              <a:t> req.)</a:t>
            </a:r>
            <a:endParaRPr b="1" sz="2000">
              <a:solidFill>
                <a:schemeClr val="dk1"/>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4b2e83">
      <a:dk1>
        <a:srgbClr val="4B2E83"/>
      </a:dk1>
      <a:lt1>
        <a:srgbClr val="E8D3A2"/>
      </a:lt1>
      <a:dk2>
        <a:srgbClr val="4B2E83"/>
      </a:dk2>
      <a:lt2>
        <a:srgbClr val="FFFFFF"/>
      </a:lt2>
      <a:accent1>
        <a:srgbClr val="4B2E83"/>
      </a:accent1>
      <a:accent2>
        <a:srgbClr val="E8D3A2"/>
      </a:accent2>
      <a:accent3>
        <a:srgbClr val="FFFFFF"/>
      </a:accent3>
      <a:accent4>
        <a:srgbClr val="D8D9DA"/>
      </a:accent4>
      <a:accent5>
        <a:srgbClr val="999999"/>
      </a:accent5>
      <a:accent6>
        <a:srgbClr val="917B4C"/>
      </a:accent6>
      <a:hlink>
        <a:srgbClr val="D8D9DA"/>
      </a:hlink>
      <a:folHlink>
        <a:srgbClr val="9999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ustom Design">
  <a:themeElements>
    <a:clrScheme name="Custom 2">
      <a:dk1>
        <a:srgbClr val="4B2E83"/>
      </a:dk1>
      <a:lt1>
        <a:srgbClr val="E8D3A2"/>
      </a:lt1>
      <a:dk2>
        <a:srgbClr val="4B2E83"/>
      </a:dk2>
      <a:lt2>
        <a:srgbClr val="FFFFFF"/>
      </a:lt2>
      <a:accent1>
        <a:srgbClr val="4B2E83"/>
      </a:accent1>
      <a:accent2>
        <a:srgbClr val="E8D3A2"/>
      </a:accent2>
      <a:accent3>
        <a:srgbClr val="FFFFFF"/>
      </a:accent3>
      <a:accent4>
        <a:srgbClr val="D8D9DA"/>
      </a:accent4>
      <a:accent5>
        <a:srgbClr val="999999"/>
      </a:accent5>
      <a:accent6>
        <a:srgbClr val="917B4C"/>
      </a:accent6>
      <a:hlink>
        <a:srgbClr val="D8D9DA"/>
      </a:hlink>
      <a:folHlink>
        <a:srgbClr val="9999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2014-10-14T00:51:43Z</dcterms:created>
  <dc:creator>Alanya Cannon</dc:creator>
</cp:coreProperties>
</file>