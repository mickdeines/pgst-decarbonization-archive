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Encode Sans"/>
      <p:regular r:id="rId30"/>
      <p:bold r:id="rId31"/>
    </p:embeddedFont>
    <p:embeddedFont>
      <p:font typeface="Encode Sans Black"/>
      <p:bold r:id="rId32"/>
    </p:embeddedFont>
    <p:embeddedFont>
      <p:font typeface="Open Sans Light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ZK/9aNWpZNum3nJVycaGdbNhl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104DF0-D64A-4448-94DB-FEEEE90EE92A}">
  <a:tblStyle styleId="{D9104DF0-D64A-4448-94DB-FEEEE90EE9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3.xml"/><Relationship Id="rId41" Type="http://customschemas.google.com/relationships/presentationmetadata" Target="meta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EncodeSans-bold.fntdata"/><Relationship Id="rId30" Type="http://schemas.openxmlformats.org/officeDocument/2006/relationships/font" Target="fonts/EncodeSans-regular.fntdata"/><Relationship Id="rId11" Type="http://schemas.openxmlformats.org/officeDocument/2006/relationships/slide" Target="slides/slide4.xml"/><Relationship Id="rId33" Type="http://schemas.openxmlformats.org/officeDocument/2006/relationships/font" Target="fonts/OpenSansLight-regular.fntdata"/><Relationship Id="rId10" Type="http://schemas.openxmlformats.org/officeDocument/2006/relationships/slide" Target="slides/slide3.xml"/><Relationship Id="rId32" Type="http://schemas.openxmlformats.org/officeDocument/2006/relationships/font" Target="fonts/EncodeSansBlack-bold.fntdata"/><Relationship Id="rId13" Type="http://schemas.openxmlformats.org/officeDocument/2006/relationships/slide" Target="slides/slide6.xml"/><Relationship Id="rId35" Type="http://schemas.openxmlformats.org/officeDocument/2006/relationships/font" Target="fonts/OpenSansLight-italic.fntdata"/><Relationship Id="rId12" Type="http://schemas.openxmlformats.org/officeDocument/2006/relationships/slide" Target="slides/slide5.xml"/><Relationship Id="rId34" Type="http://schemas.openxmlformats.org/officeDocument/2006/relationships/font" Target="fonts/OpenSansLight-bold.fntdata"/><Relationship Id="rId15" Type="http://schemas.openxmlformats.org/officeDocument/2006/relationships/slide" Target="slides/slide8.xml"/><Relationship Id="rId37" Type="http://schemas.openxmlformats.org/officeDocument/2006/relationships/font" Target="fonts/OpenSans-regular.fntdata"/><Relationship Id="rId14" Type="http://schemas.openxmlformats.org/officeDocument/2006/relationships/slide" Target="slides/slide7.xml"/><Relationship Id="rId36" Type="http://schemas.openxmlformats.org/officeDocument/2006/relationships/font" Target="fonts/OpenSansLight-boldItalic.fntdata"/><Relationship Id="rId17" Type="http://schemas.openxmlformats.org/officeDocument/2006/relationships/slide" Target="slides/slide10.xml"/><Relationship Id="rId39" Type="http://schemas.openxmlformats.org/officeDocument/2006/relationships/font" Target="fonts/OpenSans-italic.fntdata"/><Relationship Id="rId16" Type="http://schemas.openxmlformats.org/officeDocument/2006/relationships/slide" Target="slides/slide9.xml"/><Relationship Id="rId38" Type="http://schemas.openxmlformats.org/officeDocument/2006/relationships/font" Target="fonts/OpenSans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ahnindustries.com/2023/03/24/heat-exchanger-replacement-cost-guide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41cdba668_3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e41cdba668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e41cdba668_3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36443fa69_2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36443fa69_2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e36443fa69_2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36443fa69_2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36443fa69_2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e36443fa69_2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41cdba668_3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e41cdba668_3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e41cdba668_3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41cdba668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e41cdba668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e41cdba668_3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ea811c3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e3ea811c3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https://rahnindustries.com/2023/03/24/heat-exchanger-replacement-cost-guide/</a:t>
            </a:r>
            <a:r>
              <a:rPr lang="en-US"/>
              <a:t> </a:t>
            </a:r>
            <a:endParaRPr/>
          </a:p>
        </p:txBody>
      </p:sp>
      <p:sp>
        <p:nvSpPr>
          <p:cNvPr id="135" name="Google Shape;135;g3e3ea811c36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3ea811c36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e3ea811c36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e3ea811c36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3fd55ce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e3fd55ce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e3fd55ce7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3ea811c36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3ea811c36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3ea811c36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3ea811c36_1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3ea811c36_1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3ea811c36_1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3ea811c36_1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3ea811c36_1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e3ea811c36_1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3ea811c36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e3ea811c36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e3ea811c36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36443fa69_2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e36443fa69_2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e36443fa69_2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3ea811c36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e3ea811c36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e3ea811c36_1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36443fa69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e36443fa69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e36443fa69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3fd55ce73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e3fd55ce7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e3fd55ce73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3fd55ce73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e3fd55ce73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e3fd55ce73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b432b2860_1_9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db432b2860_1_9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db432b2860_1_9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3ea811c36_1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e3ea811c36_1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e3ea811c36_1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" name="Google Shape;1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title"/>
          </p:nvPr>
        </p:nvSpPr>
        <p:spPr>
          <a:xfrm>
            <a:off x="447923" y="371510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" name="Google Shape;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47923" y="369733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7" name="Google Shape;2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9" name="Google Shape;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2" name="Google Shape;3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6"/>
          <p:cNvSpPr/>
          <p:nvPr>
            <p:ph idx="2" type="chart"/>
          </p:nvPr>
        </p:nvSpPr>
        <p:spPr>
          <a:xfrm>
            <a:off x="447923" y="1724977"/>
            <a:ext cx="8184662" cy="282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1" sz="24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4" name="Google Shape;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2" name="Google Shape;4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 1">
  <p:cSld name="Header + Subheader + Content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e20daa30c1_0_1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e20daa30c1_0_11"/>
          <p:cNvSpPr txBox="1"/>
          <p:nvPr>
            <p:ph idx="1" type="body"/>
          </p:nvPr>
        </p:nvSpPr>
        <p:spPr>
          <a:xfrm>
            <a:off x="460375" y="1730667"/>
            <a:ext cx="81846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g3e20daa30c1_0_11"/>
          <p:cNvSpPr txBox="1"/>
          <p:nvPr>
            <p:ph idx="2" type="body"/>
          </p:nvPr>
        </p:nvSpPr>
        <p:spPr>
          <a:xfrm>
            <a:off x="447923" y="2320239"/>
            <a:ext cx="81972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 2">
  <p:cSld name="Header + Subheader + Content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e20daa30c1_0_27"/>
          <p:cNvSpPr txBox="1"/>
          <p:nvPr>
            <p:ph type="title"/>
          </p:nvPr>
        </p:nvSpPr>
        <p:spPr>
          <a:xfrm>
            <a:off x="447922" y="98810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1" name="Google Shape;51;g3e20daa30c1_0_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9281" y="10927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3e20daa30c1_0_27"/>
          <p:cNvSpPr txBox="1"/>
          <p:nvPr>
            <p:ph idx="1" type="body"/>
          </p:nvPr>
        </p:nvSpPr>
        <p:spPr>
          <a:xfrm>
            <a:off x="460375" y="1730667"/>
            <a:ext cx="81846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g3e20daa30c1_0_27"/>
          <p:cNvSpPr txBox="1"/>
          <p:nvPr>
            <p:ph idx="2" type="body"/>
          </p:nvPr>
        </p:nvSpPr>
        <p:spPr>
          <a:xfrm>
            <a:off x="447923" y="2320239"/>
            <a:ext cx="81972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60376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5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0" name="Google Shape;60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9009"/>
            <a:ext cx="2425226" cy="21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5" name="Google Shape;6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0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/>
          <p:nvPr>
            <p:ph type="title"/>
          </p:nvPr>
        </p:nvSpPr>
        <p:spPr>
          <a:xfrm>
            <a:off x="460375" y="369733"/>
            <a:ext cx="8172210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9" name="Google Shape;6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1"/>
          <p:cNvSpPr/>
          <p:nvPr>
            <p:ph idx="2" type="chart"/>
          </p:nvPr>
        </p:nvSpPr>
        <p:spPr>
          <a:xfrm>
            <a:off x="447923" y="1724977"/>
            <a:ext cx="8184662" cy="29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title"/>
          </p:nvPr>
        </p:nvSpPr>
        <p:spPr>
          <a:xfrm>
            <a:off x="460375" y="644993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/>
              <a:t>PGST Meeting 5/22</a:t>
            </a:r>
            <a:endParaRPr/>
          </a:p>
        </p:txBody>
      </p:sp>
      <p:sp>
        <p:nvSpPr>
          <p:cNvPr id="80" name="Google Shape;80;p1"/>
          <p:cNvSpPr txBox="1"/>
          <p:nvPr>
            <p:ph type="title"/>
          </p:nvPr>
        </p:nvSpPr>
        <p:spPr>
          <a:xfrm>
            <a:off x="454025" y="3637558"/>
            <a:ext cx="85866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 sz="2000">
                <a:solidFill>
                  <a:schemeClr val="lt1"/>
                </a:solidFill>
              </a:rPr>
              <a:t>Port Gamble S'Klallam Tribe Energy Analysis and Decarbonization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 sz="2000">
                <a:solidFill>
                  <a:schemeClr val="lt1"/>
                </a:solidFill>
              </a:rPr>
              <a:t>UW ChemE Capstone Team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Today's Agenda </a:t>
            </a:r>
            <a:endParaRPr/>
          </a:p>
        </p:txBody>
      </p:sp>
      <p:sp>
        <p:nvSpPr>
          <p:cNvPr id="86" name="Google Shape;86;p2"/>
          <p:cNvSpPr txBox="1"/>
          <p:nvPr>
            <p:ph idx="2" type="body"/>
          </p:nvPr>
        </p:nvSpPr>
        <p:spPr>
          <a:xfrm>
            <a:off x="447925" y="1600200"/>
            <a:ext cx="8197200" cy="34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00"/>
              <a:buChar char="⮚"/>
            </a:pPr>
            <a:r>
              <a:rPr lang="en-US" sz="2300">
                <a:solidFill>
                  <a:schemeClr val="dk1"/>
                </a:solidFill>
              </a:rPr>
              <a:t>Heating scenarios CAPEX/OPEX &amp; recommendation</a:t>
            </a:r>
            <a:endParaRPr sz="2300">
              <a:solidFill>
                <a:schemeClr val="dk1"/>
              </a:solidFill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HX analysis details, </a:t>
            </a:r>
            <a:r>
              <a:rPr lang="en-US" sz="1800">
                <a:solidFill>
                  <a:schemeClr val="dk1"/>
                </a:solidFill>
              </a:rPr>
              <a:t>ASHP/boiler cost ranges</a:t>
            </a:r>
            <a:endParaRPr sz="18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00"/>
              <a:buChar char="⮚"/>
            </a:pPr>
            <a:r>
              <a:rPr lang="en-US" sz="2300">
                <a:solidFill>
                  <a:schemeClr val="dk1"/>
                </a:solidFill>
              </a:rPr>
              <a:t>Battery life cycle cost </a:t>
            </a:r>
            <a:r>
              <a:rPr lang="en-US" sz="2300">
                <a:solidFill>
                  <a:schemeClr val="dk1"/>
                </a:solidFill>
              </a:rPr>
              <a:t>&amp; recommendation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00"/>
              <a:buChar char="⮚"/>
            </a:pPr>
            <a:r>
              <a:rPr lang="en-US" sz="2300">
                <a:solidFill>
                  <a:schemeClr val="dk1"/>
                </a:solidFill>
              </a:rPr>
              <a:t>LT-ASHP: Schedule 24 vs. Schedule 25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300"/>
              <a:buChar char="⮚"/>
            </a:pPr>
            <a:r>
              <a:rPr lang="en-US" sz="2300">
                <a:solidFill>
                  <a:schemeClr val="dk1"/>
                </a:solidFill>
              </a:rPr>
              <a:t>Electricity/propane cost escalation rate sensitivity analysis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2300"/>
              <a:buChar char="⮚"/>
            </a:pPr>
            <a:r>
              <a:rPr lang="en-US" sz="2300">
                <a:solidFill>
                  <a:schemeClr val="dk1"/>
                </a:solidFill>
              </a:rPr>
              <a:t>Next Steps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41cdba668_3_1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93" name="Google Shape;93;g3e41cdba668_3_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Impact of exchanging boiler with a hydronic heat pump system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94" name="Google Shape;94;g3e41cdba668_3_1" title="Screenshot 2026-05-21 at 11.59.37 PM.png"/>
          <p:cNvPicPr preferRelativeResize="0"/>
          <p:nvPr/>
        </p:nvPicPr>
        <p:blipFill rotWithShape="1">
          <a:blip r:embed="rId3">
            <a:alphaModFix/>
          </a:blip>
          <a:srcRect b="41803" l="0" r="0" t="0"/>
          <a:stretch/>
        </p:blipFill>
        <p:spPr>
          <a:xfrm>
            <a:off x="638475" y="1628625"/>
            <a:ext cx="6736675" cy="337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6443fa69_2_21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01" name="Google Shape;101;g3e36443fa69_2_2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HX Analysis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Ed. Center Load Profile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2" name="Google Shape;102;g3e36443fa69_2_21"/>
          <p:cNvSpPr txBox="1"/>
          <p:nvPr>
            <p:ph idx="2" type="body"/>
          </p:nvPr>
        </p:nvSpPr>
        <p:spPr>
          <a:xfrm>
            <a:off x="454025" y="1466525"/>
            <a:ext cx="8519400" cy="3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Boiler annual load × 0.355 = Ed. Center annual load</a:t>
            </a:r>
            <a:endParaRPr b="0" sz="2000"/>
          </a:p>
          <a:p>
            <a:pPr indent="-342900" lvl="0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b="0" lang="en-US" sz="2200"/>
              <a:t>Peak = 39.4 kW</a:t>
            </a:r>
            <a:endParaRPr b="0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⇒ FCU’s must supply ~40 kW to handle winter peaks.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  <p:pic>
        <p:nvPicPr>
          <p:cNvPr id="103" name="Google Shape;103;g3e36443fa69_2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012" y="2260750"/>
            <a:ext cx="7867974" cy="21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6443fa69_2_68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10" name="Google Shape;110;g3e36443fa69_2_68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HX Analysis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Scaling FCUs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11" name="Google Shape;111;g3e36443fa69_2_68"/>
          <p:cNvSpPr txBox="1"/>
          <p:nvPr>
            <p:ph idx="2" type="body"/>
          </p:nvPr>
        </p:nvSpPr>
        <p:spPr>
          <a:xfrm>
            <a:off x="447925" y="1437475"/>
            <a:ext cx="8519400" cy="3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Results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⇒ FCU size impacts power output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dk1"/>
                </a:solidFill>
              </a:rPr>
              <a:t>⇒ </a:t>
            </a:r>
            <a:r>
              <a:rPr lang="en-US"/>
              <a:t>A </a:t>
            </a:r>
            <a:r>
              <a:rPr lang="en-US"/>
              <a:t>50॰F EWT drop results in 31-34% power reduction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  <p:graphicFrame>
        <p:nvGraphicFramePr>
          <p:cNvPr id="112" name="Google Shape;112;g3e36443fa69_2_68"/>
          <p:cNvGraphicFramePr/>
          <p:nvPr/>
        </p:nvGraphicFramePr>
        <p:xfrm>
          <a:off x="1206725" y="194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{D9104DF0-D64A-4448-94DB-FEEEE90EE92A}</a:tableStyleId>
              </a:tblPr>
              <a:tblGrid>
                <a:gridCol w="1380875"/>
                <a:gridCol w="1380875"/>
                <a:gridCol w="1380875"/>
                <a:gridCol w="1380875"/>
                <a:gridCol w="1380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FCU Model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190॰F Power [kW]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140॰F Power [kW]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% Reduction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Scaling Factor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HE-Z 50/RPM-50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16.5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11.4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0.31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1.45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HE-Z 70/RPM-70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23.4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15.5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1.51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HE-Z 100/RPM-100-4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32.9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22.7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0.31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1.45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HE-Z 100/RPM-100-5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39.3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25.8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0.34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1.51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1cdba668_3_8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19" name="Google Shape;119;g3e41cdba668_3_8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Impact of exchanging boiler with a hydronic heat pump system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20" name="Google Shape;120;g3e41cdba668_3_8" title="Screenshot 2026-05-21 at 11.59.37 PM.png"/>
          <p:cNvPicPr preferRelativeResize="0"/>
          <p:nvPr/>
        </p:nvPicPr>
        <p:blipFill rotWithShape="1">
          <a:blip r:embed="rId3">
            <a:alphaModFix/>
          </a:blip>
          <a:srcRect b="76730" l="0" r="0" t="0"/>
          <a:stretch/>
        </p:blipFill>
        <p:spPr>
          <a:xfrm>
            <a:off x="638475" y="1628625"/>
            <a:ext cx="6736675" cy="13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e41cdba668_3_8" title="Screenshot 2026-05-21 at 11.59.37 PM.png"/>
          <p:cNvPicPr preferRelativeResize="0"/>
          <p:nvPr/>
        </p:nvPicPr>
        <p:blipFill rotWithShape="1">
          <a:blip r:embed="rId3">
            <a:alphaModFix/>
          </a:blip>
          <a:srcRect b="0" l="0" r="0" t="62787"/>
          <a:stretch/>
        </p:blipFill>
        <p:spPr>
          <a:xfrm>
            <a:off x="598718" y="2942888"/>
            <a:ext cx="6736675" cy="21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e41cdba668_3_8"/>
          <p:cNvSpPr txBox="1"/>
          <p:nvPr/>
        </p:nvSpPr>
        <p:spPr>
          <a:xfrm>
            <a:off x="706290" y="4028650"/>
            <a:ext cx="1421100" cy="4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0000"/>
                </a:solidFill>
              </a:rPr>
              <a:t>1.45 more HX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1cdba668_3_17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29" name="Google Shape;129;g3e41cdba668_3_17"/>
          <p:cNvSpPr txBox="1"/>
          <p:nvPr>
            <p:ph type="title"/>
          </p:nvPr>
        </p:nvSpPr>
        <p:spPr>
          <a:xfrm>
            <a:off x="447925" y="369275"/>
            <a:ext cx="8450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100"/>
              <a:t>Using a real unit to ground estimates</a:t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 sz="2400">
                <a:latin typeface="Encode Sans"/>
                <a:ea typeface="Encode Sans"/>
                <a:cs typeface="Encode Sans"/>
                <a:sym typeface="Encode Sans"/>
              </a:rPr>
              <a:t>Fan Coil Unit: Water-to-Air Heat Exchanger (HX) &amp; Blower</a:t>
            </a:r>
            <a:endParaRPr b="0" sz="2400"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30" name="Google Shape;130;g3e41cdba668_3_17" title="Screenshot 2026-05-22 at 12.15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15585"/>
            <a:ext cx="5127245" cy="3475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e41cdba668_3_17"/>
          <p:cNvSpPr txBox="1"/>
          <p:nvPr/>
        </p:nvSpPr>
        <p:spPr>
          <a:xfrm>
            <a:off x="5714150" y="1983725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Hi-Velocity unit shown operates with entering water temp (EWT) from 130 ˚F to 190 ˚F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 EWT = Higher heat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Lower EWT = Lower heat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Going from Propane (195 ˚F) to a hydronic ASHP (140 ˚F) requires upscaling the FCUs by 1.45 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3ea811c36_0_16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38" name="Google Shape;138;g3e3ea811c36_0_16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HX Analysis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-US">
                <a:latin typeface="Encode Sans"/>
                <a:ea typeface="Encode Sans"/>
                <a:cs typeface="Encode Sans"/>
                <a:sym typeface="Encode Sans"/>
              </a:rPr>
              <a:t>FCU CAPEX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39" name="Google Shape;139;g3e3ea811c36_0_16"/>
          <p:cNvSpPr txBox="1"/>
          <p:nvPr>
            <p:ph idx="2" type="body"/>
          </p:nvPr>
        </p:nvSpPr>
        <p:spPr>
          <a:xfrm>
            <a:off x="454025" y="1466525"/>
            <a:ext cx="8519400" cy="3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Boiler heat exchanger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$2,000 - $4,500 replacement costs [1]</a:t>
            </a:r>
            <a:endParaRPr b="0" sz="22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Heat pump heat exchanger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$2,000 - $4,000 replacement costs [1]</a:t>
            </a:r>
            <a:endParaRPr b="0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Amount needed depends on existing amount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⇒ Cost of HX retrofit is small in comparison to boilers or HP, supporting LTHP scenario.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1200"/>
              <a:t>[1] Rahn Industries, Heat Exchanger Replacement Cost Guide</a:t>
            </a:r>
            <a:endParaRPr b="0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ea811c36_1_14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46" name="Google Shape;146;g3e3ea811c36_1_14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Heating Device Scenarios: CAPEX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47" name="Google Shape;147;g3e3ea811c36_1_14"/>
          <p:cNvSpPr txBox="1"/>
          <p:nvPr>
            <p:ph idx="2" type="body"/>
          </p:nvPr>
        </p:nvSpPr>
        <p:spPr>
          <a:xfrm>
            <a:off x="454025" y="1466525"/>
            <a:ext cx="8519400" cy="3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⮚"/>
            </a:pPr>
            <a:r>
              <a:rPr lang="en-US" sz="2200">
                <a:solidFill>
                  <a:schemeClr val="dk1"/>
                </a:solidFill>
              </a:rPr>
              <a:t>CAPEX numbers are highly variable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Vendors cannot give a concrete estimate without seeing site infrastructure </a:t>
            </a:r>
            <a:endParaRPr b="0"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0" lang="en-US" sz="2200"/>
              <a:t>Obtaining a realistic estimate will require a site walkthrough and information on the specific model </a:t>
            </a:r>
            <a:endParaRPr b="0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⮚"/>
            </a:pPr>
            <a:r>
              <a:rPr lang="en-US" sz="2200">
                <a:solidFill>
                  <a:schemeClr val="dk1"/>
                </a:solidFill>
              </a:rPr>
              <a:t>Current analysis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b="0" lang="en-US" sz="2200">
                <a:solidFill>
                  <a:schemeClr val="dk1"/>
                </a:solidFill>
              </a:rPr>
              <a:t>Extremely rough ballpark estimates were developed </a:t>
            </a:r>
            <a:endParaRPr b="0" sz="2200">
              <a:solidFill>
                <a:schemeClr val="dk1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b="0" lang="en-US" sz="2200">
                <a:solidFill>
                  <a:schemeClr val="dk1"/>
                </a:solidFill>
              </a:rPr>
              <a:t>These are based on online catalogs and websites</a:t>
            </a:r>
            <a:endParaRPr b="0" sz="2200">
              <a:solidFill>
                <a:schemeClr val="dk1"/>
              </a:solidFill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&gt;"/>
            </a:pPr>
            <a:r>
              <a:rPr b="0" lang="en-US" sz="2200">
                <a:solidFill>
                  <a:schemeClr val="dk1"/>
                </a:solidFill>
              </a:rPr>
              <a:t>Example heating device models (slightly oversized)</a:t>
            </a:r>
            <a:endParaRPr b="0" sz="2200">
              <a:solidFill>
                <a:schemeClr val="dk1"/>
              </a:solidFill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&gt;"/>
            </a:pPr>
            <a:r>
              <a:rPr b="0" lang="en-US" sz="2200">
                <a:solidFill>
                  <a:schemeClr val="dk1"/>
                </a:solidFill>
              </a:rPr>
              <a:t>High degree of uncertainty </a:t>
            </a:r>
            <a:endParaRPr b="0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fd55ce73_0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Heating Device Scenarios: CAPEX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54" name="Google Shape;154;g3e3fd55ce73_0_0"/>
          <p:cNvSpPr txBox="1"/>
          <p:nvPr>
            <p:ph idx="2" type="body"/>
          </p:nvPr>
        </p:nvSpPr>
        <p:spPr>
          <a:xfrm>
            <a:off x="454025" y="1466525"/>
            <a:ext cx="86250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Propane Boiler </a:t>
            </a:r>
            <a:endParaRPr b="0" sz="21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b="0" lang="en-US" sz="1900" u="sng"/>
              <a:t>~$28,000</a:t>
            </a:r>
            <a:r>
              <a:rPr b="0" lang="en-US" sz="1900"/>
              <a:t> for 399,000 Btu/hr unit and installation</a:t>
            </a:r>
            <a:endParaRPr b="0" sz="19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LT-ASHP only</a:t>
            </a:r>
            <a:endParaRPr sz="21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>
                <a:solidFill>
                  <a:schemeClr val="dk1"/>
                </a:solidFill>
              </a:rPr>
              <a:t>$30,800 units + $45,000 install + </a:t>
            </a:r>
            <a:r>
              <a:rPr b="0" lang="en-US" sz="1900">
                <a:solidFill>
                  <a:schemeClr val="dk1"/>
                </a:solidFill>
              </a:rPr>
              <a:t>$8,500 retrofit</a:t>
            </a:r>
            <a:endParaRPr b="0"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 u="sng">
                <a:solidFill>
                  <a:schemeClr val="dk1"/>
                </a:solidFill>
              </a:rPr>
              <a:t>~$84,000</a:t>
            </a:r>
            <a:r>
              <a:rPr b="0" lang="en-US" sz="1900">
                <a:solidFill>
                  <a:schemeClr val="dk1"/>
                </a:solidFill>
              </a:rPr>
              <a:t> for 7x 14 kW units, installation, and retrofit</a:t>
            </a:r>
            <a:endParaRPr b="0" sz="19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HT-ASHP only</a:t>
            </a:r>
            <a:endParaRPr sz="21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>
                <a:solidFill>
                  <a:schemeClr val="dk1"/>
                </a:solidFill>
              </a:rPr>
              <a:t>$43,200 units + $45,000 install + $0 retrofit (assuming no retrofit)</a:t>
            </a:r>
            <a:endParaRPr b="0"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 u="sng">
                <a:solidFill>
                  <a:schemeClr val="dk1"/>
                </a:solidFill>
              </a:rPr>
              <a:t>~$88,000</a:t>
            </a:r>
            <a:r>
              <a:rPr b="0" lang="en-US" sz="1900">
                <a:solidFill>
                  <a:schemeClr val="dk1"/>
                </a:solidFill>
              </a:rPr>
              <a:t> for 6</a:t>
            </a:r>
            <a:r>
              <a:rPr b="0" lang="en-US" sz="1900">
                <a:solidFill>
                  <a:schemeClr val="dk1"/>
                </a:solidFill>
              </a:rPr>
              <a:t>x 20 kW </a:t>
            </a:r>
            <a:r>
              <a:rPr b="0" lang="en-US" sz="1900">
                <a:solidFill>
                  <a:schemeClr val="dk1"/>
                </a:solidFill>
              </a:rPr>
              <a:t>units, installation, and retrofit</a:t>
            </a:r>
            <a:endParaRPr b="0" sz="19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E</a:t>
            </a:r>
            <a:r>
              <a:rPr lang="en-US" sz="2100">
                <a:solidFill>
                  <a:schemeClr val="dk1"/>
                </a:solidFill>
              </a:rPr>
              <a:t>lectric Boiler</a:t>
            </a:r>
            <a:endParaRPr sz="21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b="0" lang="en-US" sz="2100" u="sng">
                <a:solidFill>
                  <a:schemeClr val="dk1"/>
                </a:solidFill>
              </a:rPr>
              <a:t>~</a:t>
            </a:r>
            <a:r>
              <a:rPr b="0" lang="en-US" sz="1900" u="sng">
                <a:solidFill>
                  <a:schemeClr val="dk1"/>
                </a:solidFill>
              </a:rPr>
              <a:t>$25,000</a:t>
            </a:r>
            <a:r>
              <a:rPr b="0" lang="en-US" sz="1900">
                <a:solidFill>
                  <a:schemeClr val="dk1"/>
                </a:solidFill>
              </a:rPr>
              <a:t> for 100 kW unit and installation</a:t>
            </a:r>
            <a:endParaRPr b="0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3ea811c36_1_40"/>
          <p:cNvSpPr txBox="1"/>
          <p:nvPr>
            <p:ph type="title"/>
          </p:nvPr>
        </p:nvSpPr>
        <p:spPr>
          <a:xfrm>
            <a:off x="473397" y="-57940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Heating Equipment Cost Comparison</a:t>
            </a:r>
            <a:endParaRPr/>
          </a:p>
        </p:txBody>
      </p:sp>
      <p:pic>
        <p:nvPicPr>
          <p:cNvPr id="161" name="Google Shape;161;g3e3ea811c36_1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010772"/>
            <a:ext cx="4572001" cy="22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e3ea811c36_1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12547"/>
            <a:ext cx="4572001" cy="227131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e3ea811c36_1_40"/>
          <p:cNvSpPr txBox="1"/>
          <p:nvPr/>
        </p:nvSpPr>
        <p:spPr>
          <a:xfrm>
            <a:off x="251675" y="3439500"/>
            <a:ext cx="85575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erriweather Sans"/>
              <a:buChar char="⮚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Most of the 25-year total cost is operating cost (energy), not upfront equipment cost.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⮚"/>
            </a:pP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Recommendation: LT-ASHP is the most economical choice unless retrofit costs come in very high or electricity prices fall.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3ea811c36_1_105"/>
          <p:cNvSpPr/>
          <p:nvPr/>
        </p:nvSpPr>
        <p:spPr>
          <a:xfrm>
            <a:off x="478250" y="1182900"/>
            <a:ext cx="17760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3ea811c36_1_105"/>
          <p:cNvSpPr txBox="1"/>
          <p:nvPr>
            <p:ph type="title"/>
          </p:nvPr>
        </p:nvSpPr>
        <p:spPr>
          <a:xfrm>
            <a:off x="473397" y="-57940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Heating Equipment Cost Comparison</a:t>
            </a:r>
            <a:endParaRPr/>
          </a:p>
        </p:txBody>
      </p:sp>
      <p:pic>
        <p:nvPicPr>
          <p:cNvPr id="171" name="Google Shape;171;g3e3ea811c36_1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475" y="935950"/>
            <a:ext cx="5809167" cy="289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e3ea811c36_1_105"/>
          <p:cNvSpPr txBox="1"/>
          <p:nvPr/>
        </p:nvSpPr>
        <p:spPr>
          <a:xfrm>
            <a:off x="152313" y="3787225"/>
            <a:ext cx="8557500" cy="1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takeaways: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⮚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Heat pump options increase 25-year cost vs. baseline under current assumptions; electric boiler is the highest cost option.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Merriweather Sans"/>
              <a:buChar char="⮚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Addressing controls will reduce long-term costs regardless of electrification path. </a:t>
            </a:r>
            <a:endParaRPr b="1" sz="2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3ea811c36_1_118"/>
          <p:cNvSpPr/>
          <p:nvPr/>
        </p:nvSpPr>
        <p:spPr>
          <a:xfrm>
            <a:off x="478250" y="1182900"/>
            <a:ext cx="17760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3ea811c36_1_118"/>
          <p:cNvSpPr txBox="1"/>
          <p:nvPr>
            <p:ph type="title"/>
          </p:nvPr>
        </p:nvSpPr>
        <p:spPr>
          <a:xfrm>
            <a:off x="473397" y="-57940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PV Cost Comparison</a:t>
            </a:r>
            <a:endParaRPr/>
          </a:p>
        </p:txBody>
      </p:sp>
      <p:sp>
        <p:nvSpPr>
          <p:cNvPr id="180" name="Google Shape;180;g3e3ea811c36_1_118"/>
          <p:cNvSpPr txBox="1"/>
          <p:nvPr/>
        </p:nvSpPr>
        <p:spPr>
          <a:xfrm>
            <a:off x="293238" y="3577100"/>
            <a:ext cx="8557500" cy="1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Key takeaways:</a:t>
            </a:r>
            <a:endParaRPr b="1" sz="2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⮚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PV leads to significant savings for all scenarios over a 25-year time horizon despite high CAPEX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Merriweather Sans"/>
              <a:buChar char="⮚"/>
            </a:pPr>
            <a:r>
              <a:rPr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 metering outperforms net billing</a:t>
            </a:r>
            <a:endParaRPr b="1" sz="2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1" name="Google Shape;181;g3e3ea811c36_1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6" y="1063861"/>
            <a:ext cx="4572001" cy="227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e3ea811c36_1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389" y="1063835"/>
            <a:ext cx="4572001" cy="2271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3ea811c36_1_25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Battery Findings</a:t>
            </a:r>
            <a:endParaRPr/>
          </a:p>
        </p:txBody>
      </p:sp>
      <p:graphicFrame>
        <p:nvGraphicFramePr>
          <p:cNvPr id="189" name="Google Shape;189;g3e3ea811c36_1_25"/>
          <p:cNvGraphicFramePr/>
          <p:nvPr/>
        </p:nvGraphicFramePr>
        <p:xfrm>
          <a:off x="796625" y="194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{D9104DF0-D64A-4448-94DB-FEEEE90EE92A}</a:tableStyleId>
              </a:tblPr>
              <a:tblGrid>
                <a:gridCol w="1287850"/>
                <a:gridCol w="977900"/>
                <a:gridCol w="977900"/>
                <a:gridCol w="977900"/>
                <a:gridCol w="977900"/>
                <a:gridCol w="977900"/>
                <a:gridCol w="977900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2"/>
                          </a:solidFill>
                        </a:rPr>
                        <a:t>Heating equipment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2"/>
                          </a:solidFill>
                        </a:rPr>
                        <a:t>Net metering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2"/>
                          </a:solidFill>
                        </a:rPr>
                        <a:t>Net billing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 hr battery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2</a:t>
                      </a: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 hr battery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4</a:t>
                      </a: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 hr battery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 hr battery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2 hr battery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4 hr battery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LT Heat Pumps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1C232"/>
                          </a:solidFill>
                        </a:rPr>
                        <a:t>-$41,845</a:t>
                      </a:r>
                      <a:endParaRPr sz="1200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1C232"/>
                          </a:solidFill>
                        </a:rPr>
                        <a:t>-$52,457</a:t>
                      </a:r>
                      <a:endParaRPr sz="1200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1C232"/>
                          </a:solidFill>
                        </a:rPr>
                        <a:t>-$73,716</a:t>
                      </a:r>
                      <a:endParaRPr sz="1200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1C232"/>
                          </a:solidFill>
                        </a:rPr>
                        <a:t>-$36,059</a:t>
                      </a:r>
                      <a:endParaRPr sz="1200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1C232"/>
                          </a:solidFill>
                        </a:rPr>
                        <a:t>-$41,437</a:t>
                      </a:r>
                      <a:endParaRPr sz="1200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1C232"/>
                          </a:solidFill>
                        </a:rPr>
                        <a:t>-$52,785</a:t>
                      </a:r>
                      <a:endParaRPr sz="1200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HT Heat Pumps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69138"/>
                          </a:solidFill>
                        </a:rPr>
                        <a:t>-$75,850</a:t>
                      </a:r>
                      <a:endParaRPr sz="1200">
                        <a:solidFill>
                          <a:srgbClr val="E69138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69138"/>
                          </a:solidFill>
                        </a:rPr>
                        <a:t>-$101,167</a:t>
                      </a:r>
                      <a:endParaRPr sz="1200">
                        <a:solidFill>
                          <a:srgbClr val="E69138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69138"/>
                          </a:solidFill>
                        </a:rPr>
                        <a:t>-$153,542</a:t>
                      </a:r>
                      <a:endParaRPr sz="1200">
                        <a:solidFill>
                          <a:srgbClr val="E69138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69138"/>
                          </a:solidFill>
                        </a:rPr>
                        <a:t>-$62,314</a:t>
                      </a:r>
                      <a:endParaRPr sz="1200">
                        <a:solidFill>
                          <a:srgbClr val="E69138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69138"/>
                          </a:solidFill>
                        </a:rPr>
                        <a:t>-$75,304</a:t>
                      </a:r>
                      <a:endParaRPr sz="1200">
                        <a:solidFill>
                          <a:srgbClr val="E69138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69138"/>
                          </a:solidFill>
                        </a:rPr>
                        <a:t>-$111,334</a:t>
                      </a:r>
                      <a:endParaRPr sz="1200">
                        <a:solidFill>
                          <a:srgbClr val="E69138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Electric Boiler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</a:rPr>
                        <a:t>-$119,482</a:t>
                      </a:r>
                      <a:endParaRPr sz="1200">
                        <a:solidFill>
                          <a:srgbClr val="C0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</a:rPr>
                        <a:t>-$164,980</a:t>
                      </a:r>
                      <a:endParaRPr sz="1200">
                        <a:solidFill>
                          <a:srgbClr val="C0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</a:rPr>
                        <a:t>-$263,205</a:t>
                      </a:r>
                      <a:endParaRPr sz="1200">
                        <a:solidFill>
                          <a:srgbClr val="C0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</a:rPr>
                        <a:t>-$95,772</a:t>
                      </a:r>
                      <a:endParaRPr sz="1200">
                        <a:solidFill>
                          <a:srgbClr val="C0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</a:rPr>
                        <a:t>-$126,508</a:t>
                      </a:r>
                      <a:endParaRPr sz="1200">
                        <a:solidFill>
                          <a:srgbClr val="C0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0000"/>
                          </a:solidFill>
                        </a:rPr>
                        <a:t>-$212,489</a:t>
                      </a:r>
                      <a:endParaRPr sz="1200">
                        <a:solidFill>
                          <a:srgbClr val="C0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g3e3ea811c36_1_25"/>
          <p:cNvSpPr txBox="1"/>
          <p:nvPr/>
        </p:nvSpPr>
        <p:spPr>
          <a:xfrm>
            <a:off x="402675" y="1423575"/>
            <a:ext cx="754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rriweather Sans"/>
              <a:buChar char="⮚"/>
            </a:pPr>
            <a:r>
              <a:rPr lang="en-U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Battery “Savings” over 25-year time horizon: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g3e3ea811c36_1_25"/>
          <p:cNvSpPr txBox="1"/>
          <p:nvPr/>
        </p:nvSpPr>
        <p:spPr>
          <a:xfrm>
            <a:off x="293625" y="3851775"/>
            <a:ext cx="8766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Free capital runs indicate that batteries generate negligible returns under net metering and modest returns under net billing (~$400/yr for LT-ASHP, ~$1,000/yr for HT-ASHP, and ~$2,000/yr for electric boiler)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rriweather Sans"/>
              <a:buChar char="⮚"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Battery bleeds money at full cost, and grant funding is hard to justify unless considering resiliency.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36443fa69_2_9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198" name="Google Shape;198;g3e36443fa69_2_9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LT-ASHP: Schedule 24 vs. Schedule 25</a:t>
            </a:r>
            <a:endParaRPr/>
          </a:p>
        </p:txBody>
      </p:sp>
      <p:sp>
        <p:nvSpPr>
          <p:cNvPr id="199" name="Google Shape;199;g3e36443fa69_2_9"/>
          <p:cNvSpPr txBox="1"/>
          <p:nvPr>
            <p:ph idx="2" type="body"/>
          </p:nvPr>
        </p:nvSpPr>
        <p:spPr>
          <a:xfrm>
            <a:off x="396900" y="1525725"/>
            <a:ext cx="85194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/>
              <a:t>Estimated peak demand ~51 kW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/>
              <a:t>Near Schedule 24/25 threshold (50 kW)</a:t>
            </a:r>
            <a:endParaRPr b="0"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/>
              <a:t>Schedule 24: lower monthly fixed charge and no demand charge but higher electricity cost ($/kWh).</a:t>
            </a:r>
            <a:endParaRPr b="0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/>
              <a:t>Schedule 25: </a:t>
            </a:r>
            <a:r>
              <a:rPr b="0" lang="en-US" sz="2200">
                <a:solidFill>
                  <a:schemeClr val="dk1"/>
                </a:solidFill>
              </a:rPr>
              <a:t>higher </a:t>
            </a:r>
            <a:r>
              <a:rPr b="0" lang="en-US" sz="2200">
                <a:solidFill>
                  <a:schemeClr val="dk1"/>
                </a:solidFill>
              </a:rPr>
              <a:t>monthly fixed charge and demand charges but lower electricity cost ($/kWh).</a:t>
            </a:r>
            <a:endParaRPr b="0"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3ea811c36_1_6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LT-ASHP: Schedule 24 vs. Schedule 25</a:t>
            </a:r>
            <a:endParaRPr/>
          </a:p>
        </p:txBody>
      </p:sp>
      <p:graphicFrame>
        <p:nvGraphicFramePr>
          <p:cNvPr id="206" name="Google Shape;206;g3e3ea811c36_1_61"/>
          <p:cNvGraphicFramePr/>
          <p:nvPr/>
        </p:nvGraphicFramePr>
        <p:xfrm>
          <a:off x="878750" y="158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{D9104DF0-D64A-4448-94DB-FEEEE90EE92A}</a:tableStyleId>
              </a:tblPr>
              <a:tblGrid>
                <a:gridCol w="1816950"/>
                <a:gridCol w="1379650"/>
                <a:gridCol w="1379650"/>
                <a:gridCol w="1379650"/>
                <a:gridCol w="1379650"/>
              </a:tblGrid>
              <a:tr h="39607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2"/>
                          </a:solidFill>
                        </a:rPr>
                        <a:t>Case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2"/>
                          </a:solidFill>
                        </a:rPr>
                        <a:t>Full cost (25-yr)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2"/>
                          </a:solidFill>
                        </a:rPr>
                        <a:t>Free capital (25-yr)</a:t>
                      </a:r>
                      <a:endParaRPr sz="12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</a:tr>
              <a:tr h="396075">
                <a:tc v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Schedule 24 - </a:t>
                      </a: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Schedule 25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2"/>
                          </a:solidFill>
                        </a:rPr>
                        <a:t>Schedule 24 - Schedule 25</a:t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</a:tr>
              <a:tr h="39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No PV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80000"/>
                          </a:solidFill>
                        </a:rPr>
                        <a:t>-$72,350</a:t>
                      </a:r>
                      <a:endParaRPr b="1" sz="12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80000"/>
                          </a:solidFill>
                        </a:rPr>
                        <a:t>-$21,953</a:t>
                      </a:r>
                      <a:endParaRPr b="1" sz="12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9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Net metering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6AA84F"/>
                          </a:solidFill>
                        </a:rPr>
                        <a:t>$20,007</a:t>
                      </a:r>
                      <a:endParaRPr b="1" sz="12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6AA84F"/>
                          </a:solidFill>
                        </a:rPr>
                        <a:t>$7,512</a:t>
                      </a:r>
                      <a:endParaRPr b="1" sz="1200">
                        <a:solidFill>
                          <a:srgbClr val="6AA84F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96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Net billing</a:t>
                      </a:r>
                      <a:endParaRPr sz="12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80000"/>
                          </a:solidFill>
                        </a:rPr>
                        <a:t>-$46,303</a:t>
                      </a:r>
                      <a:endParaRPr b="1" sz="12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980000"/>
                          </a:solidFill>
                        </a:rPr>
                        <a:t>-$13,199</a:t>
                      </a:r>
                      <a:endParaRPr b="1" sz="12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207" name="Google Shape;207;g3e3ea811c36_1_61"/>
          <p:cNvSpPr txBox="1"/>
          <p:nvPr/>
        </p:nvSpPr>
        <p:spPr>
          <a:xfrm>
            <a:off x="188850" y="3780350"/>
            <a:ext cx="876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rriweather Sans"/>
              <a:buChar char="⮚"/>
            </a:pPr>
            <a:r>
              <a:rPr b="1"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Schedule 24 improves LT-ASHP economics only under net metering; it is worse than Schedule 25 for the no-PV and net-billing cases.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36443fa69_4_0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214" name="Google Shape;214;g3e36443fa69_4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Escalation Rate Sensitivity Analysis</a:t>
            </a:r>
            <a:endParaRPr/>
          </a:p>
        </p:txBody>
      </p:sp>
      <p:sp>
        <p:nvSpPr>
          <p:cNvPr id="215" name="Google Shape;215;g3e36443fa69_4_0"/>
          <p:cNvSpPr txBox="1"/>
          <p:nvPr>
            <p:ph idx="2" type="body"/>
          </p:nvPr>
        </p:nvSpPr>
        <p:spPr>
          <a:xfrm>
            <a:off x="454025" y="1466525"/>
            <a:ext cx="2823600" cy="3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Electricity escalation rate</a:t>
            </a:r>
            <a:endParaRPr sz="22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0" lang="en-US" sz="2000"/>
              <a:t>Increased escalation rate decreases life cycle savings exponentially (for all PV scenarios)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  <p:pic>
        <p:nvPicPr>
          <p:cNvPr id="216" name="Google Shape;216;g3e36443fa69_4_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750" y="1466523"/>
            <a:ext cx="5367474" cy="3318899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3fd55ce73_0_18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223" name="Google Shape;223;g3e3fd55ce73_0_18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Escalation Rate Sensitivity Analysis</a:t>
            </a:r>
            <a:endParaRPr/>
          </a:p>
        </p:txBody>
      </p:sp>
      <p:sp>
        <p:nvSpPr>
          <p:cNvPr id="224" name="Google Shape;224;g3e3fd55ce73_0_18"/>
          <p:cNvSpPr txBox="1"/>
          <p:nvPr>
            <p:ph idx="2" type="body"/>
          </p:nvPr>
        </p:nvSpPr>
        <p:spPr>
          <a:xfrm>
            <a:off x="454025" y="1466525"/>
            <a:ext cx="32391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Electricity escalation rate</a:t>
            </a:r>
            <a:endParaRPr sz="22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0" lang="en-US" sz="2000"/>
              <a:t>High rate i</a:t>
            </a:r>
            <a:r>
              <a:rPr b="0" lang="en-US" sz="2000"/>
              <a:t>ncreases the benefit of PV → higher optimized PV size (up to maximum)</a:t>
            </a:r>
            <a:endParaRPr b="0"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0" lang="en-US" sz="2000"/>
              <a:t>More dramatic effect for net metering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  <p:pic>
        <p:nvPicPr>
          <p:cNvPr id="225" name="Google Shape;225;g3e3fd55ce73_0_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225" y="1624525"/>
            <a:ext cx="5111976" cy="31609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3fd55ce73_0_35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232" name="Google Shape;232;g3e3fd55ce73_0_35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Propane Rate Sensitivity Analysis</a:t>
            </a:r>
            <a:endParaRPr/>
          </a:p>
        </p:txBody>
      </p:sp>
      <p:sp>
        <p:nvSpPr>
          <p:cNvPr id="233" name="Google Shape;233;g3e3fd55ce73_0_35"/>
          <p:cNvSpPr txBox="1"/>
          <p:nvPr>
            <p:ph idx="2" type="body"/>
          </p:nvPr>
        </p:nvSpPr>
        <p:spPr>
          <a:xfrm>
            <a:off x="454025" y="1466525"/>
            <a:ext cx="36816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Propane</a:t>
            </a:r>
            <a:r>
              <a:rPr lang="en-US" sz="2200"/>
              <a:t> rate</a:t>
            </a:r>
            <a:endParaRPr sz="22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0" lang="en-US" sz="2000"/>
              <a:t>Explored instead of propane escalation rate due to REopt limitations</a:t>
            </a:r>
            <a:endParaRPr b="0"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b="0" lang="en-US" sz="2000"/>
              <a:t>Positive linear relationship between life cycle savings and propane rate (due to lack of REopt escalation)</a:t>
            </a:r>
            <a:endParaRPr b="0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</p:txBody>
      </p:sp>
      <p:pic>
        <p:nvPicPr>
          <p:cNvPr id="234" name="Google Shape;234;g3e3fd55ce73_0_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50" y="1801275"/>
            <a:ext cx="4869075" cy="3010724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b432b2860_1_939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241" name="Google Shape;241;g3db432b2860_1_939"/>
          <p:cNvSpPr txBox="1"/>
          <p:nvPr>
            <p:ph idx="2" type="body"/>
          </p:nvPr>
        </p:nvSpPr>
        <p:spPr>
          <a:xfrm>
            <a:off x="376300" y="1636300"/>
            <a:ext cx="81972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CAPEX cost ranges and approximating error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June 4 </a:t>
            </a:r>
            <a:r>
              <a:rPr b="0" lang="en-US">
                <a:solidFill>
                  <a:schemeClr val="dk1"/>
                </a:solidFill>
              </a:rPr>
              <a:t>— Community Capstone Showcase</a:t>
            </a:r>
            <a:endParaRPr b="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June 15</a:t>
            </a:r>
            <a:r>
              <a:rPr b="0" lang="en-US">
                <a:solidFill>
                  <a:schemeClr val="dk1"/>
                </a:solidFill>
              </a:rPr>
              <a:t> — Final report delivered to PGST</a:t>
            </a:r>
            <a:endParaRPr b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3ea811c36_1_79"/>
          <p:cNvSpPr txBox="1"/>
          <p:nvPr>
            <p:ph idx="2" type="body"/>
          </p:nvPr>
        </p:nvSpPr>
        <p:spPr>
          <a:xfrm>
            <a:off x="5904775" y="4096475"/>
            <a:ext cx="3239100" cy="104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highlight>
                <a:srgbClr val="FFFFFF"/>
              </a:highlight>
            </a:endParaRPr>
          </a:p>
        </p:txBody>
      </p:sp>
      <p:sp>
        <p:nvSpPr>
          <p:cNvPr id="253" name="Google Shape;253;g3e3ea811c36_1_79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Heating Device Scenarios: CAPEX</a:t>
            </a:r>
            <a:endParaRPr b="0"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254" name="Google Shape;254;g3e3ea811c36_1_79"/>
          <p:cNvSpPr txBox="1"/>
          <p:nvPr>
            <p:ph idx="2" type="body"/>
          </p:nvPr>
        </p:nvSpPr>
        <p:spPr>
          <a:xfrm>
            <a:off x="454025" y="1466525"/>
            <a:ext cx="8625000" cy="3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Propane Boiler </a:t>
            </a:r>
            <a:endParaRPr b="0" sz="21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b="0" lang="en-US" sz="1900" u="sng"/>
              <a:t>~$28,000</a:t>
            </a:r>
            <a:r>
              <a:rPr b="0" lang="en-US" sz="1900"/>
              <a:t> for 399,000 Btu/hr unit and installation</a:t>
            </a:r>
            <a:endParaRPr b="0" sz="19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LT-ASHP only</a:t>
            </a:r>
            <a:endParaRPr sz="21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>
                <a:solidFill>
                  <a:schemeClr val="dk1"/>
                </a:solidFill>
              </a:rPr>
              <a:t>$30,800 units + $45,000 install + $8,500 retrofit</a:t>
            </a:r>
            <a:endParaRPr b="0"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 u="sng">
                <a:solidFill>
                  <a:schemeClr val="dk1"/>
                </a:solidFill>
              </a:rPr>
              <a:t>~$84,000</a:t>
            </a:r>
            <a:r>
              <a:rPr b="0" lang="en-US" sz="1900">
                <a:solidFill>
                  <a:schemeClr val="dk1"/>
                </a:solidFill>
              </a:rPr>
              <a:t> for 7x 14 kW units, installation, and retrofit</a:t>
            </a:r>
            <a:endParaRPr b="0" sz="19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HT-ASHP (CEC) &amp; LT-ASHP (Longhouse)</a:t>
            </a:r>
            <a:endParaRPr sz="21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>
                <a:solidFill>
                  <a:schemeClr val="dk1"/>
                </a:solidFill>
              </a:rPr>
              <a:t>$42,000 units + $45,000 install + $0 retrofit (assuming no retrofit)</a:t>
            </a:r>
            <a:endParaRPr b="0"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b="0" lang="en-US" sz="1900" u="sng">
                <a:solidFill>
                  <a:schemeClr val="dk1"/>
                </a:solidFill>
              </a:rPr>
              <a:t>~$87,000</a:t>
            </a:r>
            <a:r>
              <a:rPr b="0" lang="en-US" sz="1900">
                <a:solidFill>
                  <a:schemeClr val="dk1"/>
                </a:solidFill>
              </a:rPr>
              <a:t> for 3x 20 kW &amp; 4x 14 kW units, installation, and retrofit</a:t>
            </a:r>
            <a:endParaRPr b="0" sz="19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⮚"/>
            </a:pPr>
            <a:r>
              <a:rPr lang="en-US" sz="2100">
                <a:solidFill>
                  <a:schemeClr val="dk1"/>
                </a:solidFill>
              </a:rPr>
              <a:t>Electric Boiler</a:t>
            </a:r>
            <a:endParaRPr sz="21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b="0" lang="en-US" sz="2100" u="sng">
                <a:solidFill>
                  <a:schemeClr val="dk1"/>
                </a:solidFill>
              </a:rPr>
              <a:t>~</a:t>
            </a:r>
            <a:r>
              <a:rPr b="0" lang="en-US" sz="1900" u="sng">
                <a:solidFill>
                  <a:schemeClr val="dk1"/>
                </a:solidFill>
              </a:rPr>
              <a:t>$25,000</a:t>
            </a:r>
            <a:r>
              <a:rPr b="0" lang="en-US" sz="1900">
                <a:solidFill>
                  <a:schemeClr val="dk1"/>
                </a:solidFill>
              </a:rPr>
              <a:t> for 100 kW unit and installation</a:t>
            </a:r>
            <a:endParaRPr b="0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2014-10-14T00:51:43Z</dcterms:created>
  <dc:creator>Alanya Cannon</dc:creator>
</cp:coreProperties>
</file>