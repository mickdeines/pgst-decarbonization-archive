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3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1"/>
  </p:notesMasterIdLst>
  <p:sldIdLst>
    <p:sldId id="256" r:id="rId5"/>
    <p:sldId id="257" r:id="rId6"/>
    <p:sldId id="258" r:id="rId7"/>
    <p:sldId id="287" r:id="rId8"/>
    <p:sldId id="276" r:id="rId9"/>
    <p:sldId id="268" r:id="rId10"/>
    <p:sldId id="277" r:id="rId11"/>
    <p:sldId id="269" r:id="rId12"/>
    <p:sldId id="270" r:id="rId13"/>
    <p:sldId id="281" r:id="rId14"/>
    <p:sldId id="260" r:id="rId15"/>
    <p:sldId id="267" r:id="rId16"/>
    <p:sldId id="278" r:id="rId17"/>
    <p:sldId id="262" r:id="rId18"/>
    <p:sldId id="280" r:id="rId19"/>
    <p:sldId id="261" r:id="rId20"/>
    <p:sldId id="279" r:id="rId21"/>
    <p:sldId id="266" r:id="rId22"/>
    <p:sldId id="283" r:id="rId23"/>
    <p:sldId id="263" r:id="rId24"/>
    <p:sldId id="282" r:id="rId25"/>
    <p:sldId id="264" r:id="rId26"/>
    <p:sldId id="284" r:id="rId27"/>
    <p:sldId id="265" r:id="rId28"/>
    <p:sldId id="285" r:id="rId29"/>
    <p:sldId id="286" r:id="rId3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F3A883-0EA5-449A-8674-4371ECC35727}" v="20" dt="2026-04-29T17:56:22.2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6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6:31:51.5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152 328 24575,'-11'0'0,"0"-1"0,0-1 0,1 0 0,-1 0 0,0-1 0,-15-6 0,22 8 0,1 0 0,-1-1 0,1 1 0,-1-1 0,1 0 0,0 0 0,0 0 0,0-1 0,0 1 0,0-1 0,1 1 0,-1-1 0,1 0 0,-1 0 0,1 0 0,0 0 0,0 0 0,1-1 0,-1 1 0,1-1 0,-1 1 0,0-8 0,2 5 0,1 0 0,1 0 0,-1 0 0,1 0 0,0 0 0,1 0 0,0 1 0,5-10 0,8-19 0,-10 13 0,-5 15 0,1 0 0,0 0 0,0 1 0,0-1 0,0 0 0,1 1 0,0-1 0,0 1 0,0 0 0,1 0 0,0 0 0,0 1 0,0-1 0,0 1 0,1 0 0,6-4 0,-4 3 0,1 1 0,1 0 0,-1 0 0,1 1 0,-1 0 0,1 0 0,0 1 0,0 0 0,16-1 0,0 2 0,-1 1 0,36 4 0,-57-3 0,-1-1 0,1 1 0,-1-1 0,1 1 0,-1 0 0,1 0 0,-1 0 0,0 1 0,1-1 0,-1 0 0,0 1 0,0 0 0,0-1 0,0 1 0,0 0 0,0 0 0,0 0 0,-1 0 0,1 0 0,-1 1 0,0-1 0,0 0 0,1 1 0,-1-1 0,-1 1 0,2 4 0,2 8 0,-1 0 0,-1 1 0,0 26 0,4 15 0,2-29 0,-5-23 0,-1 0 0,-1 1 0,1-1 0,-1 0 0,0 1 0,0-1 0,-1 1 0,1 6 0,-2-10 0,1 0 0,-1-1 0,0 1 0,1-1 0,-1 1 0,0-1 0,0 1 0,0-1 0,0 0 0,0 0 0,-1 1 0,1-1 0,0 0 0,-1 0 0,1 0 0,0 0 0,-1 0 0,1-1 0,-1 1 0,0 0 0,1-1 0,-1 1 0,1-1 0,-1 1 0,0-1 0,1 0 0,-1 0 0,0 1 0,0-1 0,1 0 0,-1-1 0,-2 1 0,-60 2 0,-78-7 0,110-2-1365,19 2-5461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6:31:53.7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45 443 24575,'-2'0'0,"1"-1"0,-1 1 0,0-1 0,0 0 0,1 1 0,-1-1 0,0 0 0,1 0 0,-1 0 0,1 0 0,-1 0 0,1 0 0,-1-1 0,1 1 0,0 0 0,0-1 0,0 1 0,0-1 0,0 1 0,0-1 0,0 0 0,0 1 0,0-1 0,1 0 0,-1 1 0,1-1 0,-1 0 0,1 0 0,0-2 0,-7-55 0,7 59 0,0-8 0,2-148 0,-1 152 0,0 1 0,0-1 0,0 1 0,0-1 0,0 1 0,1-1 0,0 1 0,0 0 0,0 0 0,0-1 0,0 2 0,0-1 0,1 0 0,-1 0 0,1 1 0,0-1 0,0 1 0,0 0 0,0 0 0,0 0 0,4-1 0,11-6 0,0 2 0,0 0 0,19-4 0,11-4 0,-14 0 0,-20 8 0,1 1 0,0 0 0,0 1 0,25-4 0,-2 1 0,-29 5 0,0 1 0,1 1 0,-1-1 0,0 1 0,13 1 0,-19 0 0,1 1 0,-1-1 0,0 1 0,0 0 0,0 0 0,0 0 0,0 1 0,0-1 0,0 1 0,0 0 0,-1-1 0,1 1 0,-1 0 0,1 0 0,-1 1 0,0-1 0,1 1 0,-1-1 0,3 5 0,8 18 0,0-1 0,-2 1 0,-1 1 0,10 35 0,-17-49 0,0-4 0,-1 1 0,0-1 0,0 1 0,-1 0 0,0 0 0,-1 0 0,-1 14 0,1-18 0,-1-1 0,0 0 0,0 0 0,0 0 0,0 0 0,-1-1 0,1 1 0,-1 0 0,0 0 0,0-1 0,-1 1 0,1-1 0,-1 0 0,1 0 0,-1 0 0,0 0 0,0 0 0,-5 3 0,-51 35 0,35-22 0,-1-2 0,-1 0 0,-1-2 0,-1 0 0,-35 12 0,43-23 0,0 0 0,-1-2 0,1-1 0,-1 0 0,-33-4 0,-4 1 0,56 2-33,-1 1 0,1-1-1,0 0 1,-1 0 0,1 0-1,0 0 1,0-1 0,-1 1 0,1-1-1,0 1 1,0-1 0,-1 0-1,1 0 1,0 0 0,0 0-1,0 0 1,0 0 0,0-1 0,1 1-1,-1 0 1,0-1 0,0 0-1,1 1 1,-1-1 0,1 0-1,0 0 1,-1 0 0,1 0 0,0 0-1,0 0 1,0 0 0,1 0-1,-1-1 1,0 1 0,1 0-1,0 0 1,-1-1 0,1 1 0,0 0-1,0-4 1,0-11-6793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9T16:59:24.7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2458 1050 24575,'-1047'0'0,"1019"-2"0,-44-7 0,12 0 0,2 2 0,21 2 0,-47 0 0,-42-4 0,-2 0 0,91 9 0,8 2 0,1-2 0,-1-2 0,-54-8 0,-39-12 0,-73 4 0,149 13 0,15 1 0,-61-13 0,83 14 0,1 0 0,-1 0 0,1 0 0,-1-1 0,1-1 0,1 1 0,-1-1 0,1 0 0,-1-1 0,2 0 0,-11-10 0,15 13 0,-1-1 0,1 0 0,0 1 0,0-1 0,0 0 0,0 0 0,1 0 0,-1 0 0,1-1 0,0 1 0,1 0 0,-1 0 0,1-1 0,-1 1 0,1 0 0,1-1 0,-1 1 0,0 0 0,1-1 0,0 1 0,0 0 0,3-6 0,3-8 0,1 0 0,1 0 0,19-27 0,-11 16 0,-1 5 0,1 2 0,1 0 0,1 1 0,28-26 0,-12 14 0,-2 4 0,2 1 0,51-32 0,45-6 0,-110 55 0,1 2 0,25-9 0,11-4 0,118-45 0,-19 17 0,-26 9 0,-102 32 0,0 1 0,1 2 0,46-5 0,70-5 0,-96 11 0,0 2 0,75 5 0,-29 1 0,66 15 0,-11 0 0,-124-16 0,1 1 0,37 10 0,-39-7 0,-1-1 0,52 3 0,137 9 0,-53 2 0,-126-17 0,-1 3 0,1 0 0,56 18 0,-35-8 0,-18-3 0,-1 1 0,-1 2 0,46 27 0,-61-31 0,108 62 0,-59-35 0,-68-36 0,0 0 0,0 1 0,0-1 0,0 0 0,0 1 0,0 0 0,-1-1 0,1 1 0,-1 0 0,0 0 0,1-1 0,-2 1 0,1 0 0,0 0 0,0 1 0,-1-1 0,0 0 0,0 4 0,-2 66 0,0-42 0,3 9 0,1-1 0,9 44 0,-9-70 0,0-1 0,-1 1 0,0-1 0,-2 17 0,0-25 0,1-1 0,-1 0 0,1 0 0,-1 0 0,0 0 0,0 0 0,-1 0 0,1 0 0,0 0 0,-1-1 0,0 1 0,0 0 0,0-1 0,0 1 0,0-1 0,0 0 0,-1 0 0,1 0 0,-1 0 0,1 0 0,-7 3 0,-197 95 0,190-94 0,0 0 0,-1 0 0,0-2 0,0 0 0,0-1 0,-26 1 0,-109-5 0,62-2 0,53 3 0,5-1 0,-60 7 0,82-5 0,0 1 0,0 0 0,0 1 0,1 0 0,-1 1 0,1 0 0,0 1 0,0-1 0,0 2 0,-8 6 0,-5 2-1365,11-10-5461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2331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5BC48-6B82-DC8A-F9EE-292461C78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ECE8C2-0DF7-B64C-0439-3C32A61F75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09AA1B-407A-A3F2-790C-70DE6B1957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C6C210-79D5-169E-D752-5D72941195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7594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6199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5" Type="http://schemas.openxmlformats.org/officeDocument/2006/relationships/image" Target="../media/image6.png"/><Relationship Id="rId4" Type="http://schemas.openxmlformats.org/officeDocument/2006/relationships/customXml" Target="../ink/ink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182880"/>
            <a:ext cx="3200400" cy="3200400"/>
          </a:xfrm>
          <a:prstGeom prst="ellipse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PGST Propane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Disaggregation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256032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Methodology — ERA5 · Regression · Equipment Modeling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Gamble S'Klallam Tribe | Energy Analysis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ERA5 Reanalysis Dataset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Data Source &amp; Handling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463039"/>
            <a:ext cx="4023360" cy="3361879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7276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5727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ERA5?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11480" y="2011680"/>
            <a:ext cx="388620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ERA5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ECMWF's fifth-generation atmospheric reanalysis — a
global hourly gridded climate dataset that blends historical
observations with a physics-based model.
</a:t>
            </a: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resolution: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0.25° (~28 km)
</a:t>
            </a: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used: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 air temperature (t2m)
</a:t>
            </a: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period: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2015–2026 (hourly)
</a:t>
            </a: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GRIB2 (ERA5 download)
</a:t>
            </a: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Parser: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cfgrib / xarray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572000" y="1463039"/>
            <a:ext cx="4297680" cy="1421759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572000" y="1463040"/>
            <a:ext cx="429768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681728" y="1499616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1 — Bilinear Interpolation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681728" y="1810511"/>
            <a:ext cx="4187952" cy="105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Grid-cell → site-point</a:t>
            </a:r>
          </a:p>
          <a:p>
            <a:pPr marL="0" indent="0">
              <a:buNone/>
            </a:pPr>
            <a:endParaRPr lang="en-US" sz="11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ERA5 native 0.25° cells (~28 km) don't match the site exactly.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Interpolation done with bilinear weighting on the four surrounding cells.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Site: lat 47.852°, lon 237.431° (ERA5 0–360° convention).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0" y="2970175"/>
            <a:ext cx="4297680" cy="787033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572000" y="2970825"/>
            <a:ext cx="429768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700016" y="3007401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2 — Unit Conversion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681728" y="3427927"/>
            <a:ext cx="4078224" cy="243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Kelvin → °F: (K − 273.15) × 9/5 + 32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0" y="3831336"/>
            <a:ext cx="4297680" cy="993582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572000" y="3831336"/>
            <a:ext cx="429768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4681728" y="3867912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3 — Daily Summary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681728" y="4241260"/>
            <a:ext cx="4078224" cy="583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/>
              <a:t>Collected </a:t>
            </a:r>
            <a:r>
              <a:rPr lang="en-US" sz="1100" dirty="0" err="1"/>
              <a:t>T</a:t>
            </a:r>
            <a:r>
              <a:rPr lang="en-US" sz="1100" baseline="-25000" dirty="0" err="1"/>
              <a:t>avg</a:t>
            </a:r>
            <a:r>
              <a:rPr lang="en-US" sz="1100" dirty="0"/>
              <a:t>, </a:t>
            </a:r>
            <a:r>
              <a:rPr lang="en-US" sz="1100" dirty="0" err="1"/>
              <a:t>T</a:t>
            </a:r>
            <a:r>
              <a:rPr lang="en-US" sz="1100" baseline="-25000" dirty="0" err="1"/>
              <a:t>min</a:t>
            </a:r>
            <a:r>
              <a:rPr lang="en-US" sz="1100" dirty="0"/>
              <a:t>, and </a:t>
            </a:r>
            <a:r>
              <a:rPr lang="en-US" sz="1100" dirty="0" err="1"/>
              <a:t>T</a:t>
            </a:r>
            <a:r>
              <a:rPr lang="en-US" sz="1100" baseline="-25000" dirty="0" err="1"/>
              <a:t>max</a:t>
            </a:r>
            <a:r>
              <a:rPr lang="en-US" sz="1100" dirty="0"/>
              <a:t> for each day</a:t>
            </a:r>
          </a:p>
          <a:p>
            <a:pPr marL="0" indent="0">
              <a:buNone/>
            </a:pPr>
            <a:endParaRPr lang="en-US" sz="1100" dirty="0"/>
          </a:p>
          <a:p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2015-2026 Hourly and Daily Temperature CSVs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Delivery Data Cleaning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Propane Transaction Records — Ferrell Gas 2005–2025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transaction records include deliveries, credits, and returns. Two cleaning rules are applied before the delivery file is used downstream.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965960"/>
            <a:ext cx="4114800" cy="2468880"/>
          </a:xfrm>
          <a:prstGeom prst="rect">
            <a:avLst/>
          </a:prstGeom>
          <a:solidFill>
            <a:srgbClr val="EFF6FF"/>
          </a:solidFill>
          <a:ln w="19050">
            <a:solidFill>
              <a:srgbClr val="065A8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965960"/>
            <a:ext cx="411480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020824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202996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Assumption 1 — Remove Return Deliveries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11480" y="2423160"/>
            <a:ext cx="3886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Negative-gallon transactions represent returned/credited deliveries.
</a:t>
            </a: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negative entry, search for a positive entry with exactly matching gallons within ±30 days. Drop both.
</a:t>
            </a: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Rationale: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accounting corrections, not actual fuel deliveries, and would double-count if retained.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54880" y="1965960"/>
            <a:ext cx="4114800" cy="2468880"/>
          </a:xfrm>
          <a:prstGeom prst="rect">
            <a:avLst/>
          </a:prstGeom>
          <a:solidFill>
            <a:srgbClr val="EFF6FF"/>
          </a:solidFill>
          <a:ln w="19050">
            <a:solidFill>
              <a:srgbClr val="D4572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754880" y="1965960"/>
            <a:ext cx="4114800" cy="384048"/>
          </a:xfrm>
          <a:prstGeom prst="rect">
            <a:avLst/>
          </a:prstGeom>
          <a:solidFill>
            <a:srgbClr val="D4572A"/>
          </a:solidFill>
          <a:ln w="12700">
            <a:solidFill>
              <a:srgbClr val="D45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2020824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30368" y="202996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Assumption 2 — Minimum Delivery Size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892040" y="2423160"/>
            <a:ext cx="3886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deliveries likely represent alternate propane tank fills under the same account.
</a:t>
            </a: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all deliveries under 200 gallons.
</a:t>
            </a: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Rationale: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deliveries serving the campus buildings are always bulk fills. Sub-200 gal records are not representative of steady-state consumption.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274320" y="4572000"/>
            <a:ext cx="8595360" cy="384048"/>
          </a:xfrm>
          <a:prstGeom prst="rect">
            <a:avLst/>
          </a:prstGeom>
          <a:solidFill>
            <a:srgbClr val="E8F5E9"/>
          </a:solidFill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4636008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31520" y="462686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Propane Deliveries 2005–2025.csv — used directly by regression (Notebook 3) and the disaggregation model (Notebook 4). Monthly aggregation logic is intentionally excluded from downstream use.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Delivery-Window Regression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Fitting Propane Use vs. Temperature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43891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438912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" y="1408176"/>
            <a:ext cx="4169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 Delivery Windows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773936"/>
            <a:ext cx="416966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delivery is the end of a consumption window beginning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prior delivery date. Window length = days between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deliveries. Gallons ÷ days = gal/day for that window.</a:t>
            </a:r>
            <a:endParaRPr lang="en-US" sz="1100" dirty="0"/>
          </a:p>
          <a:p>
            <a:pPr marL="0" indent="0">
              <a:buNone/>
            </a:pPr>
            <a:endParaRPr lang="en-US" sz="11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Interval-average temperature is computed from daily ERA5 data.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852928"/>
            <a:ext cx="4389120" cy="128016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2852928"/>
            <a:ext cx="438912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84048" y="2889504"/>
            <a:ext cx="4169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Piecewise Linear Model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" y="3255264"/>
            <a:ext cx="41696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Tb (60°F): gal/day = m × T + b [heating regime]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Tb (60°F): gal/day = baseline_gpd [base loads only]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is the mean of all windows with T ≥ Tb.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 sweep: 50–71°F tested; 60°F selected.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4187952"/>
            <a:ext cx="4389120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4187952"/>
            <a:ext cx="438912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84048" y="4224528"/>
            <a:ext cx="4169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Outlier Removal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" y="4590288"/>
            <a:ext cx="4169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first fit, the 2 windows with largest absolute residual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dropped. Model is refit on the cleaned set.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37760" y="1371600"/>
            <a:ext cx="3931920" cy="3639312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7492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Parameters &amp; Outputs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74920" y="18288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903720" y="1828800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949440" y="18288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2023–2025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74920" y="23317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Point Tb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903720" y="2331720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949440" y="233172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°F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74920" y="28346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Min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903720" y="2834640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949440" y="283464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°F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074920" y="33375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Removed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903720" y="3337560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949440" y="333756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074920" y="384048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903720" y="3840480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949440" y="384048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(slope), b (intercept), baseline_gpd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074920" y="43434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903720" y="4343400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949440" y="43434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R²_heat, R²_baseline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937760" y="4572000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0E765DB-4173-8F52-7344-81941F225E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625" y="2306063"/>
            <a:ext cx="7524750" cy="2762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71CB9BF-7281-FC4F-9733-176D3C3245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625" y="188686"/>
            <a:ext cx="5193186" cy="1906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95F61AD-7FB8-7BEA-5E88-75F4025A278A}"/>
                  </a:ext>
                </a:extLst>
              </p14:cNvPr>
              <p14:cNvContentPartPr/>
              <p14:nvPr/>
            </p14:nvContentPartPr>
            <p14:xfrm>
              <a:off x="3109143" y="622080"/>
              <a:ext cx="145080" cy="1180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95F61AD-7FB8-7BEA-5E88-75F4025A278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03023" y="615960"/>
                <a:ext cx="15732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AFAE4F3-D97C-22F4-989E-025933F37BDA}"/>
                  </a:ext>
                </a:extLst>
              </p14:cNvPr>
              <p14:cNvContentPartPr/>
              <p14:nvPr/>
            </p14:nvContentPartPr>
            <p14:xfrm>
              <a:off x="4047663" y="435600"/>
              <a:ext cx="205920" cy="1900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AFAE4F3-D97C-22F4-989E-025933F37BD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041543" y="429480"/>
                <a:ext cx="218160" cy="20232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59BCB8A7-F662-449B-813D-5EDCE2B8A51D}"/>
              </a:ext>
            </a:extLst>
          </p:cNvPr>
          <p:cNvSpPr txBox="1"/>
          <p:nvPr/>
        </p:nvSpPr>
        <p:spPr>
          <a:xfrm>
            <a:off x="4047663" y="2577843"/>
            <a:ext cx="27830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m=-6.742649, b=415.5719, baseline=18.6820 (gal/day)</a:t>
            </a:r>
          </a:p>
          <a:p>
            <a:r>
              <a:rPr lang="en-US" dirty="0"/>
              <a:t>R</a:t>
            </a:r>
            <a:r>
              <a:rPr lang="en-US" baseline="30000" dirty="0"/>
              <a:t>2</a:t>
            </a:r>
            <a:r>
              <a:rPr lang="en-US" dirty="0"/>
              <a:t> = 0.842</a:t>
            </a:r>
          </a:p>
        </p:txBody>
      </p:sp>
    </p:spTree>
    <p:extLst>
      <p:ext uri="{BB962C8B-B14F-4D97-AF65-F5344CB8AC3E}">
        <p14:creationId xmlns:p14="http://schemas.microsoft.com/office/powerpoint/2010/main" val="2685684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Linear Duty Cycle Method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Outdoor Temperature → Hourly Propane Demand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457200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457200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" y="1453896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Duty Cycle Formula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819656"/>
            <a:ext cx="435254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= (T</a:t>
            </a:r>
            <a:r>
              <a:rPr lang="en-US" sz="1100" baseline="-25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−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sz="1100" baseline="-25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outdoor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/ (T</a:t>
            </a:r>
            <a:r>
              <a:rPr lang="en-US" sz="1100" baseline="-25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−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sz="1100" baseline="-25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design_min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 = 60°F (balance point)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sz="1100" baseline="-25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design_min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20°F (design winter minimum)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is clipped to [0.0, 1.0].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971800"/>
            <a:ext cx="457200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2971800"/>
            <a:ext cx="45720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84048" y="3008376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 Storytelling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" y="3374136"/>
            <a:ext cx="43525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minimum of 20°F reflects equipment sizing: the heating systems are designed to maintain comfortable indoor temperatures down to this outdoor threshold. Over the 2023–2025 period, temperatures fell below 20°F on only one day (1/13/2024), reaching a minimum of 16.8°F.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120640" y="1417320"/>
            <a:ext cx="3749040" cy="274320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257800" y="14813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Duty Cycle at Key Temperatures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212080" y="1920240"/>
            <a:ext cx="3566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212080" y="1920240"/>
            <a:ext cx="64008" cy="438912"/>
          </a:xfrm>
          <a:prstGeom prst="rect">
            <a:avLst/>
          </a:prstGeom>
          <a:solidFill>
            <a:srgbClr val="D4572A"/>
          </a:solidFill>
          <a:ln w="12700">
            <a:solidFill>
              <a:srgbClr val="D45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49240" y="195681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20°F (design min)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269480" y="1956816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5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= 1.0 → Full rated input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212080" y="2450592"/>
            <a:ext cx="3566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212080" y="2450592"/>
            <a:ext cx="64008" cy="438912"/>
          </a:xfrm>
          <a:prstGeom prst="rect">
            <a:avLst/>
          </a:prstGeom>
          <a:solidFill>
            <a:srgbClr val="D4572A"/>
          </a:solidFill>
          <a:ln w="12700">
            <a:solidFill>
              <a:srgbClr val="D45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349240" y="24871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40°F (cold day)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69480" y="248716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5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= 0.5 → Half rated input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212080" y="2980944"/>
            <a:ext cx="3566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212080" y="2980944"/>
            <a:ext cx="64008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349240" y="3017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60°F (balance pt)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69480" y="30175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= 0.0 → No heating needed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212080" y="3511296"/>
            <a:ext cx="3566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212080" y="3511296"/>
            <a:ext cx="64008" cy="43891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349240" y="35478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75°F (summer)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269480" y="35478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= 0.0 → Clipped to zero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4251960"/>
            <a:ext cx="8595360" cy="73152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7200" y="43159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Hourly BTU/hr = Rated Input (BTU/hr) × Duty Cycle × Scale Factor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45902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factor calibrates unscaled model output to match top-down delivery-window targets.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9EF7F56D-1BE7-518C-451A-3B1DA6E063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87463"/>
            <a:ext cx="9144000" cy="2566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3714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31DD1-858C-B313-556F-C363D0EE9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0D96CD7-0D74-C1EF-2E8B-D78E806CE1C4}"/>
              </a:ext>
            </a:extLst>
          </p:cNvPr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5B17B6A-CF94-9D83-48A8-8D9EC018F940}"/>
              </a:ext>
            </a:extLst>
          </p:cNvPr>
          <p:cNvSpPr/>
          <p:nvPr/>
        </p:nvSpPr>
        <p:spPr>
          <a:xfrm>
            <a:off x="365760" y="109728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 Scaling to Top-Down Targets</a:t>
            </a:r>
            <a:endParaRPr lang="en-US" sz="2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2E113FD-941C-9262-A5BB-4975CBC5C4DA}"/>
              </a:ext>
            </a:extLst>
          </p:cNvPr>
          <p:cNvSpPr/>
          <p:nvPr/>
        </p:nvSpPr>
        <p:spPr>
          <a:xfrm>
            <a:off x="365760" y="9601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First, use regression/heating baseline to split </a:t>
            </a:r>
            <a:r>
              <a:rPr lang="en-US" sz="1200" b="1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propane into </a:t>
            </a:r>
            <a:r>
              <a:rPr lang="en-US" sz="1200" b="1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heating</a:t>
            </a: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200" b="1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non-heating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C9F945B-D4CE-771C-40A8-C3EDCE6C329A}"/>
              </a:ext>
            </a:extLst>
          </p:cNvPr>
          <p:cNvSpPr/>
          <p:nvPr/>
        </p:nvSpPr>
        <p:spPr>
          <a:xfrm>
            <a:off x="384048" y="1956816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Heating Scale Factor</a:t>
            </a:r>
            <a:endParaRPr lang="en-US" sz="1100" dirty="0"/>
          </a:p>
        </p:txBody>
      </p:sp>
      <p:graphicFrame>
        <p:nvGraphicFramePr>
          <p:cNvPr id="15" name="Table 0">
            <a:extLst>
              <a:ext uri="{FF2B5EF4-FFF2-40B4-BE49-F238E27FC236}">
                <a16:creationId xmlns:a16="http://schemas.microsoft.com/office/drawing/2014/main" id="{029BCF71-74E8-C9E7-DCEB-26DCDDB57D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3834778"/>
              </p:ext>
            </p:extLst>
          </p:nvPr>
        </p:nvGraphicFramePr>
        <p:xfrm>
          <a:off x="5074920" y="2893380"/>
          <a:ext cx="3657600" cy="141732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43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Heating Scale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572A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Non-Heating Scale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>
                        <a:alpha val="7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1.2683</a:t>
                      </a: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1.0793</a:t>
                      </a: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1.1769</a:t>
                      </a: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1.0434</a:t>
                      </a: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1.2254</a:t>
                      </a: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1.0636</a:t>
                      </a: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Shape 12">
            <a:extLst>
              <a:ext uri="{FF2B5EF4-FFF2-40B4-BE49-F238E27FC236}">
                <a16:creationId xmlns:a16="http://schemas.microsoft.com/office/drawing/2014/main" id="{37BA6521-19B6-62FE-5477-4217C887A2A4}"/>
              </a:ext>
            </a:extLst>
          </p:cNvPr>
          <p:cNvSpPr/>
          <p:nvPr/>
        </p:nvSpPr>
        <p:spPr>
          <a:xfrm>
            <a:off x="274320" y="4864608"/>
            <a:ext cx="8595360" cy="237744"/>
          </a:xfrm>
          <a:prstGeom prst="rect">
            <a:avLst/>
          </a:prstGeom>
          <a:solidFill>
            <a:srgbClr val="E8F5E9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FFDD5B87-D37F-0FD2-6F9A-30C7B28A1773}"/>
              </a:ext>
            </a:extLst>
          </p:cNvPr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factors near 1.0 indicate a well-fitted bottom-up model.</a:t>
            </a:r>
            <a:endParaRPr lang="en-US" sz="1000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91F1C460-CF19-71FC-976C-412783CD2C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" y="1343461"/>
            <a:ext cx="3931918" cy="924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 3">
            <a:extLst>
              <a:ext uri="{FF2B5EF4-FFF2-40B4-BE49-F238E27FC236}">
                <a16:creationId xmlns:a16="http://schemas.microsoft.com/office/drawing/2014/main" id="{99565144-9F09-2BC3-7355-3682584EAB83}"/>
              </a:ext>
            </a:extLst>
          </p:cNvPr>
          <p:cNvSpPr/>
          <p:nvPr/>
        </p:nvSpPr>
        <p:spPr>
          <a:xfrm>
            <a:off x="518160" y="213583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baseline B</a:t>
            </a:r>
            <a:r>
              <a:rPr lang="en-US" sz="1200" i="1" baseline="-25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</a:t>
            </a: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accounts for all non-weather sensitive use</a:t>
            </a:r>
          </a:p>
          <a:p>
            <a:pPr marL="0" indent="0">
              <a:buNone/>
            </a:pPr>
            <a:r>
              <a:rPr lang="en-US" sz="1200" i="1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200" i="1" baseline="-250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an assumed heating baseline from the boiler that is non-weather sensitive</a:t>
            </a:r>
          </a:p>
        </p:txBody>
      </p:sp>
      <p:pic>
        <p:nvPicPr>
          <p:cNvPr id="8196" name="Picture 4">
            <a:extLst>
              <a:ext uri="{FF2B5EF4-FFF2-40B4-BE49-F238E27FC236}">
                <a16:creationId xmlns:a16="http://schemas.microsoft.com/office/drawing/2014/main" id="{5762DDD9-8671-CCEF-98BF-A4291E1F2F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/>
          <a:srcRect r="42522"/>
          <a:stretch>
            <a:fillRect/>
          </a:stretch>
        </p:blipFill>
        <p:spPr bwMode="auto">
          <a:xfrm>
            <a:off x="634892" y="3184220"/>
            <a:ext cx="3294765" cy="1095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 3">
            <a:extLst>
              <a:ext uri="{FF2B5EF4-FFF2-40B4-BE49-F238E27FC236}">
                <a16:creationId xmlns:a16="http://schemas.microsoft.com/office/drawing/2014/main" id="{1EBAEC89-A057-DEDF-79CE-81BB79584F1C}"/>
              </a:ext>
            </a:extLst>
          </p:cNvPr>
          <p:cNvSpPr/>
          <p:nvPr/>
        </p:nvSpPr>
        <p:spPr>
          <a:xfrm>
            <a:off x="274320" y="2721046"/>
            <a:ext cx="452336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factors: (Top-down regression divided by bottom-up accounting)</a:t>
            </a:r>
          </a:p>
        </p:txBody>
      </p:sp>
    </p:spTree>
    <p:extLst>
      <p:ext uri="{BB962C8B-B14F-4D97-AF65-F5344CB8AC3E}">
        <p14:creationId xmlns:p14="http://schemas.microsoft.com/office/powerpoint/2010/main" val="3653867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Rated-Capacity Cap &amp; Redistribution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Physically Impossible Load Exceedances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scaling, individual hourly loads may exceed a unit's rated input capacity. Excess energy is capped and redistributed within the same unit across hours where headroom exists.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965960"/>
            <a:ext cx="4114800" cy="150876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965960"/>
            <a:ext cx="4114800" cy="347472"/>
          </a:xfrm>
          <a:prstGeom prst="rect">
            <a:avLst/>
          </a:prstGeom>
          <a:solidFill>
            <a:srgbClr val="D4572A"/>
          </a:solidFill>
          <a:ln w="12700">
            <a:solidFill>
              <a:srgbClr val="D45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4048" y="2002536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1 — Cap at Rated Input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2368296"/>
            <a:ext cx="389534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Clip any hour that exceeds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rated_input_btu_hr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back down to the     nameplate max </a:t>
            </a:r>
          </a:p>
          <a:p>
            <a:pPr marL="0" indent="0">
              <a:buNone/>
            </a:pPr>
            <a:endParaRPr lang="en-US" sz="11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Tally up the total excess Btu that got removed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965960"/>
            <a:ext cx="4114800" cy="150876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63440" y="1965960"/>
            <a:ext cx="411480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73168" y="2002536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2 — Redistribute Excess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73168" y="2368296"/>
            <a:ext cx="389534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excess Btu removed by the cap are spread back across all hours of that unit, proportional to how much headroom each hour has below the nameplate max.</a:t>
            </a:r>
          </a:p>
          <a:p>
            <a:pPr marL="0" indent="0">
              <a:buNone/>
            </a:pPr>
            <a:endParaRPr lang="en-US" sz="1100" dirty="0">
              <a:solidFill>
                <a:srgbClr val="1E293B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In practice this can bleed a small amount of load into low-demand hours (like summer), since those hours have the most headroom.</a:t>
            </a:r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611880"/>
            <a:ext cx="8595360" cy="150876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986784"/>
            <a:ext cx="3840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398678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(unclipped)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422452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Hour 1: 420,000 BTU/hr ← exceeds 378,000 rated cap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Hour 2: 310,000 BTU/hr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Hour 3: 295,000 BTU/hr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0" y="3986784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617720" y="398678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(clipped + redistributed)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17720" y="4224528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Hour 1: 378,000 BTU/hr (clipped; 42,000 excess)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Hour 2: 310,000 + 24,500 = 334,500 BTU/hr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Hour 3: 295,000 + 17,500 = 312,500 BTU/hr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206240" y="4224528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28090"/>
                </a:solidFill>
              </a:rPr>
              <a:t>→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69964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44825D78-9A3F-F318-3415-C3AB92BC42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6763"/>
            <a:ext cx="9144000" cy="321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9ED3CF9-0FF1-F0BD-376D-567148B52B5B}"/>
                  </a:ext>
                </a:extLst>
              </p14:cNvPr>
              <p14:cNvContentPartPr/>
              <p14:nvPr/>
            </p14:nvContentPartPr>
            <p14:xfrm>
              <a:off x="68280" y="737533"/>
              <a:ext cx="1222920" cy="3780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9ED3CF9-0FF1-F0BD-376D-567148B52B5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160" y="731413"/>
                <a:ext cx="1235160" cy="39024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C093005E-8485-1408-199E-0AB30D7DEDED}"/>
              </a:ext>
            </a:extLst>
          </p:cNvPr>
          <p:cNvSpPr txBox="1"/>
          <p:nvPr/>
        </p:nvSpPr>
        <p:spPr>
          <a:xfrm>
            <a:off x="1423480" y="407929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Rated: 400,000 BTU/</a:t>
            </a:r>
            <a:r>
              <a:rPr lang="en-US" sz="18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input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926560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Boiler — Primary Space Heating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1371600" cy="219456"/>
          </a:xfrm>
          <a:prstGeom prst="roundRect">
            <a:avLst>
              <a:gd name="adj" fmla="val 25000"/>
            </a:avLst>
          </a:prstGeom>
          <a:solidFill>
            <a:srgbClr val="D4572A"/>
          </a:solidFill>
          <a:ln w="12700">
            <a:solidFill>
              <a:srgbClr val="D45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HEATING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28800" y="67665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A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unit_1 · Heating Equipment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2743200" cy="2212848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27432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" y="108813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Scheduling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1453896"/>
            <a:ext cx="252374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Days: All 7 days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heating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54680" y="1051560"/>
            <a:ext cx="2743200" cy="2212848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154680" y="1051560"/>
            <a:ext cx="2743200" cy="347472"/>
          </a:xfrm>
          <a:prstGeom prst="rect">
            <a:avLst/>
          </a:prstGeom>
          <a:solidFill>
            <a:srgbClr val="D4572A"/>
          </a:solidFill>
          <a:ln w="12700">
            <a:solidFill>
              <a:srgbClr val="D45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64408" y="108813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Equipment Specs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64408" y="1453896"/>
            <a:ext cx="252374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Rated: 378,000 BTU/hr input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314,000 BTU/hr output (83.1% efficiency)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051560"/>
            <a:ext cx="2834640" cy="2212848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35040" y="1051560"/>
            <a:ext cx="283464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44768" y="1088136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Parameters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44768" y="1453896"/>
            <a:ext cx="261518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Thermostat-fighting override: boiler subject to hysteresis shutoff.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fighting load (+30% duty-cycle floor) applied to this unit only.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" y="2761488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63440" y="2761488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65776" y="28072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3337560"/>
            <a:ext cx="8595360" cy="160020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" y="3337560"/>
            <a:ext cx="73152" cy="1600200"/>
          </a:xfrm>
          <a:prstGeom prst="rect">
            <a:avLst/>
          </a:prstGeom>
          <a:solidFill>
            <a:srgbClr val="D4572A"/>
          </a:solidFill>
          <a:ln w="12700">
            <a:solidFill>
              <a:srgbClr val="D45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5488" y="3383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5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 Story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5488" y="3694176"/>
            <a:ext cx="818388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boiler is the dominant propane consumer. The 30% DC floor captures controls hysteresis (AC vs. boiler fighting) that persists even in mild weather.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Thermostat Fighting &amp; Boiler Hysteresis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Reality — Boiler Cycling by Facilities Staff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4937760" cy="1234440"/>
          </a:xfrm>
          <a:prstGeom prst="rect">
            <a:avLst/>
          </a:prstGeom>
          <a:solidFill>
            <a:srgbClr val="FFF8E7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5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755648"/>
            <a:ext cx="4663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mild weather, the boiler and AC system fight each other — the boiler heats while AC cools. Facilities staff intervene manually, cycling the boiler off when it is locally too hot, and back on when it gets cold again.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2761488"/>
            <a:ext cx="4937760" cy="214884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2761488"/>
            <a:ext cx="493776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84048" y="2798064"/>
            <a:ext cx="4718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Hysteresis State Machine Parameters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3163824"/>
            <a:ext cx="4718304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Shutoff threshold: 60°F (BOILER_SHUTOFF_TEMP_F)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threshold: 54°F (BOILER_RESTART_TEMP_F)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Shutoff delay: 12 hrs above threshold before staff acts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delay: 12 hrs below threshold before restoration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boiler_on = True → False (shutoff) → True (restart)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0" y="1417320"/>
            <a:ext cx="3383280" cy="349300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23560" y="148132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Machine Logic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52160" y="1874520"/>
            <a:ext cx="1280160" cy="502920"/>
          </a:xfrm>
          <a:prstGeom prst="rect">
            <a:avLst/>
          </a:prstGeom>
          <a:solidFill>
            <a:srgbClr val="02C39A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852160" y="18745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 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0" y="1874520"/>
            <a:ext cx="1280160" cy="502920"/>
          </a:xfrm>
          <a:prstGeom prst="rect">
            <a:avLst/>
          </a:prstGeom>
          <a:solidFill>
            <a:srgbClr val="D4572A"/>
          </a:solidFill>
          <a:ln w="19050">
            <a:solidFill>
              <a:srgbClr val="D45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0" y="18745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 OFF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32320" y="2011680"/>
            <a:ext cx="182880" cy="0"/>
          </a:xfrm>
          <a:prstGeom prst="line">
            <a:avLst/>
          </a:prstGeom>
          <a:noFill/>
          <a:ln w="25400">
            <a:solidFill>
              <a:srgbClr val="D45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69280" y="24688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5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&gt; 60°F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45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12 hrs →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995160" y="2478024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 &lt; 54°F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12 hrs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532120" y="3657600"/>
            <a:ext cx="32918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623560" y="3730752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BOILER OFF: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Weather-driven BTU/hr = 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Baseline-fighting load = 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Both go to zero — no propane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consumed during shutoff window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F035C8-8E35-B4FB-9533-03130ED59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1022"/>
            <a:ext cx="9144000" cy="3161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6060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CFS Furnaces 1, 2 &amp; 3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1371600" cy="219456"/>
          </a:xfrm>
          <a:prstGeom prst="roundRect">
            <a:avLst>
              <a:gd name="adj" fmla="val 25000"/>
            </a:avLst>
          </a:prstGeom>
          <a:solidFill>
            <a:srgbClr val="D4572A"/>
          </a:solidFill>
          <a:ln w="12700">
            <a:solidFill>
              <a:srgbClr val="D45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HEATING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28800" y="67665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A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unit_3 · Heating Equipment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2743200" cy="2185416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27432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" y="108813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Scheduling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1453896"/>
            <a:ext cx="252374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Days: All 7 days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heating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54680" y="1051560"/>
            <a:ext cx="2743200" cy="2185416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154680" y="1051560"/>
            <a:ext cx="2743200" cy="347472"/>
          </a:xfrm>
          <a:prstGeom prst="rect">
            <a:avLst/>
          </a:prstGeom>
          <a:solidFill>
            <a:srgbClr val="D4572A"/>
          </a:solidFill>
          <a:ln w="12700">
            <a:solidFill>
              <a:srgbClr val="D45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64408" y="108813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Equipment Specs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64408" y="1453896"/>
            <a:ext cx="252374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Rated: 222,000 BTU/hr input (3 × 74,000 BTU/hr)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177,600 BTU/hr output (80% efficiency)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051560"/>
            <a:ext cx="2834640" cy="2185416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35040" y="1051560"/>
            <a:ext cx="283464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44768" y="1088136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Parameters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44768" y="1453896"/>
            <a:ext cx="261518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identical 74,000 BTU/hr furnaces modeled as a single aggregate unit.</a:t>
            </a:r>
            <a:endParaRPr lang="en-US" sz="1100" dirty="0"/>
          </a:p>
          <a:p>
            <a:pPr marL="0" indent="0">
              <a:buNone/>
            </a:pPr>
            <a:endParaRPr lang="en-US" sz="11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thermostat-fighting override or baseline floor applied to this unit.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63440" y="2761488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65776" y="28072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3337560"/>
            <a:ext cx="8595360" cy="160020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" y="3337560"/>
            <a:ext cx="73152" cy="1600200"/>
          </a:xfrm>
          <a:prstGeom prst="rect">
            <a:avLst/>
          </a:prstGeom>
          <a:solidFill>
            <a:srgbClr val="D4572A"/>
          </a:solidFill>
          <a:ln w="12700">
            <a:solidFill>
              <a:srgbClr val="D45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5488" y="3383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5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 Story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5488" y="3694176"/>
            <a:ext cx="818388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CFS furnaces operates similarly to the boiler, but with no baseline floor as assumed to be no thermostat </a:t>
            </a:r>
            <a:r>
              <a:rPr lang="en-US" sz="11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fighting.The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three-unit aggregate simplifies the model without meaningful loss of accuracy.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E49986A1-E133-3FB2-1B80-00E2A1CBC4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62025"/>
            <a:ext cx="9144000" cy="321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84927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Gym Furnace — Cold-Soak Recovery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1371600" cy="219456"/>
          </a:xfrm>
          <a:prstGeom prst="roundRect">
            <a:avLst>
              <a:gd name="adj" fmla="val 25000"/>
            </a:avLst>
          </a:prstGeom>
          <a:solidFill>
            <a:srgbClr val="D4572A"/>
          </a:solidFill>
          <a:ln w="12700">
            <a:solidFill>
              <a:srgbClr val="D45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HEATING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28800" y="67665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A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unit_2 · Heating Equipment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2743200" cy="160020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27432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" y="108813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Scheduling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1453896"/>
            <a:ext cx="252374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Days: All 7 days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3:00 PM – 9:00 PM (occupied only)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setback heat (setback_temp_f = 0°F → DC = 0 when unoccupied)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54680" y="1051560"/>
            <a:ext cx="2743200" cy="160020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154680" y="1051560"/>
            <a:ext cx="2743200" cy="347472"/>
          </a:xfrm>
          <a:prstGeom prst="rect">
            <a:avLst/>
          </a:prstGeom>
          <a:solidFill>
            <a:srgbClr val="D4572A"/>
          </a:solidFill>
          <a:ln w="12700">
            <a:solidFill>
              <a:srgbClr val="D45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64408" y="108813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Equipment Specs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64408" y="1453896"/>
            <a:ext cx="252374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Rated: 400,000 BTU/hr input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324,000 BTU/hr output (81% efficiency)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051560"/>
            <a:ext cx="2834640" cy="160020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35040" y="1051560"/>
            <a:ext cx="283464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44768" y="1088136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Parameters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44768" y="1453896"/>
            <a:ext cx="261518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Cold-soak recovery: first 3 hours of each occupied block use 70°F balance point instead of 60°F.</a:t>
            </a:r>
          </a:p>
          <a:p>
            <a:pPr marL="0" indent="0">
              <a:buNone/>
            </a:pPr>
            <a:endParaRPr lang="en-US" sz="1100" dirty="0"/>
          </a:p>
          <a:p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thermostat-fighting override or baseline floor applied to this unit.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761488"/>
            <a:ext cx="4206240" cy="475488"/>
          </a:xfrm>
          <a:prstGeom prst="rect">
            <a:avLst/>
          </a:prstGeom>
          <a:solidFill>
            <a:srgbClr val="FFF8E7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2761488"/>
            <a:ext cx="347472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2761488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6656" y="28072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 balance point is 70°F to represent cold-soak recovery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63440" y="2761488"/>
            <a:ext cx="4206240" cy="475488"/>
          </a:xfrm>
          <a:prstGeom prst="rect">
            <a:avLst/>
          </a:prstGeom>
          <a:solidFill>
            <a:srgbClr val="FFF8E7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663440" y="2761488"/>
            <a:ext cx="347472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63440" y="2761488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65776" y="28072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Cold-soak recovery period lasts 3 hours from first occupied hour each session.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3337560"/>
            <a:ext cx="8595360" cy="160020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" y="3337560"/>
            <a:ext cx="73152" cy="1600200"/>
          </a:xfrm>
          <a:prstGeom prst="rect">
            <a:avLst/>
          </a:prstGeom>
          <a:solidFill>
            <a:srgbClr val="D4572A"/>
          </a:solidFill>
          <a:ln w="12700">
            <a:solidFill>
              <a:srgbClr val="D45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5488" y="3383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5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 Story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5488" y="3694176"/>
            <a:ext cx="818388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gym sits unoccupied all morning; the building cools toward outdoor temperature. When staff arrive at 3 PM the furnace must overcome both the steady-state heat loss AND re-heat the thermal mass — modeled as a higher effective balance point during the first 3 hours of each occupied block.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498B33E4-2648-85BC-5D76-12E60B0190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71750"/>
            <a:ext cx="7412476" cy="2609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E2BCFA00-41D1-12B3-8FE9-A9714AB752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67" y="0"/>
            <a:ext cx="7412476" cy="2609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9497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Elder Center Stove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1371600" cy="219456"/>
          </a:xfrm>
          <a:prstGeom prst="roundRect">
            <a:avLst>
              <a:gd name="adj" fmla="val 25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NON-HEATING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28800" y="67665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A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Non-Heating Equipment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2743200" cy="160020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27432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" y="108813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Scheduling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1453896"/>
            <a:ext cx="252374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Days: All 7 days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7:00 AM – 9:00 AM (breakfast prep)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 AM – 1:00 PM (lunch service)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54680" y="1051560"/>
            <a:ext cx="2743200" cy="160020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154680" y="1051560"/>
            <a:ext cx="274320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64408" y="108813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Equipment Specs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64408" y="1453896"/>
            <a:ext cx="252374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/>
              <a:t>Imperial IR-6-RG24 Commercial Stove</a:t>
            </a:r>
          </a:p>
          <a:p>
            <a:pPr marL="0" indent="0">
              <a:buNone/>
            </a:pPr>
            <a:endParaRPr lang="en-US" sz="1100" dirty="0"/>
          </a:p>
          <a:p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Rated: 302,000 BTU/</a:t>
            </a:r>
            <a:r>
              <a:rPr lang="en-US" sz="11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input</a:t>
            </a:r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051560"/>
            <a:ext cx="2834640" cy="160020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35040" y="1051560"/>
            <a:ext cx="283464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44768" y="1088136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Parameters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44768" y="1453896"/>
            <a:ext cx="261518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= 80% — high-throughput community kitchen.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non-heating propane consumer by rated capacity.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761488"/>
            <a:ext cx="4206240" cy="475488"/>
          </a:xfrm>
          <a:prstGeom prst="rect">
            <a:avLst/>
          </a:prstGeom>
          <a:solidFill>
            <a:srgbClr val="FFF8E7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2761488"/>
            <a:ext cx="347472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2761488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6656" y="28072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 Center operates 7 days/week with full food service for breakfast and lunch.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63440" y="2761488"/>
            <a:ext cx="4206240" cy="475488"/>
          </a:xfrm>
          <a:prstGeom prst="rect">
            <a:avLst/>
          </a:prstGeom>
          <a:solidFill>
            <a:srgbClr val="FFF8E7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663440" y="2761488"/>
            <a:ext cx="347472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63440" y="2761488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65776" y="28072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utilization is consistent with observed community meal service volumes.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3337560"/>
            <a:ext cx="8595360" cy="160020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" y="3337560"/>
            <a:ext cx="73152" cy="1600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5488" y="3383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 Story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5488" y="3694176"/>
            <a:ext cx="818388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Elder Center serves hot meals 7 days a week, making it the only non-heating propane load that runs on weekends. Its 302,000 BTU/hr commercial range is the largest single non-heating appliance — the breakfast + lunch dual window structure captures the actual meal-service rhythm.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3492390A-FB21-9ABC-4110-17524DA26B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58850"/>
            <a:ext cx="9144000" cy="322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39854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ECC Domestic Hot Water Heater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1371600" cy="219456"/>
          </a:xfrm>
          <a:prstGeom prst="roundRect">
            <a:avLst>
              <a:gd name="adj" fmla="val 25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NON-HEATING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28800" y="67665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A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Non-Heating Equipment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2743200" cy="2185416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27432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" y="108813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Scheduling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1453896"/>
            <a:ext cx="252374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Days: Weekdays (Mon–Fri)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one-hour windows: 8–9 AM, 10–11 AM, 12–1 PM, 2–3 PM, 4–5 PM</a:t>
            </a:r>
          </a:p>
          <a:p>
            <a:pPr marL="0" indent="0">
              <a:buNone/>
            </a:pPr>
            <a:endParaRPr lang="en-US" sz="1100" dirty="0">
              <a:solidFill>
                <a:srgbClr val="1E293B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dirty="0"/>
              <a:t>Showering, cooking, dishwashing, etc.</a:t>
            </a:r>
          </a:p>
        </p:txBody>
      </p:sp>
      <p:sp>
        <p:nvSpPr>
          <p:cNvPr id="11" name="Shape 9"/>
          <p:cNvSpPr/>
          <p:nvPr/>
        </p:nvSpPr>
        <p:spPr>
          <a:xfrm>
            <a:off x="3154680" y="1051560"/>
            <a:ext cx="2743200" cy="2185416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154680" y="1051560"/>
            <a:ext cx="274320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64408" y="108813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Equipment Specs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64408" y="1453896"/>
            <a:ext cx="252374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Assumed: 75,000 BTU/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input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051560"/>
            <a:ext cx="2834640" cy="2185416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35040" y="1051560"/>
            <a:ext cx="283464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44768" y="1088136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Parameters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44768" y="1453896"/>
            <a:ext cx="261518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= 100% — assumed full-fire during each window.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is temperature-independent; classified as non-heating.</a:t>
            </a:r>
          </a:p>
          <a:p>
            <a:pPr marL="0" indent="0">
              <a:buNone/>
            </a:pPr>
            <a:endParaRPr lang="en-US" sz="11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scaled using non-heating scaling factor for each year</a:t>
            </a:r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" y="2761488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6656" y="28072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663440" y="2761488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A4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74320" y="3337560"/>
            <a:ext cx="8595360" cy="160020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" y="3337560"/>
            <a:ext cx="73152" cy="1600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5488" y="3383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 Story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5488" y="3694176"/>
            <a:ext cx="818388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water demand is independent of outdoor temperature. The five one-hour windows were chosen to represent off and on peaks due to showering, cooking, and washing dishes, rather than a continuous burn.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A2B3828E-FB44-A408-531C-5499985F8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58850"/>
            <a:ext cx="9144000" cy="3224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39774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ECC Kitchen Stove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1371600" cy="219456"/>
          </a:xfrm>
          <a:prstGeom prst="roundRect">
            <a:avLst>
              <a:gd name="adj" fmla="val 25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NON-HEATING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28800" y="67665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A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Non-Heating Equipment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2743200" cy="160020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27432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" y="108813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Scheduling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1453896"/>
            <a:ext cx="252374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Days: Weekdays (Mon–Fri)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 AM – 1:00 PM (lunch service, 2-hour window)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54680" y="1051560"/>
            <a:ext cx="2743200" cy="160020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154680" y="1051560"/>
            <a:ext cx="274320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64408" y="108813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Equipment Specs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64408" y="1453896"/>
            <a:ext cx="252374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Assumed: 60,000 BTU/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input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051560"/>
            <a:ext cx="2834640" cy="160020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35040" y="1051560"/>
            <a:ext cx="283464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44768" y="1088136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Parameters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44768" y="1453896"/>
            <a:ext cx="261518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= 80% — not all burners on simultaneously during every lunch.</a:t>
            </a:r>
          </a:p>
        </p:txBody>
      </p:sp>
      <p:sp>
        <p:nvSpPr>
          <p:cNvPr id="19" name="Shape 17"/>
          <p:cNvSpPr/>
          <p:nvPr/>
        </p:nvSpPr>
        <p:spPr>
          <a:xfrm>
            <a:off x="274320" y="2761488"/>
            <a:ext cx="8595360" cy="475488"/>
          </a:xfrm>
          <a:prstGeom prst="rect">
            <a:avLst/>
          </a:prstGeom>
          <a:solidFill>
            <a:srgbClr val="FFF8E7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2761488"/>
            <a:ext cx="347472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2761488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6656" y="28072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burner utilization during lunch service is a reasonable average for an institutional kitchen.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3337560"/>
            <a:ext cx="8595360" cy="160020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74320" y="3337560"/>
            <a:ext cx="73152" cy="1600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5488" y="3383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 Story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" y="3694176"/>
            <a:ext cx="818388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ECC stove operates primarily during the lunch service window. An 80% utilization factor accounts for the reality that not all burners are running simultaneously at every meal — typical of batch cooking for variable crowd sizes.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>
            <a:extLst>
              <a:ext uri="{FF2B5EF4-FFF2-40B4-BE49-F238E27FC236}">
                <a16:creationId xmlns:a16="http://schemas.microsoft.com/office/drawing/2014/main" id="{BE57F2EE-F8D1-ED24-2DD8-433394190F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58850"/>
            <a:ext cx="9144000" cy="3224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45045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 Building Kitchen Stove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1371600" cy="219456"/>
          </a:xfrm>
          <a:prstGeom prst="roundRect">
            <a:avLst>
              <a:gd name="adj" fmla="val 25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NON-HEATING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28800" y="67665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A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Non-Heating Equipment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2743200" cy="160020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27432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" y="108813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Scheduling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1453896"/>
            <a:ext cx="252374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Days: Weekdays (Mon–Fri)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 AM – 12:00 PM (one-hour window)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54680" y="1051560"/>
            <a:ext cx="2743200" cy="160020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154680" y="1051560"/>
            <a:ext cx="274320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64408" y="108813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Equipment Specs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64408" y="1453896"/>
            <a:ext cx="252374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Assumed: 60,000 BTU/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input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051560"/>
            <a:ext cx="2834640" cy="160020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35040" y="1051560"/>
            <a:ext cx="283464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44768" y="1088136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Parameters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44768" y="1453896"/>
            <a:ext cx="261518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= 20% — lightly used; staff heating occasional meals.</a:t>
            </a:r>
            <a:endParaRPr lang="en-US" sz="1100" dirty="0"/>
          </a:p>
          <a:p>
            <a:pPr marL="0" indent="0">
              <a:buNone/>
            </a:pPr>
            <a:endParaRPr lang="en-US" sz="11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small contribution to total propane budget.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761488"/>
            <a:ext cx="8595360" cy="475488"/>
          </a:xfrm>
          <a:prstGeom prst="rect">
            <a:avLst/>
          </a:prstGeom>
          <a:solidFill>
            <a:srgbClr val="FFF8E7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2761488"/>
            <a:ext cx="347472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2761488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6656" y="28072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utilization reflects a staff break-room stove used sporadically, not a full kitchen operation.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3337560"/>
            <a:ext cx="8595360" cy="160020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74320" y="3337560"/>
            <a:ext cx="73152" cy="1600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5488" y="3383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 Story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" y="3694176"/>
            <a:ext cx="818388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admin kitchen is a break-room-style kitchen, not a full food service operation. The 20% utilization factor captures occasional use — staff reheating lunches, occasional small cooking tasks — during a 1-hour daily window.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>
            <a:extLst>
              <a:ext uri="{FF2B5EF4-FFF2-40B4-BE49-F238E27FC236}">
                <a16:creationId xmlns:a16="http://schemas.microsoft.com/office/drawing/2014/main" id="{17F5FDF2-32F0-D8DC-166A-1A2E99AC91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58850"/>
            <a:ext cx="9144000" cy="3224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84776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2" name="Picture 4">
            <a:extLst>
              <a:ext uri="{FF2B5EF4-FFF2-40B4-BE49-F238E27FC236}">
                <a16:creationId xmlns:a16="http://schemas.microsoft.com/office/drawing/2014/main" id="{4286BE5F-A2DB-ED36-26AB-B1C88CAD83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2914" y="252620"/>
            <a:ext cx="4020457" cy="3940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4" name="Picture 6">
            <a:extLst>
              <a:ext uri="{FF2B5EF4-FFF2-40B4-BE49-F238E27FC236}">
                <a16:creationId xmlns:a16="http://schemas.microsoft.com/office/drawing/2014/main" id="{4DC9F5F5-A068-8B60-41CF-BF81293267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2194"/>
            <a:ext cx="5029200" cy="391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7942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A8FE4AE66EB54E99DB0C46FAE8D838" ma:contentTypeVersion="13" ma:contentTypeDescription="Create a new document." ma:contentTypeScope="" ma:versionID="f3721fbdbac854ee5ae67bb483b8e303">
  <xsd:schema xmlns:xsd="http://www.w3.org/2001/XMLSchema" xmlns:xs="http://www.w3.org/2001/XMLSchema" xmlns:p="http://schemas.microsoft.com/office/2006/metadata/properties" xmlns:ns3="8d045e9b-7961-45a2-8f56-fcddd751472b" xmlns:ns4="2967d676-51ad-4a54-8dd4-0b68a80366da" targetNamespace="http://schemas.microsoft.com/office/2006/metadata/properties" ma:root="true" ma:fieldsID="827ff1302503cd1c849c99a6845d3888" ns3:_="" ns4:_="">
    <xsd:import namespace="8d045e9b-7961-45a2-8f56-fcddd751472b"/>
    <xsd:import namespace="2967d676-51ad-4a54-8dd4-0b68a80366d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045e9b-7961-45a2-8f56-fcddd75147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67d676-51ad-4a54-8dd4-0b68a80366d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d045e9b-7961-45a2-8f56-fcddd751472b" xsi:nil="true"/>
  </documentManagement>
</p:properties>
</file>

<file path=customXml/itemProps1.xml><?xml version="1.0" encoding="utf-8"?>
<ds:datastoreItem xmlns:ds="http://schemas.openxmlformats.org/officeDocument/2006/customXml" ds:itemID="{4705A8FC-3364-43CD-A6F5-0FD7820747C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d045e9b-7961-45a2-8f56-fcddd751472b"/>
    <ds:schemaRef ds:uri="2967d676-51ad-4a54-8dd4-0b68a80366d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BA585A1-18CA-47F3-A364-148ECB417C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4449B35-4E4F-4323-A3DB-ACBC70B2A2D6}">
  <ds:schemaRefs>
    <ds:schemaRef ds:uri="http://purl.org/dc/elements/1.1/"/>
    <ds:schemaRef ds:uri="http://purl.org/dc/terms/"/>
    <ds:schemaRef ds:uri="8d045e9b-7961-45a2-8f56-fcddd751472b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2967d676-51ad-4a54-8dd4-0b68a80366d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2162</Words>
  <Application>Microsoft Office PowerPoint</Application>
  <PresentationFormat>On-screen Show (16:9)</PresentationFormat>
  <Paragraphs>278</Paragraphs>
  <Slides>26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PGST Propane Disaggregation — Methodology</dc:title>
  <dc:subject>PptxGenJS Presentation</dc:subject>
  <dc:creator>PptxGenJS</dc:creator>
  <cp:lastModifiedBy>Mick Deines</cp:lastModifiedBy>
  <cp:revision>3</cp:revision>
  <dcterms:created xsi:type="dcterms:W3CDTF">2026-04-29T16:17:23Z</dcterms:created>
  <dcterms:modified xsi:type="dcterms:W3CDTF">2026-04-29T17:58:01Z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0x010100D4A8FE4AE66EB54E99DB0C46FAE8D838</vt:lpwstr>
  </property>
</Properties>
</file>